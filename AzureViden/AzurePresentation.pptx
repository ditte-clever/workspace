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82"/>
  </p:notesMasterIdLst>
  <p:handoutMasterIdLst>
    <p:handoutMasterId r:id="rId83"/>
  </p:handoutMasterIdLst>
  <p:sldIdLst>
    <p:sldId id="280" r:id="rId5"/>
    <p:sldId id="292" r:id="rId6"/>
    <p:sldId id="293" r:id="rId7"/>
    <p:sldId id="322" r:id="rId8"/>
    <p:sldId id="323" r:id="rId9"/>
    <p:sldId id="272" r:id="rId10"/>
    <p:sldId id="268" r:id="rId11"/>
    <p:sldId id="324" r:id="rId12"/>
    <p:sldId id="333" r:id="rId13"/>
    <p:sldId id="368" r:id="rId14"/>
    <p:sldId id="325" r:id="rId15"/>
    <p:sldId id="326" r:id="rId16"/>
    <p:sldId id="327" r:id="rId17"/>
    <p:sldId id="328" r:id="rId18"/>
    <p:sldId id="369" r:id="rId19"/>
    <p:sldId id="329" r:id="rId20"/>
    <p:sldId id="256" r:id="rId21"/>
    <p:sldId id="330" r:id="rId22"/>
    <p:sldId id="331" r:id="rId23"/>
    <p:sldId id="332" r:id="rId24"/>
    <p:sldId id="320" r:id="rId25"/>
    <p:sldId id="370" r:id="rId26"/>
    <p:sldId id="334" r:id="rId27"/>
    <p:sldId id="335" r:id="rId28"/>
    <p:sldId id="336" r:id="rId29"/>
    <p:sldId id="337" r:id="rId30"/>
    <p:sldId id="338" r:id="rId31"/>
    <p:sldId id="339" r:id="rId32"/>
    <p:sldId id="371" r:id="rId33"/>
    <p:sldId id="340" r:id="rId34"/>
    <p:sldId id="341" r:id="rId35"/>
    <p:sldId id="342" r:id="rId36"/>
    <p:sldId id="372" r:id="rId37"/>
    <p:sldId id="344" r:id="rId38"/>
    <p:sldId id="345" r:id="rId39"/>
    <p:sldId id="347" r:id="rId40"/>
    <p:sldId id="346" r:id="rId41"/>
    <p:sldId id="348" r:id="rId42"/>
    <p:sldId id="349" r:id="rId43"/>
    <p:sldId id="350" r:id="rId44"/>
    <p:sldId id="351" r:id="rId45"/>
    <p:sldId id="352" r:id="rId46"/>
    <p:sldId id="373" r:id="rId47"/>
    <p:sldId id="353" r:id="rId48"/>
    <p:sldId id="354" r:id="rId49"/>
    <p:sldId id="355" r:id="rId50"/>
    <p:sldId id="356" r:id="rId51"/>
    <p:sldId id="374" r:id="rId52"/>
    <p:sldId id="357" r:id="rId53"/>
    <p:sldId id="361" r:id="rId54"/>
    <p:sldId id="362" r:id="rId55"/>
    <p:sldId id="363" r:id="rId56"/>
    <p:sldId id="364" r:id="rId57"/>
    <p:sldId id="365" r:id="rId58"/>
    <p:sldId id="366" r:id="rId59"/>
    <p:sldId id="367" r:id="rId60"/>
    <p:sldId id="378" r:id="rId61"/>
    <p:sldId id="379" r:id="rId62"/>
    <p:sldId id="380" r:id="rId63"/>
    <p:sldId id="375" r:id="rId64"/>
    <p:sldId id="358" r:id="rId65"/>
    <p:sldId id="381" r:id="rId66"/>
    <p:sldId id="382" r:id="rId67"/>
    <p:sldId id="383" r:id="rId68"/>
    <p:sldId id="384" r:id="rId69"/>
    <p:sldId id="385" r:id="rId70"/>
    <p:sldId id="386" r:id="rId71"/>
    <p:sldId id="387" r:id="rId72"/>
    <p:sldId id="376" r:id="rId73"/>
    <p:sldId id="359" r:id="rId74"/>
    <p:sldId id="388" r:id="rId75"/>
    <p:sldId id="389" r:id="rId76"/>
    <p:sldId id="390" r:id="rId77"/>
    <p:sldId id="391" r:id="rId78"/>
    <p:sldId id="392" r:id="rId79"/>
    <p:sldId id="377" r:id="rId80"/>
    <p:sldId id="260" r:id="rId81"/>
  </p:sldIdLst>
  <p:sldSz cx="12192000" cy="6858000"/>
  <p:notesSz cx="6858000" cy="9144000"/>
  <p:embeddedFontLst>
    <p:embeddedFont>
      <p:font typeface="Clever Sans OFFC" panose="020B0504050501040104" pitchFamily="34" charset="77"/>
      <p:regular r:id="rId84"/>
      <p:bold r:id="rId8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ktion" id="{34F3F704-5691-9047-BAD8-8C499F7A4E36}">
          <p14:sldIdLst>
            <p14:sldId id="280"/>
            <p14:sldId id="292"/>
          </p14:sldIdLst>
        </p14:section>
        <p14:section name="Tiden før Azure og Cloud" id="{0C45EBB1-FD33-2C41-B4A7-E71C515895D5}">
          <p14:sldIdLst>
            <p14:sldId id="293"/>
            <p14:sldId id="322"/>
            <p14:sldId id="323"/>
            <p14:sldId id="272"/>
            <p14:sldId id="268"/>
            <p14:sldId id="324"/>
            <p14:sldId id="333"/>
            <p14:sldId id="368"/>
          </p14:sldIdLst>
        </p14:section>
        <p14:section name="Problemerne ved on-premises" id="{779D619D-5156-794E-A0AC-7D8D4855CAE2}">
          <p14:sldIdLst>
            <p14:sldId id="325"/>
            <p14:sldId id="326"/>
            <p14:sldId id="327"/>
            <p14:sldId id="328"/>
            <p14:sldId id="369"/>
          </p14:sldIdLst>
        </p14:section>
        <p14:section name="Hvad er Cloud?" id="{50C714D6-E8CA-8446-A224-8CBBFFA1CDCD}">
          <p14:sldIdLst>
            <p14:sldId id="329"/>
            <p14:sldId id="256"/>
            <p14:sldId id="330"/>
            <p14:sldId id="331"/>
            <p14:sldId id="332"/>
            <p14:sldId id="320"/>
            <p14:sldId id="370"/>
          </p14:sldIdLst>
        </p14:section>
        <p14:section name="Hvad er Azure?" id="{6955947C-DEA3-B64A-81B2-3489C21ACB06}">
          <p14:sldIdLst>
            <p14:sldId id="334"/>
            <p14:sldId id="335"/>
            <p14:sldId id="336"/>
            <p14:sldId id="337"/>
            <p14:sldId id="338"/>
            <p14:sldId id="339"/>
            <p14:sldId id="371"/>
          </p14:sldIdLst>
        </p14:section>
        <p14:section name="Hvordan er Azure organiseret?" id="{2E54D27A-AB93-9346-A032-47044684D95A}">
          <p14:sldIdLst>
            <p14:sldId id="340"/>
            <p14:sldId id="341"/>
            <p14:sldId id="342"/>
            <p14:sldId id="372"/>
          </p14:sldIdLst>
        </p14:section>
        <p14:section name="De vigtigste Azure-byggeklodser" id="{A9C9E7FA-2E98-3B42-98A2-28AD3FF13484}">
          <p14:sldIdLst>
            <p14:sldId id="344"/>
            <p14:sldId id="345"/>
            <p14:sldId id="347"/>
            <p14:sldId id="346"/>
            <p14:sldId id="348"/>
            <p14:sldId id="349"/>
            <p14:sldId id="350"/>
            <p14:sldId id="351"/>
            <p14:sldId id="352"/>
            <p14:sldId id="373"/>
          </p14:sldIdLst>
        </p14:section>
        <p14:section name="Hvordan Dynamics 365 bruger Azure" id="{AB8B1F11-7FE4-AD49-8163-A776A6E164E5}">
          <p14:sldIdLst>
            <p14:sldId id="353"/>
            <p14:sldId id="354"/>
            <p14:sldId id="355"/>
            <p14:sldId id="356"/>
            <p14:sldId id="374"/>
          </p14:sldIdLst>
        </p14:section>
        <p14:section name="Hvordan vores C#/.NET-løsninger bruger Azure" id="{CC98E365-4C63-E244-8677-C6309857C906}">
          <p14:sldIdLst>
            <p14:sldId id="357"/>
            <p14:sldId id="361"/>
            <p14:sldId id="362"/>
            <p14:sldId id="363"/>
            <p14:sldId id="364"/>
            <p14:sldId id="365"/>
            <p14:sldId id="366"/>
            <p14:sldId id="367"/>
            <p14:sldId id="378"/>
            <p14:sldId id="379"/>
            <p14:sldId id="380"/>
            <p14:sldId id="375"/>
          </p14:sldIdLst>
        </p14:section>
        <p14:section name="Et konkret business-scenarie&#13;" id="{83D8F7B3-2EE4-1045-AC05-7BD666A16C4F}">
          <p14:sldIdLst>
            <p14:sldId id="358"/>
            <p14:sldId id="381"/>
            <p14:sldId id="382"/>
            <p14:sldId id="383"/>
            <p14:sldId id="384"/>
            <p14:sldId id="385"/>
            <p14:sldId id="386"/>
            <p14:sldId id="387"/>
            <p14:sldId id="376"/>
          </p14:sldIdLst>
        </p14:section>
        <p14:section name="Opsummering og konklusion&#13;" id="{EFC0DF4B-337F-1F4E-ABB9-9C8C81C22572}">
          <p14:sldIdLst>
            <p14:sldId id="359"/>
            <p14:sldId id="388"/>
            <p14:sldId id="389"/>
            <p14:sldId id="390"/>
            <p14:sldId id="391"/>
            <p14:sldId id="392"/>
            <p14:sldId id="377"/>
          </p14:sldIdLst>
        </p14:section>
        <p14:section name="Outro" id="{D207027D-BF1D-3349-9EC5-F815C8455AE0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B6DFB-AF9C-D245-8078-B32ECACF3F6F}" v="3475" dt="2026-07-27T13:48:03.51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1" autoAdjust="0"/>
    <p:restoredTop sz="95974" autoAdjust="0"/>
  </p:normalViewPr>
  <p:slideViewPr>
    <p:cSldViewPr snapToGrid="0" showGuides="1">
      <p:cViewPr varScale="1">
        <p:scale>
          <a:sx n="99" d="100"/>
          <a:sy n="99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66" y="-59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.fntdata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microsoft.com/office/2015/10/relationships/revisionInfo" Target="revisionInfo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handoutMaster" Target="handoutMasters/handoutMaster1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Clever Sans OFFC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EFB30-712F-457D-85EB-C74A3A27C3C3}" type="datetime1">
              <a:rPr lang="en-GB" smtClean="0">
                <a:latin typeface="Clever Sans OFFC" pitchFamily="34" charset="0"/>
              </a:rPr>
              <a:t>22/09/2026</a:t>
            </a:fld>
            <a:endParaRPr lang="en-GB" dirty="0">
              <a:latin typeface="Clever Sans OFFC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>
                <a:latin typeface="Clever Sans OFFC" pitchFamily="34" charset="0"/>
              </a:rPr>
              <a:t>‹#›</a:t>
            </a:fld>
            <a:endParaRPr lang="en-GB" dirty="0">
              <a:latin typeface="Clever Sans OFFC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Clever Sans OFF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lever Sans OFFC" pitchFamily="34" charset="0"/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lever Sans OFFC" pitchFamily="34" charset="0"/>
              </a:defRPr>
            </a:lvl1pPr>
          </a:lstStyle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lever Sans OFFC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lever Sans OFFC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Clever Sans OFFC" panose="020B0504050501040104" pitchFamily="34" charset="0"/>
      <a:buNone/>
      <a:defRPr sz="1200" kern="1200">
        <a:solidFill>
          <a:schemeClr val="tx1"/>
        </a:solidFill>
        <a:latin typeface="Clever Sans OFFC" pitchFamily="34" charset="0"/>
        <a:ea typeface="+mn-ea"/>
        <a:cs typeface="+mn-cs"/>
      </a:defRPr>
    </a:lvl1pPr>
    <a:lvl2pPr marL="180000" indent="0" algn="l" defTabSz="914400" rtl="0" eaLnBrk="1" latinLnBrk="0" hangingPunct="1">
      <a:buFont typeface="Clever Sans OFFC" panose="020B0504050501040104" pitchFamily="34" charset="0"/>
      <a:buNone/>
      <a:defRPr sz="1200" kern="1200">
        <a:solidFill>
          <a:schemeClr val="tx1"/>
        </a:solidFill>
        <a:latin typeface="Clever Sans OFFC" pitchFamily="34" charset="0"/>
        <a:ea typeface="+mn-ea"/>
        <a:cs typeface="+mn-cs"/>
      </a:defRPr>
    </a:lvl2pPr>
    <a:lvl3pPr marL="360000" indent="0" algn="l" defTabSz="914400" rtl="0" eaLnBrk="1" latinLnBrk="0" hangingPunct="1">
      <a:buFont typeface="Clever Sans OFFC" panose="020B0504050501040104" pitchFamily="34" charset="0"/>
      <a:buNone/>
      <a:defRPr sz="1200" kern="1200">
        <a:solidFill>
          <a:schemeClr val="tx1"/>
        </a:solidFill>
        <a:latin typeface="Clever Sans OFFC" pitchFamily="34" charset="0"/>
        <a:ea typeface="+mn-ea"/>
        <a:cs typeface="+mn-cs"/>
      </a:defRPr>
    </a:lvl3pPr>
    <a:lvl4pPr marL="540000" indent="0" algn="l" defTabSz="914400" rtl="0" eaLnBrk="1" latinLnBrk="0" hangingPunct="1">
      <a:buFont typeface="Clever Sans OFFC" panose="020B0504050501040104" pitchFamily="34" charset="0"/>
      <a:buNone/>
      <a:defRPr sz="1200" kern="1200">
        <a:solidFill>
          <a:schemeClr val="tx1"/>
        </a:solidFill>
        <a:latin typeface="Clever Sans OFFC" pitchFamily="34" charset="0"/>
        <a:ea typeface="+mn-ea"/>
        <a:cs typeface="+mn-cs"/>
      </a:defRPr>
    </a:lvl4pPr>
    <a:lvl5pPr marL="720000" indent="0" algn="l" defTabSz="914400" rtl="0" eaLnBrk="1" latinLnBrk="0" hangingPunct="1">
      <a:buFont typeface="Clever Sans OFFC" panose="020B0504050501040104" pitchFamily="34" charset="0"/>
      <a:buNone/>
      <a:defRPr sz="1200" kern="1200">
        <a:solidFill>
          <a:schemeClr val="tx1"/>
        </a:solidFill>
        <a:latin typeface="Clever Sans OFF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Rigtig mange forskellige ting vil blive introduceret. I behøver ikke at forstå det hele, det er vigtigst at vi har en dialog om 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657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Det her er hvad on-</a:t>
            </a:r>
            <a:r>
              <a:rPr lang="da-DK" dirty="0" err="1"/>
              <a:t>premises</a:t>
            </a:r>
            <a:r>
              <a:rPr lang="da-DK" dirty="0"/>
              <a:t> er. Virksomheder havde store server-rum på deres lokationer. Vi zoomer ind på server-rummet i kælderen som det næste.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59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6D599-D911-8161-B482-1F14CB9C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F7802-CF77-13D2-CFCC-6C446F71F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5CF52-CB7B-9ECC-58C0-85B6F4036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Vis 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billede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rackserver.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bare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computer."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Bare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computer der: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CPU'er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meget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RAM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mange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diske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netværkskort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24/7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Windows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Linux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ligesom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normal PC.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5FCF2-2AC0-9386-1576-4C1BE9335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5F82D-6A05-A590-D7DB-D521F8734B3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5785995-3A59-C8A4-B4F6-D91BAC72B5F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12B995-4552-7562-7502-BAF790D02D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704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skulle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hoste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.NET-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typisk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have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mindst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disse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servere."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537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87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dage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uger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måneder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Hvorimod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"I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ofte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minutter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178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9A15-6F40-0575-F9D0-9945DCF7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4AA88-60A7-E193-344B-4F8313167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B40C4-87F8-77DE-4EC6-A9FF036E0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dage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uger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måneder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Hvorimod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"I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ofte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minutter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6520C-288B-7620-CB4E-CAD782B3E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0B6A4-0FBA-122F-A813-C0CF0C7F8D0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C2C4E63-EB43-7A62-1643-BD132F71C5E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3BE49A8-785B-AEFD-574B-CCD5106AC5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440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Start med 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simpelt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scenarie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lancerer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Alt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1.000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10.000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Mere data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begynder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problemerne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8924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C9C56-4AD5-10E1-D861-B82F230C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5889A-0BBE-030A-7426-A24A38ECA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EF231-0AB4-76D7-CC09-8B3A34D04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Jeg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samle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hovedpunkter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Skalering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Serveren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bliver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presset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RAM slipper op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trafik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forventet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Konsekvens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Langsomme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svartider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Nedetid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Nye servere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købes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2. Lange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leveringstider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Ny hardware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bestilles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Leveres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Monteres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Konfigureres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Konsekvens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måneder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Svært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reagere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hurtigt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3. Drift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vedligehold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Virksomheden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for: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Windows-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opdateringer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SQL-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opdateringer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Backup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Antivirus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Hardwarefejl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Konsekvens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Udviklere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drift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udvikling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4. Høj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tilgængelighed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...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...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måske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undgå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selv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redundans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failover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clustering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load balancing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både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dyrt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komplekst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5. Store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investeringer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skulle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gætte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fremtiden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om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?"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gættede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lavt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nye servere.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gættede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højt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dyr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hardware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ubrugt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6. Global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tilgængelighed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serverne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Danmark...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...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USA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Asien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god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oplevelse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kræver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datacentre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replikering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globalt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netværk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færreste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virksomheder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selv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45B2-AC92-1807-6FFB-EA8018830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335FF-E8A0-3631-1062-F7B29809D2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161FC8D-D3BA-41D7-3EF7-9F4F19375F3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73882F-5F34-F5FB-B829-84C452537C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5766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2EBD-A1B5-A4D5-7D4B-05335ABF2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742EE-E6A3-FCBF-3958-9B9D0740B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6BE96-517B-5EF7-1FA7-B5F45DCFE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jeg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stoppe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"Alle de her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ting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fælles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 De handler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om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udvikle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software. De handler om at drive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infrastruktur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5FC1-23BD-9A56-C13E-3DCC03CD0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6968D-8E4F-0304-7DC5-0912FEBB410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F1AF3E1-AC9B-B9A2-2959-75A21C16223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DB2456-93BD-362F-F249-096AA0ECBB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0803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Cloud?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"Cloud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opstod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magiske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Cloud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opstod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flytte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infrastrukturen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virksomheden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cloud-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udbyder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naturlig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overgang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giver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publikum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rigtige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mentale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model: Cloud handler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først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fremmest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om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ansvarsfordeling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om,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serverne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forsvinder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lettere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tjenester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managed services,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Microsoft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overtager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stadig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driftsansvaret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126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DA57-C0C2-E10C-E76B-E609E13E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E73A0-BADE-51FD-7025-16D50FF94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4ABB8-930D-0045-EF9F-19B9E81CC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skulle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hoste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.NET-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typisk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have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mindst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disse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servere."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3E329-4998-B517-6874-E9B144713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78275-C8D8-E278-77BE-4B9677CB77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3206F9B-3F6B-0316-51EA-52E09ABF24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872AE3-0C48-D491-1639-C5600311D1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9850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5B131-52E1-00B0-F320-EE9703D4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0B514-AD50-4580-2542-99B5A11F3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64A73-4701-DC06-1FA5-57BD9A156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Start med 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simpelt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scenarie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lancerer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Alt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1.000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10.000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Mere data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begynder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problemerne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7495E-145F-A92D-B744-AA65D50AC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E24A7-91DF-666A-74D6-E34F653222A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9FB0BCE-AC30-C799-B8FE-871D1A6F8F0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B838A9-3904-0AB2-E7BA-73AD20EEA5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527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8949-657A-0EF9-6A28-4945C056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7C825-D30A-E392-24E3-26753C19A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3D809-0507-40FA-B082-DEDB6BFE9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"Cloud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betyder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at vi slipper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Vi slipper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infrastrukturen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fokusere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udvikle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software."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god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overgang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vise, at managed services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App Service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 SQL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flytter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endnu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Microsoft.</a:t>
            </a:r>
          </a:p>
          <a:p>
            <a:r>
              <a:rPr lang="da-DK" dirty="0"/>
              <a:t>Altså det der rent faktisk har noget med vores forretning at gøre.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8037C-6A2B-4602-C4FE-046BC2AA6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ED597-74BA-D7D1-9074-44DDD5AE29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F6763FD-174C-BB8F-47AD-E63D8A32662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45A653-A492-CEFF-21A7-B95785033C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5073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Afslut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sætning</a:t>
            </a:r>
            <a:endParaRPr lang="en-US" sz="1200" b="1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Jeg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slutte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kapitlet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Cloud 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"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computer et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sted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oppe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skyerne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". Cloud 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tusindvis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fysiske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store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datacentre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deles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mellem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mange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kunder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stilles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rådighed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over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internettet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minutter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publikum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klar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næste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kapitel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Azure?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"Nu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cloud er. Azure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Microsofts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konkrete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cloud-platform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altså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Microsofts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måde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levere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compute, storage,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databaser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netværk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datacentre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1728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CFAE-B5C6-DD6A-F1F0-DAB85E01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FE172-1B7C-825D-F279-F64DBE9B5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59CA6-3491-358D-5B49-705587BF1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Cloud?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"Cloud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opstod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magiske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Cloud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opstod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flytte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infrastrukturen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virksomheden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cloud-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udbyder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naturlig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overgang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giver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publikum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rigtige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mentale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model: Cloud handler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først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fremmest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om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ansvarsfordeling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om,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serverne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forsvinder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lettere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tjenester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managed services,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Microsoft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overtager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stadig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driftsansvaret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57661-2DFC-1872-F65C-4E20D99AF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E7C43-8ADC-AA76-2E2F-3B34DFA9104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2A91C90-C3D3-2D31-BF80-1297CEADDA7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60A290-A43F-23A3-E185-3DF5FFCCD7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44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Azure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Azure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Azure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platform med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tusindvis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services.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783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3258-FE73-0310-5636-A39E17B3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BCC9E-8C14-B665-9137-5D1ED75D0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8949D-F165-3A6C-A222-F089E3262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opretter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App Service,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vælger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hvilket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datacenter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hvilken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region den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ligge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8C956-176E-0105-C62C-8B3DF07F4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EAC54-F0D8-4082-7395-04B00F9B80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BA8979A-A41B-9DC0-18E4-EF02AA88F59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BAFAF4-9653-4530-BF5D-9ADC0F64DF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984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C8FB-8A31-B551-273B-7A853102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409F4-14FF-08FC-A8B7-CB1735B6F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BAD26-693C-7593-9FD4-AF14FA293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lærer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de, at Azure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består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kategorier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bare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produktnavne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828BA-4305-D09C-EED4-2AE6DA667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B0CBC-C043-F16A-68E3-D98A070FA0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A9F6193-8F69-0066-E68B-B4A92021A25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7BE1E5-0A91-3484-3931-DDD2418DE7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7917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4DAF-85EA-25E3-C129-919270CC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C4524-6927-2C78-9FB5-9D4D37503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6FC42-07FC-F15A-88B3-7B7C46280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"Man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løsninger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Azure. Man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løsninger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Azure-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tjenester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passer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godt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din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næste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agenda: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vigtigste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byggeklodser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F7FB-2F59-79FC-7990-386308A88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0C423-3925-2990-A90D-D4C4ED47CF2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3D9CF8D-1C3D-6E16-F2B2-816576C79D0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82341-41F9-BD12-8168-239867F331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3142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B2B3-2379-1937-6BFD-897F4481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A4399-5A39-4C6E-C422-090F8832A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5EFF-4F8B-8D45-D92B-E1C725649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Cloud er 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koncept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Azure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Microsofts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implementering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koncept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Microsoft driver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infrastrukturen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oprette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ressourcer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minutter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det,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Høj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tilgængelighed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global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rækkevidde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Integration med Microsoft-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økosystemet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f.eks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Dynamics 365, Microsoft 365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Entra ID).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sidste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punkt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særligt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relevant for din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målgruppe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BF50-6DF2-E510-4113-824E082DC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F6491-EC99-4CE7-48DC-30CB6CACF65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85446DA-56BE-A5F9-8ADC-F43B1C3A790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1FD88B-1756-1888-32F0-4482FE296F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241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E71D-2CD8-B351-46BF-1D0FCD90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0DC28-BE58-6909-7045-A84A77D43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7DFFD-3FCF-5CA6-14FB-19FAC9614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her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kapitel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vigtigste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praktisk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Efter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folk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åbne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 Portal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forstå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Jeg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holde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Tenant → Subscription → Resource Group → Resource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er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mentale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model, Microsoft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selv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23B34-0B1B-BC30-3D42-13CB60B21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73963-26B9-CFE8-E8D2-B94C4147FE3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3EEA21D-E1F7-4A95-7927-04C92C0A30A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0EDEBF-7441-9364-CAFD-ED51A6EB48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0984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FB74-63B4-B29A-FF0E-BD3F47EB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F1D07-8EB4-B8A2-D7E4-524EF8373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3C454-D21B-4B78-A027-BFA0721F2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"Alt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 ligger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hierarki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.”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Tenant?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Tenant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repræsenterer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organisation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Microsoft Entra ID.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Eksempler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Clever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Microsoft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LEGO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indeholder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Grupper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Rettigheder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Kort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sagt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Tenant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svarer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virksomheden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introducerer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Subscription.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Subscription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samle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ressourcer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fælles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Fakturering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Budget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Adgang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Kvoter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Eksempel: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Clever Tenant</a:t>
            </a:r>
          </a:p>
          <a:p>
            <a:pPr rtl="0"/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Production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Development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Test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└── Sandbox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ofte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her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virksomheder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miljøer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op.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her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vigtigste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slide.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Resource Group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logisk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container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ressourcer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Eksempel: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RG-CRM-Prod</a:t>
            </a:r>
          </a:p>
          <a:p>
            <a:pPr rtl="0"/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App Service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Azure SQL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Storage Account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├── Key Vault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└── Application Insights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Ressourcerne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behøver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fysisk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ligge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sammen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Resource Groups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logisk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organisering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bliver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konkret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Resource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Azure-service.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Eksempler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 Service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Function App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Azure SQL Database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Storage Account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Service Bus Namespace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Key Vault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Virtual Machine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Kort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sagt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Alt,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opretter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Azure, 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Resource.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2FC5-6251-3112-FEEE-FCBD47FAE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95E6D-6B73-0FC8-2284-BF55FED15B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ADD328B-D42A-9437-DE47-2A3685F4EA1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E40843-85B1-71D4-888F-3B6C267404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17383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ECCBE-9BB9-881B-9CB0-C1584D8D0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E557F-D2C4-D407-56F7-FBE5118DE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47DB7-6748-833E-F266-AE5AAEFF0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pege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diagrammet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at vi deployer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App Service, deployer vi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Resource Group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Subscription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Tenant."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præcis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udviklere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tænke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arbejder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Azure.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Jeg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nævne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ting,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introduktioner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overser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Resource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tilhøre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Resource Group ad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gangen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god regel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kende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modellen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intuitiv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Den 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også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nyttig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deployment, Infrastructure as Code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flytning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ressourcer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259D7-2FB0-9119-5BFC-188669287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7A684-EAE4-7774-8D89-4C9C4B51963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DD6EC42-733C-94F1-5C2C-4A8D9E4DE3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AE363A-9742-DB11-05F9-66F93E6C34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8588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8F6B-CEBF-E5D1-F290-F7A3C772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53F21-6CB2-C377-89E6-814DFA602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CAEF7-F61D-E0A8-1E79-156E3D538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9CA36-EAF9-F3C2-D08D-4E5B95682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65451-5DC7-EB06-E3EA-423005F7AE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B5ADF6B-A2DD-21B3-D6A6-B14122311C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25F1C5-FC8C-B0AA-52A5-27EB249346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482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29F0-BD72-8018-4784-6F95639E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CC29E-9321-509E-2A31-7FA235350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483FE-0132-2514-8411-5E7AAC87B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Næsten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alle Azure-services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placeres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her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kategorier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3606-3158-1FD6-9C78-F49DCF6BA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542DC-AB9B-7FD1-94B2-61B44ED21A4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FC3FE21-2C78-A03D-56A4-C700FBE021A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D9E399-E422-C354-D3CF-DE8D5FAC21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34462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9776C-60A6-2A6E-4D71-4D4BDE0B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B7804-8B65-1958-B287-BFC8F6D5E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F41EA-DD3F-69ED-CB6C-DDB75EA86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Generelt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at Compute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1BF1-B71C-A3B9-CE8D-1FB4E1F3F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6B3CD-A3FC-68EA-7233-07C50E047B6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F62D153-C82C-18B3-E037-638D45FEB73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F52B4D-691A-EC25-A5B2-7EB57BA6AE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35387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7B3B-399A-09FB-BDCA-836E0C6A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D6CAA-5379-225B-920B-D2A2B36FC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E118A-9481-F034-37C4-1A5849FFB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Typiske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spørgsmål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filer?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billeder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backups?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870C8-A5E1-0D76-58A9-59C84B138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97B67-DC52-1B0A-93D6-7E411FA4684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AB6E2DD-0F91-84A7-8F29-491444E4C35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FC3612-1AF0-6611-0BE0-D6D1986F60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77486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9A43-4C76-FA9C-5D64-8691CCD3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1CE56-E9DD-AA5E-0A06-506B460B8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9DF2B-AB4E-DA92-652E-FC921C533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API?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kommunikerer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sikkert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F0AF1-919D-8158-0179-7D9A5AB77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A1286-E5AA-BF3E-8C2C-19108A9B511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3B63D21-EBA4-238E-C4A4-4A2FC57A25C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9244A7-DA6D-54B2-CFE0-67EB96116B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2798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E620-4465-B5CB-7890-B8E076E5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50B83-0499-1408-E905-17404D915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8AB11-F5D6-5267-9CDD-DF5411FE5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hvorfor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kobling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retries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buffering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skalerbarhed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9B1AE-0015-2658-2E14-277AE954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49EA3-5FB4-E260-17CF-3A745EE4B7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966B5EF-CBBD-EF75-1140-C20D521679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869004-B4D5-EE93-04C5-87B5482CDE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7233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EAB9-12F8-AD47-E186-D8D24289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B0F99-7288-D49B-8EF0-B8876C484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B6268-60B9-56E0-EAA4-AEB390FEB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lever Sans OFFC" panose="020B0504050501040104" pitchFamily="34" charset="0"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Microsoft Entra ID: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Azure's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identitets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-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adgangsstyring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autentificere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apps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styre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adgang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Managed Identity: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Giver Azure-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ressourcer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identitet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tilgå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Azure-services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sikkert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gemme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adgangskoder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secrets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RBAC (Role-Based Access Control):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Styrer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hvem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adgang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tildele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roller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grupper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D471D-6081-6770-79CF-4BA284E47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40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EC56C-3701-4E95-7F58-46DC3C37CA8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683C758-BDEA-795B-A57B-1A1C051354C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3660B9-3014-AC51-9A63-8ED3CFB3C9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298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7162-8CBA-21E3-EC51-2FA1B0B6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D0501-A6E4-EBD7-E5E6-2F069AD3F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BEC4E-0A80-AF70-1ADE-D3CF1B6C9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Spørg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publikum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finder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hvorfor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request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fejlede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Svar: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Monitoring.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36437-1D37-F1A0-C68C-96EE79F63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F2784-0390-0315-3565-7636A756AB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7C0971B-B59F-2E88-B9EC-19EE022C7F5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7ADBE7-F79B-5DDF-BFED-A6EBD19F04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8731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544A-D709-3E8A-20DF-A3E249D5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6FF99-B262-C8F9-78EC-42A56A212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D6D0C-AB7D-E929-1DB5-1A95DD7B1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E6543-54ED-6627-ADCF-D17DCBAC7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1CA45-EB2F-8960-A44D-A0040D3C748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CD6F576-66E0-A8E1-9803-06A9786C303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0DAF9E8-67BA-B851-0500-1818B5DDE5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9574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AA24-7183-546A-7C31-5EE6C157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24F89-6031-6AE6-5BDB-EECA3FD97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63985-7585-2C77-5F86-7E68CAC94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6756A-BC68-CEA2-49E9-60AAF6D00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44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C7C84-D187-F1DB-2704-166C6B479F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F703A92-8E29-3636-F325-95C46E95D1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99B48C-523F-8047-B07E-5475FE1725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058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E08D1-F91D-53E6-8C6A-43E161AB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0B0A5-2820-0D04-E0E2-C8EAD4886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8CF99-98E1-721F-B495-9391F990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"Dynamics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selve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forretningsapplikationen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Azure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ofte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alt det, der ligger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rundt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den."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- OD - Fill out coordinates from DAWA on installation|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Salgslokation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- UP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Kommune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postnummer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by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Netværk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|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Dawa Connector - CH - Return coordinates based on DAWAID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BF7DB-245F-0D65-C810-A28FAEF6C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2B67D-D141-0994-B7DB-EED7E18CF9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C036E72-5EDB-A7F0-A5DD-21DF123C1BB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BD67EF-8C91-1522-0E15-5C87A5D587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7351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43E5-5C18-F9EF-A14E-6E19A17FC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2D290-107F-E7EE-8242-7B9A77155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356F7-A6C9-9B48-D7FE-A1479E69E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"Men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kommunikere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et system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udenfor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Dynamics?"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73561-CBBD-BC7D-28B3-159F55326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46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26B68-B77B-97D3-E8E1-65ED5EF5541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273F790-D1CE-ECB6-A5F5-2D1B02B413A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E83B54-6BC5-EE72-4FA9-581B734DE1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1133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46B1-F6F8-9BC5-B41A-E7C99353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75551-10A2-8FD7-2351-0A193C0D7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FFD35-641C-3DDE-5EC1-2EC3E3F23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"Men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kommunikere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et system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udenfor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Dynamics?"</a:t>
            </a:r>
            <a:endParaRPr lang="en-US" sz="1200" b="0" i="0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EF8BF-3E7D-9A49-9B5C-8209F74CD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47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BDCA8-0133-CF1B-6B57-140FFA2F14A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B705A04-D71C-2DE4-B3AF-4B910889F8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B8BB88-8208-B20D-75DD-75A3748F17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4623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7A43-25FD-2B60-87F2-DB6DDA41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20332-3C9E-7B5B-F9AA-E69554DF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0218C-AC2E-913E-E030-73F8836CB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4934A-175E-A3B9-8D69-DB0FFA2C4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49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4DA2A-2647-BCAC-D802-E698B75CDAC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FE72221-30EB-2FBA-4C57-E0A0FAF67BF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141053-0960-2F62-4411-A904A6BC92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25116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84AC-DA90-00B0-ABC2-5727FE37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A0B70-D292-8B12-CABB-260942F1F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9286F-BC7C-023A-3078-449F308C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skriver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C#,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Det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blandt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det, .NET giver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.NET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indeholder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både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runtime,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standardbiblioteker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masse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værktøjer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muligt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1FCD9-7F48-CF8C-72AA-9A3532F7E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50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E831-CC4B-BBB0-335B-E365EE5B6E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714265E-E77C-C872-BB7B-FAFA5CD5516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69D353-1E92-0660-FB9F-1E6945D951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4335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86E1-886D-D62E-04BD-61E459305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85717-4E50-464E-6118-EE15C4170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4C293-258E-F7B1-3E4C-FF458CEF4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skriver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C#,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Det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blandt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det, .NET giver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.NET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indeholder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både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runtime,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standardbiblioteker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masse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værktøjer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muligt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0DCD9-9F62-7694-EEA5-E0AAB6EFA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EB47E-2CEA-1F0B-9521-ADC164D36A8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0B52197-19E6-655D-6B4F-2706B3AFABF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BDB3823-9AC1-CBA7-3212-1F26F9199B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79563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1B8F-7216-1921-8277-E1AE5C61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6C14E-F210-02B4-C332-3A4A5B88E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5E87D-66A6-215B-7C51-31CE11EE0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skriver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C#,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Det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blandt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det, .NET giver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.NET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indeholder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både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runtime,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standardbiblioteker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masse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værktøjer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muligt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387E5-EDD5-39D2-B453-DDEAFB143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18AC2-515A-6985-E7B4-016ACE98D0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0EAD91F-A2E5-3D2E-C113-1B7196EB337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CB6F64-6063-7921-BD34-CD0AB0E76C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57450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8A04-BF73-83FE-AADF-DFD79B5E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0C7C0-98F2-3706-ED37-CF042133B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52623-DFBA-263A-243C-B33EC3399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skriver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C#,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Det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blandt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det, .NET giver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.NET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indeholder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både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runtime,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standardbiblioteker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masse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værktøjer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muligt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E791-0239-73FC-2C1E-5D3323020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53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D99D0-745A-BC60-455E-668FE41B3D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8FBE6C4-AAB8-3B8F-5909-1875D98EA4C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249AEA-925F-E7D8-8DC9-4C50D8949C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6683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BDE3-596E-35C9-990A-21F00B29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EFBA0-CF91-8B1D-6D8F-0E3D42E61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1A788-45D5-23AD-D157-A45F58C5A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"Vores C#-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del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systemet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Azure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leverer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byggeklodser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omkring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den."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134C8-98C3-199E-B076-75B7B7B2A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54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4CD45-6C64-68A1-BA7A-6A0E375487C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D37D28-E9F9-C727-9648-1C430A958E9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193A88-7C16-BF99-D376-738438B0F8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0088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3A89B-09A0-05A7-3232-FA276AD5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1DF55-E069-8790-1B52-3ED56E05D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4E64F-8DA4-6195-5D5A-DEE5C7B79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"Vores C#-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én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del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systemet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Azure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leverer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andre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byggeklodser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omkring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den.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vigtige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her, at System A I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aysnkronte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forløb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venter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svar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bussen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080A1-28B7-4080-0B91-2B01D9084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32A7E-9358-ADF5-3F2B-06404AED208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85F4CDB-3232-63C3-3820-CCEA898E4D1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BF09ED-754E-2AEE-4631-17D7767EAE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4898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A0F9-6D77-EB5A-5007-BC6628B1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4FCB2-2BD5-3DE6-148B-DC2ABAD8C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14D8F-0BED-B126-D12B-E86EC37A9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"En Function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også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bare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Forskellen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er, at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nødvendigvis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kørende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API-server. Azure starter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kører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besked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 Bus</a:t>
            </a:r>
          </a:p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timer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udløses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HTTP request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 event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389C8-9FB5-B7F6-91E5-8C7905A9C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56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87B1F-9E4B-B9F9-7772-063BA10E11B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30B811B-353E-2F13-7B79-C55F0D058F9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FA037C-1C5E-B184-6A41-6B129A6C9E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38364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B018-5059-5D2C-90F2-82FDBFFC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C0F41-CAB8-FEBC-626E-EEEA316DA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83F6E-8E6C-536C-6871-57AF73E5B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hardcode passwords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connection strings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C#-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Azure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håndtere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identitet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adgang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application."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132C1-011F-EAEF-0121-9B7E16EAF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57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B3BA1-8686-B69E-F322-E2F704B763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BB4C59D-5AD9-1CA6-735D-D9D82C8417C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5CCE16-3C31-1E55-189E-7433F4CBB8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89132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DF13D-5C47-035B-1229-4500C8D2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0C152-580C-D0CF-8D02-E67FA4EDA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2382A-6595-4BFF-5E33-3D2C26CAF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hvis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kunde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: 'Det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virkede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’?”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hen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serveren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kigger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telemetry."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7C9C7-2D41-C535-E9CC-FE7C78B45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58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0F236-78F6-69EB-34B6-16B75BC132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2BB1141-E309-9779-93DB-70CB19A9C8A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AAE8AA-9B25-23E5-CC2E-69DB90D54B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24131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34EB8-9BBE-C5D2-26A1-E40F329F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74CBF-D095-5FCE-3B58-7E7B45379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8CB94-AF3D-B40D-E558-369E32FAA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"Det her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bund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grund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C#/.NET-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–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omgivet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Azure-services,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applikationen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selv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A4FF4-528C-B50A-5E7D-2BA608CD2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59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E7E2D-ACB8-D02B-CC13-B17422DA1E6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6210805-AB35-D0D2-25F6-FE4596A4AE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B14476-31F7-64D5-8381-24F1F9D763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1337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569B-B42E-081A-5EF5-2931ABFD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9211E-AD5B-1A7B-5CB5-E0F9869AB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0165C-08E8-8D55-ED56-BF9DC10F5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7AC2F-F86A-F475-FD5B-FACF8018E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2F0C8-15FB-038C-07C7-5070EFD438E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2B4D8BA-67F8-FF03-5426-8A9216E4205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3F62A0-481B-1C22-C52B-1B28A00A2B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0231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129E-CAE4-7C61-C8B3-AAB77792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5DBCE-1EC7-35C1-7D20-0D3A8959B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C1C6F-0F57-5685-6F51-9D6B0C555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"Lad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faktisk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teknisk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simpelt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7332E-2A6C-84F8-3228-C5BDE7075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5D45F-8BBF-224C-1CD2-274FF98CD44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CC2CE57-B36F-B4A6-99B4-7C4C7880D9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9ECA31-2C1E-6826-5925-99FD962C37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63786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117C-DC16-6F50-6FA5-EFCCFC48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9D84C-4D23-0A31-0028-9DB772D3E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06A40-89A3-6D9A-3088-F078EC82C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laver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noget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Dynamics. Dynamics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gemmer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ændringen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Dataverse.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udløser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hændelse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som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integration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reagerer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Derefter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forlader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kommunikationen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går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over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backend."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70FE5-B13C-7495-E317-22E6ED7EE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63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2A88C-F6E8-F1AD-4B20-08C4230498D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DF51331-B0F4-7847-3A12-2A0A496B35C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80D374-B6DC-366B-EAB7-263AB41179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3047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CB98-119F-1DBA-8545-63AB65D0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71DEC-FD07-8D13-9132-745783FCF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B8CD1-C5AB-91AB-C2EA-1C6F2846F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Dynamics sender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requesten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APIM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modtager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.NET API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behandler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den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data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gemmes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Azure SQL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besked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sendes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510FC-55EF-CCFD-7EA0-CEAE653FA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64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21B8C-F446-223E-A1F6-E62BC1F6A9F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E9064E8-D462-B56B-9EAC-2E794EA52F6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7C9DF5-4567-CFAF-9C8A-EA6151D9C3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35583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126B-89C3-050B-5B42-832A8BC3A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5033F-8382-97C7-06B8-1678EC9BC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244DB-A5FF-0B1F-3373-E11C7FE3A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"Vi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behøver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vente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at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eksterne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system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færdigt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før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svarer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Dynamics. Service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bussen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modtager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beskeden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samme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så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behøver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function app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at vente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det.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Derfor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asynkront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520A-CB07-3983-3ED8-E5F0D92C4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9A4AB-0DDE-1D8F-5D43-36521CBC25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4022E8D-B879-223B-5DF6-FD1F5FBAF7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3D9D32-CBE5-525D-2967-81D94170F2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9726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506F6-A5D6-2677-593A-D1FCE903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9471F-F648-41B5-6141-B6CCC724F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5262A-9358-B67F-4AE3-511ECAD2B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Azure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hjælper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os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med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bygge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robuste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integrationsflows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2D791-CD97-24B0-34F7-5C07561A5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66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8348B-5F78-1ACD-E3C3-CBC8BCADC60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DBC48FA-DE3C-E610-8347-1EF85398993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40EDC3-A60A-DC7A-A8C9-04E814147D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28148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48ED-A3A6-8B76-41AF-7A80A098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D3BDE-FF35-FEE0-146D-B23887577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0B143-A365-0E0D-19C2-A0C47B423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Managed Identity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Hvem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service?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Key Vault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ligger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secrets?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Application Insights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→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Hvordan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vi,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hvad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der skete?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Det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være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lille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slide,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fordi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allerede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forklaret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koncepterne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tidligere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</a:p>
          <a:p>
            <a:pPr lvl="0"/>
            <a:endParaRPr lang="en-US" sz="1200" b="0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51653-7741-A6E2-81B4-ABC7C9A3E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67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A4485-7759-6CBD-9EEC-10849F57BF8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663010E-BE34-0E72-8681-38F257A4FD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604A7F-4D17-FBF4-869C-BC64485A2B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2593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5A28-A472-1CEC-EBAA-DE8EBE5D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B8DA0-D808-76F5-3308-0313B9875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7E2DE-1E9D-4BA6-D1AB-C44C7AAC9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bruger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dem,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fordi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de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konkrete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problemer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vores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forretning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."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37C94-C2A7-FE95-B511-4FB4F46E3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68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93FFF-64FE-B549-651A-612DE992E2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77FF737-146B-2C30-6F4D-D941956970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109CB12-547E-5381-5200-6A048D9B13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8112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E28C-0A6A-A860-78BD-487541C0C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EFF69-086B-7508-D870-3BAC5157F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06CAE-1FCC-1A98-6AD4-61956BAE6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15E49-B1D0-3B1E-9BEE-0AE577B29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70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0A4A1-F028-EB5C-F532-CE2A51FA64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19D12B6-D0DF-D318-DF0D-6EEBCD9170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27C09B7-FAFB-2005-7030-2CAA957DE2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630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D264-4DF7-64D3-8537-1D643F6D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677D8-6A3C-C267-61DA-FBFEF9E49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F69D9-1BCC-67C0-6360-A10C2E43E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1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7488C-DE86-716E-B781-F00326817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29265-3F0A-1546-AC6B-24A61DDC346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2FF04CC-6509-0118-7FF9-8D31112466A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026C67-E50F-BC02-0D4A-2CDCC749BD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455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B7DEA-A001-F434-AE12-A32D5A97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67BBB-6371-6C6E-7298-17AE6D16A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B18AB-AEA9-3AB0-44D6-8B211A47D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Vi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fokuserer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løsningen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– Microsoft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håndterer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mere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af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infrastrukturen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lever Sans OFFC" pitchFamily="34" charset="0"/>
                <a:ea typeface="+mn-ea"/>
                <a:cs typeface="+mn-cs"/>
              </a:rPr>
              <a:t>.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659E7-22A7-645A-22FD-47418F8B9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820AE-C4DD-A7CD-D62E-66261E5F0BB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9291D1D-DCBD-3414-E217-1A6901685A3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5FCE22-FCAA-01C1-8C09-06F568EF1B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6464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A332-B795-DF48-4ECE-0D90E714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F284A-08C0-71B8-ECAF-B1D01B8B6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96789-51A3-51FD-6779-CC20545BE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1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D94E0-0541-45AB-00E5-B26A4DDA2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73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2C20B-EBC9-7249-697B-6ED831D4151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3C85361-5AF2-7F0B-6C4A-1E4F9573995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32D3FC-512C-3922-BD32-EBF6647027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08767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6643-EA25-6E19-AD51-11632498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433B7-8641-18F3-CFE0-5847651C1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89BF5-811E-55A4-A2BA-3DDA49F46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1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30142-5ED0-3D5E-EA0B-0B0E38783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74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BF5F8-CE8B-F972-910A-B62F7375404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07A3936-858B-63EC-2147-E8765A5319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ED3601-0CFF-0FDF-0497-B02D82C19A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56802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4022A-8CD9-DB37-2BA7-F86BB8EE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B3680-CC9B-F0D5-B569-DF070D783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99928-EF1E-3CD1-DD66-410760538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1" i="0" u="none" strike="noStrike" kern="1200" dirty="0">
              <a:solidFill>
                <a:schemeClr val="tx1"/>
              </a:solidFill>
              <a:effectLst/>
              <a:latin typeface="Clever Sans OFFC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FADFB-5A20-3E9F-B045-A87F69530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75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F7EC8-080C-0BC6-F467-B8D1165FC30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5CE2C4-AD66-4201-8C8B-2A16BA8B1F6E}" type="datetime1">
              <a:rPr lang="en-GB" smtClean="0"/>
              <a:pPr/>
              <a:t>22/09/2026</a:t>
            </a:fld>
            <a:endParaRPr lang="en-GB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DC53A5E-7B75-1AE1-C247-69E04212D0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721C60-A5E5-AA6F-3689-C5DF77FBBD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812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cleverdk.sharepoint.com/sites/Materialebanken/KI/Forms/AllItems.aspx?csf=1&amp;web=1&amp;e=XASeIB&amp;CID=a383ba64%2Dee3b%2D44b8%2D828a%2D3be1825d520b&amp;FolderCTID=0x0120007A24435F76C05147950A1C3C480C4166&amp;id=%2Fsites%2FMaterialebanken%2FKI%2FMediebibliotek%2FPowerPoint%20%2D%20mediebibliotek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176962" y="395288"/>
            <a:ext cx="5618163" cy="5773738"/>
          </a:xfrm>
          <a:solidFill>
            <a:schemeClr val="bg1">
              <a:lumMod val="85000"/>
            </a:schemeClr>
          </a:solidFill>
        </p:spPr>
        <p:txBody>
          <a:bodyPr lIns="72000" tIns="900000" rIns="72000"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5288" y="395288"/>
            <a:ext cx="4656137" cy="682466"/>
          </a:xfrm>
        </p:spPr>
        <p:txBody>
          <a:bodyPr anchor="t"/>
          <a:lstStyle>
            <a:lvl1pPr algn="l">
              <a:defRPr sz="4800"/>
            </a:lvl1pPr>
          </a:lstStyle>
          <a:p>
            <a:r>
              <a:rPr lang="da-DK" dirty="0"/>
              <a:t>Titel</a:t>
            </a:r>
          </a:p>
        </p:txBody>
      </p:sp>
      <p:sp>
        <p:nvSpPr>
          <p:cNvPr id="5" name="Logo" descr=" ">
            <a:extLst>
              <a:ext uri="{FF2B5EF4-FFF2-40B4-BE49-F238E27FC236}">
                <a16:creationId xmlns:a16="http://schemas.microsoft.com/office/drawing/2014/main" id="{1879119B-7C56-CA76-0B19-D9256677DD9A}"/>
              </a:ext>
            </a:extLst>
          </p:cNvPr>
          <p:cNvSpPr/>
          <p:nvPr userDrawn="1"/>
        </p:nvSpPr>
        <p:spPr>
          <a:xfrm>
            <a:off x="396000" y="6395662"/>
            <a:ext cx="1145286" cy="221051"/>
          </a:xfrm>
          <a:custGeom>
            <a:avLst/>
            <a:gdLst>
              <a:gd name="connsiteX0" fmla="*/ 269537 w 2300296"/>
              <a:gd name="connsiteY0" fmla="*/ 20020 h 443979"/>
              <a:gd name="connsiteX1" fmla="*/ 269537 w 2300296"/>
              <a:gd name="connsiteY1" fmla="*/ 116683 h 443979"/>
              <a:gd name="connsiteX2" fmla="*/ 171674 w 2300296"/>
              <a:gd name="connsiteY2" fmla="*/ 116683 h 443979"/>
              <a:gd name="connsiteX3" fmla="*/ 171674 w 2300296"/>
              <a:gd name="connsiteY3" fmla="*/ 20020 h 443979"/>
              <a:gd name="connsiteX4" fmla="*/ 269537 w 2300296"/>
              <a:gd name="connsiteY4" fmla="*/ 20020 h 443979"/>
              <a:gd name="connsiteX5" fmla="*/ 1039400 w 2300296"/>
              <a:gd name="connsiteY5" fmla="*/ 353120 h 443979"/>
              <a:gd name="connsiteX6" fmla="*/ 1070525 w 2300296"/>
              <a:gd name="connsiteY6" fmla="*/ 353120 h 443979"/>
              <a:gd name="connsiteX7" fmla="*/ 1070525 w 2300296"/>
              <a:gd name="connsiteY7" fmla="*/ 79221 h 443979"/>
              <a:gd name="connsiteX8" fmla="*/ 1039400 w 2300296"/>
              <a:gd name="connsiteY8" fmla="*/ 79221 h 443979"/>
              <a:gd name="connsiteX9" fmla="*/ 1039400 w 2300296"/>
              <a:gd name="connsiteY9" fmla="*/ 353120 h 443979"/>
              <a:gd name="connsiteX10" fmla="*/ 2300196 w 2300296"/>
              <a:gd name="connsiteY10" fmla="*/ 162323 h 443979"/>
              <a:gd name="connsiteX11" fmla="*/ 2300297 w 2300296"/>
              <a:gd name="connsiteY11" fmla="*/ 162346 h 443979"/>
              <a:gd name="connsiteX12" fmla="*/ 2300234 w 2300296"/>
              <a:gd name="connsiteY12" fmla="*/ 162346 h 443979"/>
              <a:gd name="connsiteX13" fmla="*/ 2300234 w 2300296"/>
              <a:gd name="connsiteY13" fmla="*/ 192331 h 443979"/>
              <a:gd name="connsiteX14" fmla="*/ 2273120 w 2300296"/>
              <a:gd name="connsiteY14" fmla="*/ 188405 h 443979"/>
              <a:gd name="connsiteX15" fmla="*/ 2203915 w 2300296"/>
              <a:gd name="connsiteY15" fmla="*/ 271359 h 443979"/>
              <a:gd name="connsiteX16" fmla="*/ 2203915 w 2300296"/>
              <a:gd name="connsiteY16" fmla="*/ 353062 h 443979"/>
              <a:gd name="connsiteX17" fmla="*/ 2172784 w 2300296"/>
              <a:gd name="connsiteY17" fmla="*/ 353062 h 443979"/>
              <a:gd name="connsiteX18" fmla="*/ 2172784 w 2300296"/>
              <a:gd name="connsiteY18" fmla="*/ 163029 h 443979"/>
              <a:gd name="connsiteX19" fmla="*/ 2203915 w 2300296"/>
              <a:gd name="connsiteY19" fmla="*/ 163029 h 443979"/>
              <a:gd name="connsiteX20" fmla="*/ 2203915 w 2300296"/>
              <a:gd name="connsiteY20" fmla="*/ 209684 h 443979"/>
              <a:gd name="connsiteX21" fmla="*/ 2275552 w 2300296"/>
              <a:gd name="connsiteY21" fmla="*/ 159331 h 443979"/>
              <a:gd name="connsiteX22" fmla="*/ 2300196 w 2300296"/>
              <a:gd name="connsiteY22" fmla="*/ 162323 h 443979"/>
              <a:gd name="connsiteX23" fmla="*/ 1314184 w 2300296"/>
              <a:gd name="connsiteY23" fmla="*/ 187267 h 443979"/>
              <a:gd name="connsiteX24" fmla="*/ 1245097 w 2300296"/>
              <a:gd name="connsiteY24" fmla="*/ 244277 h 443979"/>
              <a:gd name="connsiteX25" fmla="*/ 1383275 w 2300296"/>
              <a:gd name="connsiteY25" fmla="*/ 244277 h 443979"/>
              <a:gd name="connsiteX26" fmla="*/ 1314184 w 2300296"/>
              <a:gd name="connsiteY26" fmla="*/ 187267 h 443979"/>
              <a:gd name="connsiteX27" fmla="*/ 1318010 w 2300296"/>
              <a:gd name="connsiteY27" fmla="*/ 356875 h 443979"/>
              <a:gd name="connsiteX28" fmla="*/ 1213220 w 2300296"/>
              <a:gd name="connsiteY28" fmla="*/ 258102 h 443979"/>
              <a:gd name="connsiteX29" fmla="*/ 1314184 w 2300296"/>
              <a:gd name="connsiteY29" fmla="*/ 159387 h 443979"/>
              <a:gd name="connsiteX30" fmla="*/ 1414799 w 2300296"/>
              <a:gd name="connsiteY30" fmla="*/ 258160 h 443979"/>
              <a:gd name="connsiteX31" fmla="*/ 1414051 w 2300296"/>
              <a:gd name="connsiteY31" fmla="*/ 269710 h 443979"/>
              <a:gd name="connsiteX32" fmla="*/ 1244750 w 2300296"/>
              <a:gd name="connsiteY32" fmla="*/ 269710 h 443979"/>
              <a:gd name="connsiteX33" fmla="*/ 1318416 w 2300296"/>
              <a:gd name="connsiteY33" fmla="*/ 328939 h 443979"/>
              <a:gd name="connsiteX34" fmla="*/ 1381488 w 2300296"/>
              <a:gd name="connsiteY34" fmla="*/ 305690 h 443979"/>
              <a:gd name="connsiteX35" fmla="*/ 1382173 w 2300296"/>
              <a:gd name="connsiteY35" fmla="*/ 305098 h 443979"/>
              <a:gd name="connsiteX36" fmla="*/ 1400773 w 2300296"/>
              <a:gd name="connsiteY36" fmla="*/ 327460 h 443979"/>
              <a:gd name="connsiteX37" fmla="*/ 1318010 w 2300296"/>
              <a:gd name="connsiteY37" fmla="*/ 356875 h 443979"/>
              <a:gd name="connsiteX38" fmla="*/ 1930579 w 2300296"/>
              <a:gd name="connsiteY38" fmla="*/ 187267 h 443979"/>
              <a:gd name="connsiteX39" fmla="*/ 1861488 w 2300296"/>
              <a:gd name="connsiteY39" fmla="*/ 244277 h 443979"/>
              <a:gd name="connsiteX40" fmla="*/ 1999657 w 2300296"/>
              <a:gd name="connsiteY40" fmla="*/ 244277 h 443979"/>
              <a:gd name="connsiteX41" fmla="*/ 1930579 w 2300296"/>
              <a:gd name="connsiteY41" fmla="*/ 187267 h 443979"/>
              <a:gd name="connsiteX42" fmla="*/ 1934406 w 2300296"/>
              <a:gd name="connsiteY42" fmla="*/ 356875 h 443979"/>
              <a:gd name="connsiteX43" fmla="*/ 1829610 w 2300296"/>
              <a:gd name="connsiteY43" fmla="*/ 258102 h 443979"/>
              <a:gd name="connsiteX44" fmla="*/ 1930579 w 2300296"/>
              <a:gd name="connsiteY44" fmla="*/ 159387 h 443979"/>
              <a:gd name="connsiteX45" fmla="*/ 2031194 w 2300296"/>
              <a:gd name="connsiteY45" fmla="*/ 258160 h 443979"/>
              <a:gd name="connsiteX46" fmla="*/ 2030446 w 2300296"/>
              <a:gd name="connsiteY46" fmla="*/ 269710 h 443979"/>
              <a:gd name="connsiteX47" fmla="*/ 1861146 w 2300296"/>
              <a:gd name="connsiteY47" fmla="*/ 269710 h 443979"/>
              <a:gd name="connsiteX48" fmla="*/ 1934811 w 2300296"/>
              <a:gd name="connsiteY48" fmla="*/ 328939 h 443979"/>
              <a:gd name="connsiteX49" fmla="*/ 1997884 w 2300296"/>
              <a:gd name="connsiteY49" fmla="*/ 305693 h 443979"/>
              <a:gd name="connsiteX50" fmla="*/ 1998568 w 2300296"/>
              <a:gd name="connsiteY50" fmla="*/ 305098 h 443979"/>
              <a:gd name="connsiteX51" fmla="*/ 2017168 w 2300296"/>
              <a:gd name="connsiteY51" fmla="*/ 327460 h 443979"/>
              <a:gd name="connsiteX52" fmla="*/ 1934406 w 2300296"/>
              <a:gd name="connsiteY52" fmla="*/ 356875 h 443979"/>
              <a:gd name="connsiteX53" fmla="*/ 1622819 w 2300296"/>
              <a:gd name="connsiteY53" fmla="*/ 310390 h 443979"/>
              <a:gd name="connsiteX54" fmla="*/ 1694912 w 2300296"/>
              <a:gd name="connsiteY54" fmla="*/ 163029 h 443979"/>
              <a:gd name="connsiteX55" fmla="*/ 1728767 w 2300296"/>
              <a:gd name="connsiteY55" fmla="*/ 163029 h 443979"/>
              <a:gd name="connsiteX56" fmla="*/ 1622641 w 2300296"/>
              <a:gd name="connsiteY56" fmla="*/ 373260 h 443979"/>
              <a:gd name="connsiteX57" fmla="*/ 1516515 w 2300296"/>
              <a:gd name="connsiteY57" fmla="*/ 163029 h 443979"/>
              <a:gd name="connsiteX58" fmla="*/ 1550662 w 2300296"/>
              <a:gd name="connsiteY58" fmla="*/ 163029 h 443979"/>
              <a:gd name="connsiteX59" fmla="*/ 1622819 w 2300296"/>
              <a:gd name="connsiteY59" fmla="*/ 310390 h 443979"/>
              <a:gd name="connsiteX60" fmla="*/ 800668 w 2300296"/>
              <a:gd name="connsiteY60" fmla="*/ 325866 h 443979"/>
              <a:gd name="connsiteX61" fmla="*/ 878449 w 2300296"/>
              <a:gd name="connsiteY61" fmla="*/ 294915 h 443979"/>
              <a:gd name="connsiteX62" fmla="*/ 900415 w 2300296"/>
              <a:gd name="connsiteY62" fmla="*/ 316990 h 443979"/>
              <a:gd name="connsiteX63" fmla="*/ 800668 w 2300296"/>
              <a:gd name="connsiteY63" fmla="*/ 356704 h 443979"/>
              <a:gd name="connsiteX64" fmla="*/ 657394 w 2300296"/>
              <a:gd name="connsiteY64" fmla="*/ 216057 h 443979"/>
              <a:gd name="connsiteX65" fmla="*/ 800668 w 2300296"/>
              <a:gd name="connsiteY65" fmla="*/ 75409 h 443979"/>
              <a:gd name="connsiteX66" fmla="*/ 899024 w 2300296"/>
              <a:gd name="connsiteY66" fmla="*/ 113871 h 443979"/>
              <a:gd name="connsiteX67" fmla="*/ 877173 w 2300296"/>
              <a:gd name="connsiteY67" fmla="*/ 136117 h 443979"/>
              <a:gd name="connsiteX68" fmla="*/ 800668 w 2300296"/>
              <a:gd name="connsiteY68" fmla="*/ 106361 h 443979"/>
              <a:gd name="connsiteX69" fmla="*/ 688865 w 2300296"/>
              <a:gd name="connsiteY69" fmla="*/ 216113 h 443979"/>
              <a:gd name="connsiteX70" fmla="*/ 800668 w 2300296"/>
              <a:gd name="connsiteY70" fmla="*/ 325866 h 443979"/>
              <a:gd name="connsiteX71" fmla="*/ 414166 w 2300296"/>
              <a:gd name="connsiteY71" fmla="*/ 111219 h 443979"/>
              <a:gd name="connsiteX72" fmla="*/ 362505 w 2300296"/>
              <a:gd name="connsiteY72" fmla="*/ 90083 h 443979"/>
              <a:gd name="connsiteX73" fmla="*/ 341106 w 2300296"/>
              <a:gd name="connsiteY73" fmla="*/ 141112 h 443979"/>
              <a:gd name="connsiteX74" fmla="*/ 392768 w 2300296"/>
              <a:gd name="connsiteY74" fmla="*/ 162248 h 443979"/>
              <a:gd name="connsiteX75" fmla="*/ 414166 w 2300296"/>
              <a:gd name="connsiteY75" fmla="*/ 111219 h 443979"/>
              <a:gd name="connsiteX76" fmla="*/ 415839 w 2300296"/>
              <a:gd name="connsiteY76" fmla="*/ 307792 h 443979"/>
              <a:gd name="connsiteX77" fmla="*/ 387771 w 2300296"/>
              <a:gd name="connsiteY77" fmla="*/ 355563 h 443979"/>
              <a:gd name="connsiteX78" fmla="*/ 339407 w 2300296"/>
              <a:gd name="connsiteY78" fmla="*/ 327837 h 443979"/>
              <a:gd name="connsiteX79" fmla="*/ 367475 w 2300296"/>
              <a:gd name="connsiteY79" fmla="*/ 280066 h 443979"/>
              <a:gd name="connsiteX80" fmla="*/ 415839 w 2300296"/>
              <a:gd name="connsiteY80" fmla="*/ 307792 h 443979"/>
              <a:gd name="connsiteX81" fmla="*/ 79088 w 2300296"/>
              <a:gd name="connsiteY81" fmla="*/ 300106 h 443979"/>
              <a:gd name="connsiteX82" fmla="*/ 158175 w 2300296"/>
              <a:gd name="connsiteY82" fmla="*/ 221987 h 443979"/>
              <a:gd name="connsiteX83" fmla="*/ 79088 w 2300296"/>
              <a:gd name="connsiteY83" fmla="*/ 143869 h 443979"/>
              <a:gd name="connsiteX84" fmla="*/ 0 w 2300296"/>
              <a:gd name="connsiteY84" fmla="*/ 221987 h 443979"/>
              <a:gd name="connsiteX85" fmla="*/ 79088 w 2300296"/>
              <a:gd name="connsiteY85" fmla="*/ 300106 h 443979"/>
              <a:gd name="connsiteX86" fmla="*/ 269537 w 2300296"/>
              <a:gd name="connsiteY86" fmla="*/ 327297 h 443979"/>
              <a:gd name="connsiteX87" fmla="*/ 269537 w 2300296"/>
              <a:gd name="connsiteY87" fmla="*/ 423961 h 443979"/>
              <a:gd name="connsiteX88" fmla="*/ 171674 w 2300296"/>
              <a:gd name="connsiteY88" fmla="*/ 423961 h 443979"/>
              <a:gd name="connsiteX89" fmla="*/ 171674 w 2300296"/>
              <a:gd name="connsiteY89" fmla="*/ 327297 h 443979"/>
              <a:gd name="connsiteX90" fmla="*/ 269537 w 2300296"/>
              <a:gd name="connsiteY90" fmla="*/ 327297 h 44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2300296" h="443979">
                <a:moveTo>
                  <a:pt x="269537" y="20020"/>
                </a:moveTo>
                <a:cubicBezTo>
                  <a:pt x="296561" y="46713"/>
                  <a:pt x="296561" y="89990"/>
                  <a:pt x="269537" y="116683"/>
                </a:cubicBezTo>
                <a:cubicBezTo>
                  <a:pt x="242512" y="143376"/>
                  <a:pt x="198699" y="143376"/>
                  <a:pt x="171674" y="116683"/>
                </a:cubicBezTo>
                <a:cubicBezTo>
                  <a:pt x="144650" y="89990"/>
                  <a:pt x="144650" y="46713"/>
                  <a:pt x="171674" y="20020"/>
                </a:cubicBezTo>
                <a:cubicBezTo>
                  <a:pt x="198699" y="-6673"/>
                  <a:pt x="242512" y="-6673"/>
                  <a:pt x="269537" y="20020"/>
                </a:cubicBezTo>
                <a:close/>
                <a:moveTo>
                  <a:pt x="1039400" y="353120"/>
                </a:moveTo>
                <a:lnTo>
                  <a:pt x="1070525" y="353120"/>
                </a:lnTo>
                <a:lnTo>
                  <a:pt x="1070525" y="79221"/>
                </a:lnTo>
                <a:lnTo>
                  <a:pt x="1039400" y="79221"/>
                </a:lnTo>
                <a:lnTo>
                  <a:pt x="1039400" y="353120"/>
                </a:lnTo>
                <a:close/>
                <a:moveTo>
                  <a:pt x="2300196" y="162323"/>
                </a:moveTo>
                <a:lnTo>
                  <a:pt x="2300297" y="162346"/>
                </a:lnTo>
                <a:lnTo>
                  <a:pt x="2300234" y="162346"/>
                </a:lnTo>
                <a:lnTo>
                  <a:pt x="2300234" y="192331"/>
                </a:lnTo>
                <a:cubicBezTo>
                  <a:pt x="2291200" y="189714"/>
                  <a:pt x="2283598" y="188405"/>
                  <a:pt x="2273120" y="188405"/>
                </a:cubicBezTo>
                <a:cubicBezTo>
                  <a:pt x="2229065" y="188405"/>
                  <a:pt x="2203915" y="225388"/>
                  <a:pt x="2203915" y="271359"/>
                </a:cubicBezTo>
                <a:lnTo>
                  <a:pt x="2203915" y="353062"/>
                </a:lnTo>
                <a:lnTo>
                  <a:pt x="2172784" y="353062"/>
                </a:lnTo>
                <a:lnTo>
                  <a:pt x="2172784" y="163029"/>
                </a:lnTo>
                <a:lnTo>
                  <a:pt x="2203915" y="163029"/>
                </a:lnTo>
                <a:lnTo>
                  <a:pt x="2203915" y="209684"/>
                </a:lnTo>
                <a:cubicBezTo>
                  <a:pt x="2214165" y="184422"/>
                  <a:pt x="2244016" y="159331"/>
                  <a:pt x="2275552" y="159331"/>
                </a:cubicBezTo>
                <a:cubicBezTo>
                  <a:pt x="2287133" y="159331"/>
                  <a:pt x="2293291" y="160740"/>
                  <a:pt x="2300196" y="162323"/>
                </a:cubicBezTo>
                <a:close/>
                <a:moveTo>
                  <a:pt x="1314184" y="187267"/>
                </a:moveTo>
                <a:cubicBezTo>
                  <a:pt x="1277732" y="187267"/>
                  <a:pt x="1250777" y="209628"/>
                  <a:pt x="1245097" y="244277"/>
                </a:cubicBezTo>
                <a:lnTo>
                  <a:pt x="1383275" y="244277"/>
                </a:lnTo>
                <a:cubicBezTo>
                  <a:pt x="1377941" y="209228"/>
                  <a:pt x="1350991" y="187267"/>
                  <a:pt x="1314184" y="187267"/>
                </a:cubicBezTo>
                <a:close/>
                <a:moveTo>
                  <a:pt x="1318010" y="356875"/>
                </a:moveTo>
                <a:cubicBezTo>
                  <a:pt x="1255763" y="356875"/>
                  <a:pt x="1213220" y="315852"/>
                  <a:pt x="1213220" y="258102"/>
                </a:cubicBezTo>
                <a:cubicBezTo>
                  <a:pt x="1213220" y="201035"/>
                  <a:pt x="1255356" y="159331"/>
                  <a:pt x="1314184" y="159387"/>
                </a:cubicBezTo>
                <a:cubicBezTo>
                  <a:pt x="1373417" y="159387"/>
                  <a:pt x="1414799" y="201150"/>
                  <a:pt x="1414799" y="258160"/>
                </a:cubicBezTo>
                <a:cubicBezTo>
                  <a:pt x="1414799" y="262655"/>
                  <a:pt x="1414456" y="266011"/>
                  <a:pt x="1414051" y="269710"/>
                </a:cubicBezTo>
                <a:lnTo>
                  <a:pt x="1244750" y="269710"/>
                </a:lnTo>
                <a:cubicBezTo>
                  <a:pt x="1249734" y="305838"/>
                  <a:pt x="1278188" y="328939"/>
                  <a:pt x="1318416" y="328939"/>
                </a:cubicBezTo>
                <a:cubicBezTo>
                  <a:pt x="1354665" y="328939"/>
                  <a:pt x="1374672" y="311601"/>
                  <a:pt x="1381488" y="305690"/>
                </a:cubicBezTo>
                <a:lnTo>
                  <a:pt x="1382173" y="305098"/>
                </a:lnTo>
                <a:lnTo>
                  <a:pt x="1400773" y="327460"/>
                </a:lnTo>
                <a:cubicBezTo>
                  <a:pt x="1392017" y="336391"/>
                  <a:pt x="1365473" y="356875"/>
                  <a:pt x="1318010" y="356875"/>
                </a:cubicBezTo>
                <a:close/>
                <a:moveTo>
                  <a:pt x="1930579" y="187267"/>
                </a:moveTo>
                <a:cubicBezTo>
                  <a:pt x="1894127" y="187267"/>
                  <a:pt x="1867177" y="209628"/>
                  <a:pt x="1861488" y="244277"/>
                </a:cubicBezTo>
                <a:lnTo>
                  <a:pt x="1999657" y="244277"/>
                </a:lnTo>
                <a:cubicBezTo>
                  <a:pt x="1994336" y="209228"/>
                  <a:pt x="1967386" y="187267"/>
                  <a:pt x="1930579" y="187267"/>
                </a:cubicBezTo>
                <a:close/>
                <a:moveTo>
                  <a:pt x="1934406" y="356875"/>
                </a:moveTo>
                <a:cubicBezTo>
                  <a:pt x="1872157" y="356875"/>
                  <a:pt x="1829610" y="315852"/>
                  <a:pt x="1829610" y="258102"/>
                </a:cubicBezTo>
                <a:cubicBezTo>
                  <a:pt x="1829610" y="201035"/>
                  <a:pt x="1871751" y="159331"/>
                  <a:pt x="1930579" y="159387"/>
                </a:cubicBezTo>
                <a:cubicBezTo>
                  <a:pt x="1989813" y="159387"/>
                  <a:pt x="2031194" y="201150"/>
                  <a:pt x="2031194" y="258160"/>
                </a:cubicBezTo>
                <a:cubicBezTo>
                  <a:pt x="2031194" y="262655"/>
                  <a:pt x="2030852" y="266011"/>
                  <a:pt x="2030446" y="269710"/>
                </a:cubicBezTo>
                <a:lnTo>
                  <a:pt x="1861146" y="269710"/>
                </a:lnTo>
                <a:cubicBezTo>
                  <a:pt x="1866126" y="305838"/>
                  <a:pt x="1894583" y="328939"/>
                  <a:pt x="1934811" y="328939"/>
                </a:cubicBezTo>
                <a:cubicBezTo>
                  <a:pt x="1971061" y="328939"/>
                  <a:pt x="1991054" y="311606"/>
                  <a:pt x="1997884" y="305693"/>
                </a:cubicBezTo>
                <a:lnTo>
                  <a:pt x="1998568" y="305098"/>
                </a:lnTo>
                <a:lnTo>
                  <a:pt x="2017168" y="327460"/>
                </a:lnTo>
                <a:cubicBezTo>
                  <a:pt x="2008425" y="336391"/>
                  <a:pt x="1981868" y="356875"/>
                  <a:pt x="1934406" y="356875"/>
                </a:cubicBezTo>
                <a:close/>
                <a:moveTo>
                  <a:pt x="1622819" y="310390"/>
                </a:moveTo>
                <a:lnTo>
                  <a:pt x="1694912" y="163029"/>
                </a:lnTo>
                <a:lnTo>
                  <a:pt x="1728767" y="163029"/>
                </a:lnTo>
                <a:lnTo>
                  <a:pt x="1622641" y="373260"/>
                </a:lnTo>
                <a:lnTo>
                  <a:pt x="1516515" y="163029"/>
                </a:lnTo>
                <a:lnTo>
                  <a:pt x="1550662" y="163029"/>
                </a:lnTo>
                <a:lnTo>
                  <a:pt x="1622819" y="310390"/>
                </a:lnTo>
                <a:close/>
                <a:moveTo>
                  <a:pt x="800668" y="325866"/>
                </a:moveTo>
                <a:cubicBezTo>
                  <a:pt x="830923" y="325866"/>
                  <a:pt x="858337" y="314032"/>
                  <a:pt x="878449" y="294915"/>
                </a:cubicBezTo>
                <a:lnTo>
                  <a:pt x="900415" y="316990"/>
                </a:lnTo>
                <a:cubicBezTo>
                  <a:pt x="874624" y="341570"/>
                  <a:pt x="839442" y="356704"/>
                  <a:pt x="800668" y="356704"/>
                </a:cubicBezTo>
                <a:cubicBezTo>
                  <a:pt x="721553" y="356704"/>
                  <a:pt x="657394" y="293720"/>
                  <a:pt x="657394" y="216057"/>
                </a:cubicBezTo>
                <a:cubicBezTo>
                  <a:pt x="657394" y="138394"/>
                  <a:pt x="721553" y="75409"/>
                  <a:pt x="800668" y="75409"/>
                </a:cubicBezTo>
                <a:cubicBezTo>
                  <a:pt x="838804" y="75409"/>
                  <a:pt x="873349" y="90032"/>
                  <a:pt x="899024" y="113871"/>
                </a:cubicBezTo>
                <a:lnTo>
                  <a:pt x="877173" y="136117"/>
                </a:lnTo>
                <a:cubicBezTo>
                  <a:pt x="857178" y="117683"/>
                  <a:pt x="830285" y="106361"/>
                  <a:pt x="800668" y="106361"/>
                </a:cubicBezTo>
                <a:cubicBezTo>
                  <a:pt x="738942" y="106361"/>
                  <a:pt x="688865" y="155519"/>
                  <a:pt x="688865" y="216113"/>
                </a:cubicBezTo>
                <a:cubicBezTo>
                  <a:pt x="688865" y="276708"/>
                  <a:pt x="738942" y="325866"/>
                  <a:pt x="800668" y="325866"/>
                </a:cubicBezTo>
                <a:close/>
                <a:moveTo>
                  <a:pt x="414166" y="111219"/>
                </a:moveTo>
                <a:cubicBezTo>
                  <a:pt x="405810" y="91291"/>
                  <a:pt x="382681" y="81828"/>
                  <a:pt x="362505" y="90083"/>
                </a:cubicBezTo>
                <a:cubicBezTo>
                  <a:pt x="342330" y="98337"/>
                  <a:pt x="332749" y="121184"/>
                  <a:pt x="341106" y="141112"/>
                </a:cubicBezTo>
                <a:cubicBezTo>
                  <a:pt x="349463" y="161039"/>
                  <a:pt x="372593" y="170503"/>
                  <a:pt x="392768" y="162248"/>
                </a:cubicBezTo>
                <a:cubicBezTo>
                  <a:pt x="412944" y="153993"/>
                  <a:pt x="422524" y="131147"/>
                  <a:pt x="414166" y="111219"/>
                </a:cubicBezTo>
                <a:close/>
                <a:moveTo>
                  <a:pt x="415839" y="307792"/>
                </a:moveTo>
                <a:cubicBezTo>
                  <a:pt x="421443" y="328639"/>
                  <a:pt x="408877" y="350027"/>
                  <a:pt x="387771" y="355563"/>
                </a:cubicBezTo>
                <a:cubicBezTo>
                  <a:pt x="366663" y="361098"/>
                  <a:pt x="345011" y="348684"/>
                  <a:pt x="339407" y="327837"/>
                </a:cubicBezTo>
                <a:cubicBezTo>
                  <a:pt x="333803" y="306989"/>
                  <a:pt x="346369" y="285602"/>
                  <a:pt x="367475" y="280066"/>
                </a:cubicBezTo>
                <a:cubicBezTo>
                  <a:pt x="388581" y="274530"/>
                  <a:pt x="410235" y="286944"/>
                  <a:pt x="415839" y="307792"/>
                </a:cubicBezTo>
                <a:close/>
                <a:moveTo>
                  <a:pt x="79088" y="300106"/>
                </a:moveTo>
                <a:cubicBezTo>
                  <a:pt x="122767" y="300106"/>
                  <a:pt x="158175" y="265132"/>
                  <a:pt x="158175" y="221987"/>
                </a:cubicBezTo>
                <a:cubicBezTo>
                  <a:pt x="158175" y="178845"/>
                  <a:pt x="122767" y="143869"/>
                  <a:pt x="79088" y="143869"/>
                </a:cubicBezTo>
                <a:cubicBezTo>
                  <a:pt x="35409" y="143869"/>
                  <a:pt x="0" y="178845"/>
                  <a:pt x="0" y="221987"/>
                </a:cubicBezTo>
                <a:cubicBezTo>
                  <a:pt x="0" y="265132"/>
                  <a:pt x="35409" y="300106"/>
                  <a:pt x="79088" y="300106"/>
                </a:cubicBezTo>
                <a:close/>
                <a:moveTo>
                  <a:pt x="269537" y="327297"/>
                </a:moveTo>
                <a:cubicBezTo>
                  <a:pt x="296561" y="353989"/>
                  <a:pt x="296561" y="397268"/>
                  <a:pt x="269537" y="423961"/>
                </a:cubicBezTo>
                <a:cubicBezTo>
                  <a:pt x="242512" y="450653"/>
                  <a:pt x="198699" y="450653"/>
                  <a:pt x="171674" y="423961"/>
                </a:cubicBezTo>
                <a:cubicBezTo>
                  <a:pt x="144650" y="397268"/>
                  <a:pt x="144650" y="353989"/>
                  <a:pt x="171674" y="327297"/>
                </a:cubicBezTo>
                <a:cubicBezTo>
                  <a:pt x="198699" y="300604"/>
                  <a:pt x="242512" y="300604"/>
                  <a:pt x="269537" y="327297"/>
                </a:cubicBezTo>
                <a:close/>
              </a:path>
            </a:pathLst>
          </a:custGeom>
          <a:solidFill>
            <a:srgbClr val="003732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BC5C7D1-5DF6-BD58-1021-844CB8EA9A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288" y="1077754"/>
            <a:ext cx="4656137" cy="682466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1pPr>
            <a:lvl2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2pPr>
            <a:lvl3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3pPr>
            <a:lvl4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4pPr>
            <a:lvl5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5pPr>
            <a:lvl6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6pPr>
            <a:lvl7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7pPr>
            <a:lvl8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8pPr>
            <a:lvl9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9pPr>
          </a:lstStyle>
          <a:p>
            <a:r>
              <a:rPr lang="da-DK" dirty="0"/>
              <a:t>Undertekst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429298-DF06-8BB2-17CC-AC3AA6E4D0D2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Titel + Foto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85824A3-0685-7B0E-E713-84E54A28456D}"/>
              </a:ext>
            </a:extLst>
          </p:cNvPr>
          <p:cNvSpPr txBox="1">
            <a:spLocks/>
          </p:cNvSpPr>
          <p:nvPr userDrawn="1"/>
        </p:nvSpPr>
        <p:spPr>
          <a:xfrm>
            <a:off x="11046619" y="6461125"/>
            <a:ext cx="748506" cy="136869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u="none" strike="noStrike" kern="1200" baseline="0">
                <a:solidFill>
                  <a:schemeClr val="bg1"/>
                </a:solidFill>
                <a:latin typeface="Clever Sans OFFC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C32AA7-4D32-46CB-ABB0-3FCE5FA44E81}" type="datetime1">
              <a:rPr lang="da-DK" smtClean="0">
                <a:solidFill>
                  <a:schemeClr val="bg2"/>
                </a:solidFill>
              </a:rPr>
              <a:pPr/>
              <a:t>22.09.2026</a:t>
            </a:fld>
            <a:endParaRPr lang="da-DK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bag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DB5841-72A0-53C0-776F-904F89BB5A3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481312 w 12192000"/>
              <a:gd name="connsiteY0" fmla="*/ 6548651 h 6858000"/>
              <a:gd name="connsiteX1" fmla="*/ 456949 w 12192000"/>
              <a:gd name="connsiteY1" fmla="*/ 6558619 h 6858000"/>
              <a:gd name="connsiteX2" fmla="*/ 456949 w 12192000"/>
              <a:gd name="connsiteY2" fmla="*/ 6606747 h 6858000"/>
              <a:gd name="connsiteX3" fmla="*/ 505674 w 12192000"/>
              <a:gd name="connsiteY3" fmla="*/ 6606747 h 6858000"/>
              <a:gd name="connsiteX4" fmla="*/ 505674 w 12192000"/>
              <a:gd name="connsiteY4" fmla="*/ 6558619 h 6858000"/>
              <a:gd name="connsiteX5" fmla="*/ 481312 w 12192000"/>
              <a:gd name="connsiteY5" fmla="*/ 6548651 h 6858000"/>
              <a:gd name="connsiteX6" fmla="*/ 554436 w 12192000"/>
              <a:gd name="connsiteY6" fmla="*/ 6535103 h 6858000"/>
              <a:gd name="connsiteX7" fmla="*/ 540461 w 12192000"/>
              <a:gd name="connsiteY7" fmla="*/ 6558888 h 6858000"/>
              <a:gd name="connsiteX8" fmla="*/ 564541 w 12192000"/>
              <a:gd name="connsiteY8" fmla="*/ 6572692 h 6858000"/>
              <a:gd name="connsiteX9" fmla="*/ 578516 w 12192000"/>
              <a:gd name="connsiteY9" fmla="*/ 6548908 h 6858000"/>
              <a:gd name="connsiteX10" fmla="*/ 554436 w 12192000"/>
              <a:gd name="connsiteY10" fmla="*/ 6535103 h 6858000"/>
              <a:gd name="connsiteX11" fmla="*/ 1332684 w 12192000"/>
              <a:gd name="connsiteY11" fmla="*/ 6488900 h 6858000"/>
              <a:gd name="connsiteX12" fmla="*/ 1367077 w 12192000"/>
              <a:gd name="connsiteY12" fmla="*/ 6517284 h 6858000"/>
              <a:gd name="connsiteX13" fmla="*/ 1298285 w 12192000"/>
              <a:gd name="connsiteY13" fmla="*/ 6517284 h 6858000"/>
              <a:gd name="connsiteX14" fmla="*/ 1332684 w 12192000"/>
              <a:gd name="connsiteY14" fmla="*/ 6488900 h 6858000"/>
              <a:gd name="connsiteX15" fmla="*/ 1025790 w 12192000"/>
              <a:gd name="connsiteY15" fmla="*/ 6488900 h 6858000"/>
              <a:gd name="connsiteX16" fmla="*/ 1060189 w 12192000"/>
              <a:gd name="connsiteY16" fmla="*/ 6517284 h 6858000"/>
              <a:gd name="connsiteX17" fmla="*/ 991392 w 12192000"/>
              <a:gd name="connsiteY17" fmla="*/ 6517284 h 6858000"/>
              <a:gd name="connsiteX18" fmla="*/ 1025790 w 12192000"/>
              <a:gd name="connsiteY18" fmla="*/ 6488900 h 6858000"/>
              <a:gd name="connsiteX19" fmla="*/ 1126527 w 12192000"/>
              <a:gd name="connsiteY19" fmla="*/ 6476832 h 6858000"/>
              <a:gd name="connsiteX20" fmla="*/ 1179366 w 12192000"/>
              <a:gd name="connsiteY20" fmla="*/ 6581503 h 6858000"/>
              <a:gd name="connsiteX21" fmla="*/ 1232205 w 12192000"/>
              <a:gd name="connsiteY21" fmla="*/ 6476832 h 6858000"/>
              <a:gd name="connsiteX22" fmla="*/ 1215349 w 12192000"/>
              <a:gd name="connsiteY22" fmla="*/ 6476832 h 6858000"/>
              <a:gd name="connsiteX23" fmla="*/ 1179455 w 12192000"/>
              <a:gd name="connsiteY23" fmla="*/ 6550201 h 6858000"/>
              <a:gd name="connsiteX24" fmla="*/ 1143529 w 12192000"/>
              <a:gd name="connsiteY24" fmla="*/ 6476832 h 6858000"/>
              <a:gd name="connsiteX25" fmla="*/ 1332684 w 12192000"/>
              <a:gd name="connsiteY25" fmla="*/ 6475019 h 6858000"/>
              <a:gd name="connsiteX26" fmla="*/ 1282413 w 12192000"/>
              <a:gd name="connsiteY26" fmla="*/ 6524168 h 6858000"/>
              <a:gd name="connsiteX27" fmla="*/ 1334590 w 12192000"/>
              <a:gd name="connsiteY27" fmla="*/ 6573345 h 6858000"/>
              <a:gd name="connsiteX28" fmla="*/ 1375796 w 12192000"/>
              <a:gd name="connsiteY28" fmla="*/ 6558700 h 6858000"/>
              <a:gd name="connsiteX29" fmla="*/ 1366535 w 12192000"/>
              <a:gd name="connsiteY29" fmla="*/ 6547566 h 6858000"/>
              <a:gd name="connsiteX30" fmla="*/ 1366194 w 12192000"/>
              <a:gd name="connsiteY30" fmla="*/ 6547863 h 6858000"/>
              <a:gd name="connsiteX31" fmla="*/ 1334791 w 12192000"/>
              <a:gd name="connsiteY31" fmla="*/ 6559436 h 6858000"/>
              <a:gd name="connsiteX32" fmla="*/ 1298115 w 12192000"/>
              <a:gd name="connsiteY32" fmla="*/ 6529947 h 6858000"/>
              <a:gd name="connsiteX33" fmla="*/ 1382407 w 12192000"/>
              <a:gd name="connsiteY33" fmla="*/ 6529947 h 6858000"/>
              <a:gd name="connsiteX34" fmla="*/ 1382779 w 12192000"/>
              <a:gd name="connsiteY34" fmla="*/ 6524197 h 6858000"/>
              <a:gd name="connsiteX35" fmla="*/ 1332684 w 12192000"/>
              <a:gd name="connsiteY35" fmla="*/ 6475019 h 6858000"/>
              <a:gd name="connsiteX36" fmla="*/ 1025790 w 12192000"/>
              <a:gd name="connsiteY36" fmla="*/ 6475019 h 6858000"/>
              <a:gd name="connsiteX37" fmla="*/ 975521 w 12192000"/>
              <a:gd name="connsiteY37" fmla="*/ 6524168 h 6858000"/>
              <a:gd name="connsiteX38" fmla="*/ 1027694 w 12192000"/>
              <a:gd name="connsiteY38" fmla="*/ 6573345 h 6858000"/>
              <a:gd name="connsiteX39" fmla="*/ 1068901 w 12192000"/>
              <a:gd name="connsiteY39" fmla="*/ 6558700 h 6858000"/>
              <a:gd name="connsiteX40" fmla="*/ 1059640 w 12192000"/>
              <a:gd name="connsiteY40" fmla="*/ 6547566 h 6858000"/>
              <a:gd name="connsiteX41" fmla="*/ 1059299 w 12192000"/>
              <a:gd name="connsiteY41" fmla="*/ 6547861 h 6858000"/>
              <a:gd name="connsiteX42" fmla="*/ 1027897 w 12192000"/>
              <a:gd name="connsiteY42" fmla="*/ 6559436 h 6858000"/>
              <a:gd name="connsiteX43" fmla="*/ 991219 w 12192000"/>
              <a:gd name="connsiteY43" fmla="*/ 6529947 h 6858000"/>
              <a:gd name="connsiteX44" fmla="*/ 1075512 w 12192000"/>
              <a:gd name="connsiteY44" fmla="*/ 6529947 h 6858000"/>
              <a:gd name="connsiteX45" fmla="*/ 1075884 w 12192000"/>
              <a:gd name="connsiteY45" fmla="*/ 6524197 h 6858000"/>
              <a:gd name="connsiteX46" fmla="*/ 1025790 w 12192000"/>
              <a:gd name="connsiteY46" fmla="*/ 6475019 h 6858000"/>
              <a:gd name="connsiteX47" fmla="*/ 1504441 w 12192000"/>
              <a:gd name="connsiteY47" fmla="*/ 6474991 h 6858000"/>
              <a:gd name="connsiteX48" fmla="*/ 1468775 w 12192000"/>
              <a:gd name="connsiteY48" fmla="*/ 6500061 h 6858000"/>
              <a:gd name="connsiteX49" fmla="*/ 1468775 w 12192000"/>
              <a:gd name="connsiteY49" fmla="*/ 6476832 h 6858000"/>
              <a:gd name="connsiteX50" fmla="*/ 1453275 w 12192000"/>
              <a:gd name="connsiteY50" fmla="*/ 6476832 h 6858000"/>
              <a:gd name="connsiteX51" fmla="*/ 1453275 w 12192000"/>
              <a:gd name="connsiteY51" fmla="*/ 6571447 h 6858000"/>
              <a:gd name="connsiteX52" fmla="*/ 1468775 w 12192000"/>
              <a:gd name="connsiteY52" fmla="*/ 6571447 h 6858000"/>
              <a:gd name="connsiteX53" fmla="*/ 1468775 w 12192000"/>
              <a:gd name="connsiteY53" fmla="*/ 6530768 h 6858000"/>
              <a:gd name="connsiteX54" fmla="*/ 1503231 w 12192000"/>
              <a:gd name="connsiteY54" fmla="*/ 6489466 h 6858000"/>
              <a:gd name="connsiteX55" fmla="*/ 1516730 w 12192000"/>
              <a:gd name="connsiteY55" fmla="*/ 6491421 h 6858000"/>
              <a:gd name="connsiteX56" fmla="*/ 1516730 w 12192000"/>
              <a:gd name="connsiteY56" fmla="*/ 6476492 h 6858000"/>
              <a:gd name="connsiteX57" fmla="*/ 1516762 w 12192000"/>
              <a:gd name="connsiteY57" fmla="*/ 6476492 h 6858000"/>
              <a:gd name="connsiteX58" fmla="*/ 1516711 w 12192000"/>
              <a:gd name="connsiteY58" fmla="*/ 6476481 h 6858000"/>
              <a:gd name="connsiteX59" fmla="*/ 1504441 w 12192000"/>
              <a:gd name="connsiteY59" fmla="*/ 6474991 h 6858000"/>
              <a:gd name="connsiteX60" fmla="*/ 410852 w 12192000"/>
              <a:gd name="connsiteY60" fmla="*/ 6467293 h 6858000"/>
              <a:gd name="connsiteX61" fmla="*/ 371475 w 12192000"/>
              <a:gd name="connsiteY61" fmla="*/ 6506187 h 6858000"/>
              <a:gd name="connsiteX62" fmla="*/ 410852 w 12192000"/>
              <a:gd name="connsiteY62" fmla="*/ 6545081 h 6858000"/>
              <a:gd name="connsiteX63" fmla="*/ 450228 w 12192000"/>
              <a:gd name="connsiteY63" fmla="*/ 6506187 h 6858000"/>
              <a:gd name="connsiteX64" fmla="*/ 410852 w 12192000"/>
              <a:gd name="connsiteY64" fmla="*/ 6467293 h 6858000"/>
              <a:gd name="connsiteX65" fmla="*/ 567029 w 12192000"/>
              <a:gd name="connsiteY65" fmla="*/ 6440513 h 6858000"/>
              <a:gd name="connsiteX66" fmla="*/ 551961 w 12192000"/>
              <a:gd name="connsiteY66" fmla="*/ 6440513 h 6858000"/>
              <a:gd name="connsiteX67" fmla="*/ 541307 w 12192000"/>
              <a:gd name="connsiteY67" fmla="*/ 6465920 h 6858000"/>
              <a:gd name="connsiteX68" fmla="*/ 567029 w 12192000"/>
              <a:gd name="connsiteY68" fmla="*/ 6476443 h 6858000"/>
              <a:gd name="connsiteX69" fmla="*/ 577683 w 12192000"/>
              <a:gd name="connsiteY69" fmla="*/ 6451037 h 6858000"/>
              <a:gd name="connsiteX70" fmla="*/ 567029 w 12192000"/>
              <a:gd name="connsiteY70" fmla="*/ 6440513 h 6858000"/>
              <a:gd name="connsiteX71" fmla="*/ 888978 w 12192000"/>
              <a:gd name="connsiteY71" fmla="*/ 6435105 h 6858000"/>
              <a:gd name="connsiteX72" fmla="*/ 888978 w 12192000"/>
              <a:gd name="connsiteY72" fmla="*/ 6571476 h 6858000"/>
              <a:gd name="connsiteX73" fmla="*/ 904475 w 12192000"/>
              <a:gd name="connsiteY73" fmla="*/ 6571476 h 6858000"/>
              <a:gd name="connsiteX74" fmla="*/ 904475 w 12192000"/>
              <a:gd name="connsiteY74" fmla="*/ 6435105 h 6858000"/>
              <a:gd name="connsiteX75" fmla="*/ 770117 w 12192000"/>
              <a:gd name="connsiteY75" fmla="*/ 6433207 h 6858000"/>
              <a:gd name="connsiteX76" fmla="*/ 698783 w 12192000"/>
              <a:gd name="connsiteY76" fmla="*/ 6503234 h 6858000"/>
              <a:gd name="connsiteX77" fmla="*/ 770117 w 12192000"/>
              <a:gd name="connsiteY77" fmla="*/ 6573260 h 6858000"/>
              <a:gd name="connsiteX78" fmla="*/ 819780 w 12192000"/>
              <a:gd name="connsiteY78" fmla="*/ 6553487 h 6858000"/>
              <a:gd name="connsiteX79" fmla="*/ 808843 w 12192000"/>
              <a:gd name="connsiteY79" fmla="*/ 6542496 h 6858000"/>
              <a:gd name="connsiteX80" fmla="*/ 770117 w 12192000"/>
              <a:gd name="connsiteY80" fmla="*/ 6557906 h 6858000"/>
              <a:gd name="connsiteX81" fmla="*/ 714452 w 12192000"/>
              <a:gd name="connsiteY81" fmla="*/ 6503262 h 6858000"/>
              <a:gd name="connsiteX82" fmla="*/ 770117 w 12192000"/>
              <a:gd name="connsiteY82" fmla="*/ 6448618 h 6858000"/>
              <a:gd name="connsiteX83" fmla="*/ 808208 w 12192000"/>
              <a:gd name="connsiteY83" fmla="*/ 6463433 h 6858000"/>
              <a:gd name="connsiteX84" fmla="*/ 819087 w 12192000"/>
              <a:gd name="connsiteY84" fmla="*/ 6452357 h 6858000"/>
              <a:gd name="connsiteX85" fmla="*/ 770117 w 12192000"/>
              <a:gd name="connsiteY85" fmla="*/ 6433207 h 6858000"/>
              <a:gd name="connsiteX86" fmla="*/ 481312 w 12192000"/>
              <a:gd name="connsiteY86" fmla="*/ 6395662 h 6858000"/>
              <a:gd name="connsiteX87" fmla="*/ 456949 w 12192000"/>
              <a:gd name="connsiteY87" fmla="*/ 6405630 h 6858000"/>
              <a:gd name="connsiteX88" fmla="*/ 456949 w 12192000"/>
              <a:gd name="connsiteY88" fmla="*/ 6453757 h 6858000"/>
              <a:gd name="connsiteX89" fmla="*/ 505674 w 12192000"/>
              <a:gd name="connsiteY89" fmla="*/ 6453757 h 6858000"/>
              <a:gd name="connsiteX90" fmla="*/ 505674 w 12192000"/>
              <a:gd name="connsiteY90" fmla="*/ 6405630 h 6858000"/>
              <a:gd name="connsiteX91" fmla="*/ 481312 w 12192000"/>
              <a:gd name="connsiteY91" fmla="*/ 6395662 h 6858000"/>
              <a:gd name="connsiteX92" fmla="*/ 0 w 12192000"/>
              <a:gd name="connsiteY92" fmla="*/ 0 h 6858000"/>
              <a:gd name="connsiteX93" fmla="*/ 12192000 w 12192000"/>
              <a:gd name="connsiteY93" fmla="*/ 0 h 6858000"/>
              <a:gd name="connsiteX94" fmla="*/ 12192000 w 12192000"/>
              <a:gd name="connsiteY94" fmla="*/ 6858000 h 6858000"/>
              <a:gd name="connsiteX95" fmla="*/ 0 w 12192000"/>
              <a:gd name="connsiteY9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2192000" h="6858000">
                <a:moveTo>
                  <a:pt x="481312" y="6548651"/>
                </a:moveTo>
                <a:cubicBezTo>
                  <a:pt x="472494" y="6548651"/>
                  <a:pt x="463677" y="6551974"/>
                  <a:pt x="456949" y="6558619"/>
                </a:cubicBezTo>
                <a:cubicBezTo>
                  <a:pt x="443494" y="6571908"/>
                  <a:pt x="443494" y="6593456"/>
                  <a:pt x="456949" y="6606747"/>
                </a:cubicBezTo>
                <a:cubicBezTo>
                  <a:pt x="470405" y="6620036"/>
                  <a:pt x="492219" y="6620036"/>
                  <a:pt x="505674" y="6606747"/>
                </a:cubicBezTo>
                <a:cubicBezTo>
                  <a:pt x="519129" y="6593456"/>
                  <a:pt x="519129" y="6571908"/>
                  <a:pt x="505674" y="6558619"/>
                </a:cubicBezTo>
                <a:cubicBezTo>
                  <a:pt x="498946" y="6551974"/>
                  <a:pt x="490129" y="6548651"/>
                  <a:pt x="481312" y="6548651"/>
                </a:cubicBezTo>
                <a:close/>
                <a:moveTo>
                  <a:pt x="554436" y="6535103"/>
                </a:moveTo>
                <a:cubicBezTo>
                  <a:pt x="543928" y="6537860"/>
                  <a:pt x="537671" y="6548508"/>
                  <a:pt x="540461" y="6558888"/>
                </a:cubicBezTo>
                <a:cubicBezTo>
                  <a:pt x="543251" y="6569267"/>
                  <a:pt x="554032" y="6575448"/>
                  <a:pt x="564541" y="6572692"/>
                </a:cubicBezTo>
                <a:cubicBezTo>
                  <a:pt x="575049" y="6569936"/>
                  <a:pt x="581306" y="6559287"/>
                  <a:pt x="578516" y="6548908"/>
                </a:cubicBezTo>
                <a:cubicBezTo>
                  <a:pt x="575726" y="6538528"/>
                  <a:pt x="564944" y="6532347"/>
                  <a:pt x="554436" y="6535103"/>
                </a:cubicBezTo>
                <a:close/>
                <a:moveTo>
                  <a:pt x="1332684" y="6488900"/>
                </a:moveTo>
                <a:cubicBezTo>
                  <a:pt x="1351010" y="6488900"/>
                  <a:pt x="1364428" y="6499834"/>
                  <a:pt x="1367077" y="6517284"/>
                </a:cubicBezTo>
                <a:lnTo>
                  <a:pt x="1298285" y="6517284"/>
                </a:lnTo>
                <a:cubicBezTo>
                  <a:pt x="1301117" y="6500033"/>
                  <a:pt x="1314535" y="6488900"/>
                  <a:pt x="1332684" y="6488900"/>
                </a:cubicBezTo>
                <a:close/>
                <a:moveTo>
                  <a:pt x="1025790" y="6488900"/>
                </a:moveTo>
                <a:cubicBezTo>
                  <a:pt x="1044115" y="6488900"/>
                  <a:pt x="1057533" y="6499834"/>
                  <a:pt x="1060189" y="6517284"/>
                </a:cubicBezTo>
                <a:lnTo>
                  <a:pt x="991392" y="6517284"/>
                </a:lnTo>
                <a:cubicBezTo>
                  <a:pt x="994220" y="6500033"/>
                  <a:pt x="1007641" y="6488900"/>
                  <a:pt x="1025790" y="6488900"/>
                </a:cubicBezTo>
                <a:close/>
                <a:moveTo>
                  <a:pt x="1126527" y="6476832"/>
                </a:moveTo>
                <a:lnTo>
                  <a:pt x="1179366" y="6581503"/>
                </a:lnTo>
                <a:lnTo>
                  <a:pt x="1232205" y="6476832"/>
                </a:lnTo>
                <a:lnTo>
                  <a:pt x="1215349" y="6476832"/>
                </a:lnTo>
                <a:lnTo>
                  <a:pt x="1179455" y="6550201"/>
                </a:lnTo>
                <a:lnTo>
                  <a:pt x="1143529" y="6476832"/>
                </a:lnTo>
                <a:close/>
                <a:moveTo>
                  <a:pt x="1332684" y="6475019"/>
                </a:moveTo>
                <a:cubicBezTo>
                  <a:pt x="1303395" y="6474991"/>
                  <a:pt x="1282413" y="6495755"/>
                  <a:pt x="1282413" y="6524168"/>
                </a:cubicBezTo>
                <a:cubicBezTo>
                  <a:pt x="1282413" y="6552921"/>
                  <a:pt x="1303597" y="6573345"/>
                  <a:pt x="1334590" y="6573345"/>
                </a:cubicBezTo>
                <a:cubicBezTo>
                  <a:pt x="1358220" y="6573345"/>
                  <a:pt x="1371443" y="6563147"/>
                  <a:pt x="1375796" y="6558700"/>
                </a:cubicBezTo>
                <a:lnTo>
                  <a:pt x="1366535" y="6547566"/>
                </a:lnTo>
                <a:lnTo>
                  <a:pt x="1366194" y="6547863"/>
                </a:lnTo>
                <a:cubicBezTo>
                  <a:pt x="1362794" y="6550807"/>
                  <a:pt x="1352840" y="6559436"/>
                  <a:pt x="1334791" y="6559436"/>
                </a:cubicBezTo>
                <a:cubicBezTo>
                  <a:pt x="1314762" y="6559436"/>
                  <a:pt x="1300594" y="6547935"/>
                  <a:pt x="1298115" y="6529947"/>
                </a:cubicBezTo>
                <a:lnTo>
                  <a:pt x="1382407" y="6529947"/>
                </a:lnTo>
                <a:cubicBezTo>
                  <a:pt x="1382609" y="6528105"/>
                  <a:pt x="1382779" y="6526435"/>
                  <a:pt x="1382779" y="6524197"/>
                </a:cubicBezTo>
                <a:cubicBezTo>
                  <a:pt x="1382779" y="6495812"/>
                  <a:pt x="1362176" y="6475019"/>
                  <a:pt x="1332684" y="6475019"/>
                </a:cubicBezTo>
                <a:close/>
                <a:moveTo>
                  <a:pt x="1025790" y="6475019"/>
                </a:moveTo>
                <a:cubicBezTo>
                  <a:pt x="996500" y="6474991"/>
                  <a:pt x="975521" y="6495755"/>
                  <a:pt x="975521" y="6524168"/>
                </a:cubicBezTo>
                <a:cubicBezTo>
                  <a:pt x="975521" y="6552921"/>
                  <a:pt x="996702" y="6573345"/>
                  <a:pt x="1027694" y="6573345"/>
                </a:cubicBezTo>
                <a:cubicBezTo>
                  <a:pt x="1051326" y="6573345"/>
                  <a:pt x="1064542" y="6563147"/>
                  <a:pt x="1068901" y="6558700"/>
                </a:cubicBezTo>
                <a:lnTo>
                  <a:pt x="1059640" y="6547566"/>
                </a:lnTo>
                <a:lnTo>
                  <a:pt x="1059299" y="6547861"/>
                </a:lnTo>
                <a:cubicBezTo>
                  <a:pt x="1055906" y="6550804"/>
                  <a:pt x="1045945" y="6559436"/>
                  <a:pt x="1027897" y="6559436"/>
                </a:cubicBezTo>
                <a:cubicBezTo>
                  <a:pt x="1007868" y="6559436"/>
                  <a:pt x="993701" y="6547935"/>
                  <a:pt x="991219" y="6529947"/>
                </a:cubicBezTo>
                <a:lnTo>
                  <a:pt x="1075512" y="6529947"/>
                </a:lnTo>
                <a:cubicBezTo>
                  <a:pt x="1075714" y="6528105"/>
                  <a:pt x="1075884" y="6526435"/>
                  <a:pt x="1075884" y="6524197"/>
                </a:cubicBezTo>
                <a:cubicBezTo>
                  <a:pt x="1075884" y="6495812"/>
                  <a:pt x="1055281" y="6475019"/>
                  <a:pt x="1025790" y="6475019"/>
                </a:cubicBezTo>
                <a:close/>
                <a:moveTo>
                  <a:pt x="1504441" y="6474991"/>
                </a:moveTo>
                <a:cubicBezTo>
                  <a:pt x="1488740" y="6474991"/>
                  <a:pt x="1473878" y="6487483"/>
                  <a:pt x="1468775" y="6500061"/>
                </a:cubicBezTo>
                <a:lnTo>
                  <a:pt x="1468775" y="6476832"/>
                </a:lnTo>
                <a:lnTo>
                  <a:pt x="1453275" y="6476832"/>
                </a:lnTo>
                <a:lnTo>
                  <a:pt x="1453275" y="6571447"/>
                </a:lnTo>
                <a:lnTo>
                  <a:pt x="1468775" y="6571447"/>
                </a:lnTo>
                <a:lnTo>
                  <a:pt x="1468775" y="6530768"/>
                </a:lnTo>
                <a:cubicBezTo>
                  <a:pt x="1468775" y="6507880"/>
                  <a:pt x="1481296" y="6489466"/>
                  <a:pt x="1503231" y="6489466"/>
                </a:cubicBezTo>
                <a:cubicBezTo>
                  <a:pt x="1508447" y="6489466"/>
                  <a:pt x="1512232" y="6490118"/>
                  <a:pt x="1516730" y="6491421"/>
                </a:cubicBezTo>
                <a:lnTo>
                  <a:pt x="1516730" y="6476492"/>
                </a:lnTo>
                <a:lnTo>
                  <a:pt x="1516762" y="6476492"/>
                </a:lnTo>
                <a:lnTo>
                  <a:pt x="1516711" y="6476481"/>
                </a:lnTo>
                <a:cubicBezTo>
                  <a:pt x="1513273" y="6475692"/>
                  <a:pt x="1510208" y="6474991"/>
                  <a:pt x="1504441" y="6474991"/>
                </a:cubicBezTo>
                <a:close/>
                <a:moveTo>
                  <a:pt x="410852" y="6467293"/>
                </a:moveTo>
                <a:cubicBezTo>
                  <a:pt x="389105" y="6467293"/>
                  <a:pt x="371475" y="6484707"/>
                  <a:pt x="371475" y="6506187"/>
                </a:cubicBezTo>
                <a:cubicBezTo>
                  <a:pt x="371475" y="6527668"/>
                  <a:pt x="389105" y="6545081"/>
                  <a:pt x="410852" y="6545081"/>
                </a:cubicBezTo>
                <a:cubicBezTo>
                  <a:pt x="432599" y="6545081"/>
                  <a:pt x="450228" y="6527668"/>
                  <a:pt x="450228" y="6506187"/>
                </a:cubicBezTo>
                <a:cubicBezTo>
                  <a:pt x="450228" y="6484707"/>
                  <a:pt x="432599" y="6467293"/>
                  <a:pt x="410852" y="6467293"/>
                </a:cubicBezTo>
                <a:close/>
                <a:moveTo>
                  <a:pt x="567029" y="6440513"/>
                </a:moveTo>
                <a:cubicBezTo>
                  <a:pt x="562374" y="6438609"/>
                  <a:pt x="556984" y="6438458"/>
                  <a:pt x="551961" y="6440513"/>
                </a:cubicBezTo>
                <a:cubicBezTo>
                  <a:pt x="541917" y="6444623"/>
                  <a:pt x="537146" y="6455998"/>
                  <a:pt x="541307" y="6465920"/>
                </a:cubicBezTo>
                <a:cubicBezTo>
                  <a:pt x="545468" y="6475841"/>
                  <a:pt x="556984" y="6480553"/>
                  <a:pt x="567029" y="6476443"/>
                </a:cubicBezTo>
                <a:cubicBezTo>
                  <a:pt x="577074" y="6472333"/>
                  <a:pt x="581844" y="6460959"/>
                  <a:pt x="577683" y="6451037"/>
                </a:cubicBezTo>
                <a:cubicBezTo>
                  <a:pt x="575603" y="6446076"/>
                  <a:pt x="571684" y="6442417"/>
                  <a:pt x="567029" y="6440513"/>
                </a:cubicBezTo>
                <a:close/>
                <a:moveTo>
                  <a:pt x="888978" y="6435105"/>
                </a:moveTo>
                <a:lnTo>
                  <a:pt x="888978" y="6571476"/>
                </a:lnTo>
                <a:lnTo>
                  <a:pt x="904475" y="6571476"/>
                </a:lnTo>
                <a:lnTo>
                  <a:pt x="904475" y="6435105"/>
                </a:lnTo>
                <a:close/>
                <a:moveTo>
                  <a:pt x="770117" y="6433207"/>
                </a:moveTo>
                <a:cubicBezTo>
                  <a:pt x="730727" y="6433207"/>
                  <a:pt x="698783" y="6464567"/>
                  <a:pt x="698783" y="6503234"/>
                </a:cubicBezTo>
                <a:cubicBezTo>
                  <a:pt x="698783" y="6541901"/>
                  <a:pt x="730727" y="6573260"/>
                  <a:pt x="770117" y="6573260"/>
                </a:cubicBezTo>
                <a:cubicBezTo>
                  <a:pt x="789422" y="6573260"/>
                  <a:pt x="806939" y="6565725"/>
                  <a:pt x="819780" y="6553487"/>
                </a:cubicBezTo>
                <a:lnTo>
                  <a:pt x="808843" y="6542496"/>
                </a:lnTo>
                <a:cubicBezTo>
                  <a:pt x="798830" y="6552014"/>
                  <a:pt x="785180" y="6557906"/>
                  <a:pt x="770117" y="6557906"/>
                </a:cubicBezTo>
                <a:cubicBezTo>
                  <a:pt x="739384" y="6557906"/>
                  <a:pt x="714452" y="6533431"/>
                  <a:pt x="714452" y="6503262"/>
                </a:cubicBezTo>
                <a:cubicBezTo>
                  <a:pt x="714452" y="6473093"/>
                  <a:pt x="739384" y="6448618"/>
                  <a:pt x="770117" y="6448618"/>
                </a:cubicBezTo>
                <a:cubicBezTo>
                  <a:pt x="784863" y="6448618"/>
                  <a:pt x="798253" y="6454255"/>
                  <a:pt x="808208" y="6463433"/>
                </a:cubicBezTo>
                <a:lnTo>
                  <a:pt x="819087" y="6452357"/>
                </a:lnTo>
                <a:cubicBezTo>
                  <a:pt x="806304" y="6440488"/>
                  <a:pt x="789104" y="6433207"/>
                  <a:pt x="770117" y="6433207"/>
                </a:cubicBezTo>
                <a:close/>
                <a:moveTo>
                  <a:pt x="481312" y="6395662"/>
                </a:moveTo>
                <a:cubicBezTo>
                  <a:pt x="472494" y="6395662"/>
                  <a:pt x="463677" y="6398985"/>
                  <a:pt x="456949" y="6405630"/>
                </a:cubicBezTo>
                <a:cubicBezTo>
                  <a:pt x="443494" y="6418920"/>
                  <a:pt x="443494" y="6440467"/>
                  <a:pt x="456949" y="6453757"/>
                </a:cubicBezTo>
                <a:cubicBezTo>
                  <a:pt x="470405" y="6467047"/>
                  <a:pt x="492219" y="6467047"/>
                  <a:pt x="505674" y="6453757"/>
                </a:cubicBezTo>
                <a:cubicBezTo>
                  <a:pt x="519129" y="6440467"/>
                  <a:pt x="519129" y="6418920"/>
                  <a:pt x="505674" y="6405630"/>
                </a:cubicBezTo>
                <a:cubicBezTo>
                  <a:pt x="498946" y="6398985"/>
                  <a:pt x="490129" y="6395662"/>
                  <a:pt x="481312" y="639566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72000" rIns="72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1pPr>
          </a:lstStyle>
          <a:p>
            <a:r>
              <a:rPr lang="da-DK" dirty="0"/>
              <a:t>Klik på rammen og indsæt et mørkt billede ved at bruge fanen Indsæt - Billeder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4DBC4B-7E16-45D0-B72A-99EBDFD166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046620" y="6463506"/>
            <a:ext cx="748506" cy="136869"/>
          </a:xfrm>
          <a:effectLst/>
        </p:spPr>
        <p:txBody>
          <a:bodyPr vert="horz" wrap="square" anchor="b">
            <a:noAutofit/>
          </a:bodyPr>
          <a:lstStyle>
            <a:lvl1pPr algn="r">
              <a:defRPr sz="800" b="0" i="0" u="none" strike="noStrike" baseline="0">
                <a:solidFill>
                  <a:schemeClr val="bg1"/>
                </a:solidFill>
                <a:latin typeface="Clever Sans OFFC" pitchFamily="34" charset="0"/>
              </a:defRPr>
            </a:lvl1pPr>
          </a:lstStyle>
          <a:p>
            <a:fld id="{31C32AA7-4D32-46CB-ABB0-3FCE5FA44E81}" type="datetime1">
              <a:rPr lang="da-DK" smtClean="0"/>
              <a:pPr/>
              <a:t>22.09.2026</a:t>
            </a:fld>
            <a:endParaRPr lang="da-DK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5287" y="395288"/>
            <a:ext cx="6581775" cy="682466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Titel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BC5C7D1-5DF6-BD58-1021-844CB8EA9A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5287" y="1077754"/>
            <a:ext cx="6581775" cy="682466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Clever Sans OFFC" panose="020B0504050501040104" pitchFamily="34" charset="0"/>
              <a:buNone/>
              <a:defRPr sz="4800" b="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2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2pPr>
            <a:lvl3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3pPr>
            <a:lvl4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4pPr>
            <a:lvl5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5pPr>
            <a:lvl6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6pPr>
            <a:lvl7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7pPr>
            <a:lvl8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8pPr>
            <a:lvl9pPr marL="0" indent="0" algn="l">
              <a:spcAft>
                <a:spcPts val="600"/>
              </a:spcAft>
              <a:buFont typeface="Clever Sans OFFC" panose="020B0504050501040104" pitchFamily="34" charset="0"/>
              <a:buNone/>
              <a:defRPr sz="4800" b="0">
                <a:solidFill>
                  <a:schemeClr val="bg2">
                    <a:alpha val="60000"/>
                  </a:schemeClr>
                </a:solidFill>
                <a:latin typeface="+mn-lt"/>
              </a:defRPr>
            </a:lvl9pPr>
          </a:lstStyle>
          <a:p>
            <a:r>
              <a:rPr lang="da-DK" dirty="0"/>
              <a:t>Undertekst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7E1D51-C751-BBF4-97B6-371D144D4D1F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Titel + baggrund</a:t>
            </a:r>
          </a:p>
        </p:txBody>
      </p:sp>
    </p:spTree>
    <p:extLst>
      <p:ext uri="{BB962C8B-B14F-4D97-AF65-F5344CB8AC3E}">
        <p14:creationId xmlns:p14="http://schemas.microsoft.com/office/powerpoint/2010/main" val="41058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A0208642-FAE2-4418-9014-1CE767DCC7F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F2D4953-22BD-466C-BB4A-A5C7281C47AE}" type="datetime4">
              <a:rPr lang="da-DK" smtClean="0"/>
              <a:t>26-09-22</a:t>
            </a:fld>
            <a:endParaRPr lang="da-DK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E7F83165-73E5-45CF-B88B-91410D08B5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1BB9C5-7E4C-8CDD-5F5E-CD5FBC4C99C7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Agenda + foto</a:t>
            </a:r>
          </a:p>
        </p:txBody>
      </p:sp>
      <p:sp>
        <p:nvSpPr>
          <p:cNvPr id="3" name="Text pg  2">
            <a:extLst>
              <a:ext uri="{FF2B5EF4-FFF2-40B4-BE49-F238E27FC236}">
                <a16:creationId xmlns:a16="http://schemas.microsoft.com/office/drawing/2014/main" id="{22A0B025-B12A-275C-6152-2B749A716B8C}"/>
              </a:ext>
            </a:extLst>
          </p:cNvPr>
          <p:cNvSpPr>
            <a:spLocks noGrp="1"/>
          </p:cNvSpPr>
          <p:nvPr>
            <p:ph type="title" sz="quarter" idx="20" hasCustomPrompt="1"/>
          </p:nvPr>
        </p:nvSpPr>
        <p:spPr>
          <a:xfrm>
            <a:off x="401313" y="395288"/>
            <a:ext cx="446476" cy="5773737"/>
          </a:xfr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9pPr>
          </a:lstStyle>
          <a:p>
            <a:pPr lvl="0"/>
            <a:r>
              <a:rPr lang="da-DK" noProof="0" dirty="0"/>
              <a:t>Tilføj nr.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358900" y="395288"/>
            <a:ext cx="4656137" cy="5773737"/>
          </a:xfr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>
                <a:solidFill>
                  <a:schemeClr val="bg2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2400" b="0"/>
            </a:lvl9pPr>
          </a:lstStyle>
          <a:p>
            <a:pPr lvl="0"/>
            <a:r>
              <a:rPr lang="da-DK" noProof="0" dirty="0"/>
              <a:t>Tilføj agendapunkt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D8191692-22BA-FA8E-E16F-7EEA68A3D47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76962" y="395288"/>
            <a:ext cx="5618163" cy="5773738"/>
          </a:xfrm>
          <a:solidFill>
            <a:schemeClr val="bg1">
              <a:lumMod val="85000"/>
            </a:schemeClr>
          </a:solidFill>
        </p:spPr>
        <p:txBody>
          <a:bodyPr lIns="72000" tIns="900000" rIns="72000"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8ED44-1391-FC15-2894-B4CB483490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5426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9DF7D139-CCB2-1350-EF9D-822EC2583989}"/>
              </a:ext>
            </a:extLst>
          </p:cNvPr>
          <p:cNvSpPr/>
          <p:nvPr userDrawn="1"/>
        </p:nvSpPr>
        <p:spPr bwMode="white">
          <a:xfrm>
            <a:off x="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A0208642-FAE2-4418-9014-1CE767DCC7F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F2D4953-22BD-466C-BB4A-A5C7281C47AE}" type="datetime4">
              <a:rPr lang="da-DK" smtClean="0"/>
              <a:t>26-09-22</a:t>
            </a:fld>
            <a:endParaRPr lang="da-DK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E7F83165-73E5-45CF-B88B-91410D08B5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A24751-FD2D-209E-E9CB-0F7387D70CB9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Agenda</a:t>
            </a:r>
          </a:p>
        </p:txBody>
      </p:sp>
      <p:sp>
        <p:nvSpPr>
          <p:cNvPr id="2" name="Text Pg 2">
            <a:extLst>
              <a:ext uri="{FF2B5EF4-FFF2-40B4-BE49-F238E27FC236}">
                <a16:creationId xmlns:a16="http://schemas.microsoft.com/office/drawing/2014/main" id="{0EAD802A-3142-DB29-39B3-940E6B7C4545}"/>
              </a:ext>
            </a:extLst>
          </p:cNvPr>
          <p:cNvSpPr>
            <a:spLocks noGrp="1"/>
          </p:cNvSpPr>
          <p:nvPr>
            <p:ph type="title" sz="quarter" idx="20" hasCustomPrompt="1"/>
          </p:nvPr>
        </p:nvSpPr>
        <p:spPr>
          <a:xfrm>
            <a:off x="401312" y="395288"/>
            <a:ext cx="795663" cy="5773737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a-DK" noProof="0" dirty="0"/>
              <a:t>Tilføj agendapunkt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364956" y="395288"/>
            <a:ext cx="8502944" cy="577373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4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a-DK" noProof="0" dirty="0"/>
              <a:t>Tilføj agendapunkt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8ED44-1391-FC15-2894-B4CB483490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8" name="5th element" descr=" ">
            <a:extLst>
              <a:ext uri="{FF2B5EF4-FFF2-40B4-BE49-F238E27FC236}">
                <a16:creationId xmlns:a16="http://schemas.microsoft.com/office/drawing/2014/main" id="{B960EA4E-4FD1-F3CF-5F24-CE360A3F6195}"/>
              </a:ext>
            </a:extLst>
          </p:cNvPr>
          <p:cNvSpPr/>
          <p:nvPr userDrawn="1"/>
        </p:nvSpPr>
        <p:spPr>
          <a:xfrm>
            <a:off x="396000" y="6395662"/>
            <a:ext cx="207711" cy="221051"/>
          </a:xfrm>
          <a:custGeom>
            <a:avLst/>
            <a:gdLst>
              <a:gd name="connsiteX0" fmla="*/ 109836 w 207711"/>
              <a:gd name="connsiteY0" fmla="*/ 152989 h 221051"/>
              <a:gd name="connsiteX1" fmla="*/ 134199 w 207711"/>
              <a:gd name="connsiteY1" fmla="*/ 162957 h 221051"/>
              <a:gd name="connsiteX2" fmla="*/ 134199 w 207711"/>
              <a:gd name="connsiteY2" fmla="*/ 211085 h 221051"/>
              <a:gd name="connsiteX3" fmla="*/ 85474 w 207711"/>
              <a:gd name="connsiteY3" fmla="*/ 211085 h 221051"/>
              <a:gd name="connsiteX4" fmla="*/ 85474 w 207711"/>
              <a:gd name="connsiteY4" fmla="*/ 162957 h 221051"/>
              <a:gd name="connsiteX5" fmla="*/ 109836 w 207711"/>
              <a:gd name="connsiteY5" fmla="*/ 152989 h 221051"/>
              <a:gd name="connsiteX6" fmla="*/ 182961 w 207711"/>
              <a:gd name="connsiteY6" fmla="*/ 139441 h 221051"/>
              <a:gd name="connsiteX7" fmla="*/ 207041 w 207711"/>
              <a:gd name="connsiteY7" fmla="*/ 153246 h 221051"/>
              <a:gd name="connsiteX8" fmla="*/ 193066 w 207711"/>
              <a:gd name="connsiteY8" fmla="*/ 177030 h 221051"/>
              <a:gd name="connsiteX9" fmla="*/ 168986 w 207711"/>
              <a:gd name="connsiteY9" fmla="*/ 163226 h 221051"/>
              <a:gd name="connsiteX10" fmla="*/ 182961 w 207711"/>
              <a:gd name="connsiteY10" fmla="*/ 139441 h 221051"/>
              <a:gd name="connsiteX11" fmla="*/ 39377 w 207711"/>
              <a:gd name="connsiteY11" fmla="*/ 71631 h 221051"/>
              <a:gd name="connsiteX12" fmla="*/ 78753 w 207711"/>
              <a:gd name="connsiteY12" fmla="*/ 110525 h 221051"/>
              <a:gd name="connsiteX13" fmla="*/ 39377 w 207711"/>
              <a:gd name="connsiteY13" fmla="*/ 149419 h 221051"/>
              <a:gd name="connsiteX14" fmla="*/ 0 w 207711"/>
              <a:gd name="connsiteY14" fmla="*/ 110525 h 221051"/>
              <a:gd name="connsiteX15" fmla="*/ 39377 w 207711"/>
              <a:gd name="connsiteY15" fmla="*/ 71631 h 221051"/>
              <a:gd name="connsiteX16" fmla="*/ 195554 w 207711"/>
              <a:gd name="connsiteY16" fmla="*/ 44851 h 221051"/>
              <a:gd name="connsiteX17" fmla="*/ 206208 w 207711"/>
              <a:gd name="connsiteY17" fmla="*/ 55375 h 221051"/>
              <a:gd name="connsiteX18" fmla="*/ 195554 w 207711"/>
              <a:gd name="connsiteY18" fmla="*/ 80781 h 221051"/>
              <a:gd name="connsiteX19" fmla="*/ 169832 w 207711"/>
              <a:gd name="connsiteY19" fmla="*/ 70258 h 221051"/>
              <a:gd name="connsiteX20" fmla="*/ 180486 w 207711"/>
              <a:gd name="connsiteY20" fmla="*/ 44851 h 221051"/>
              <a:gd name="connsiteX21" fmla="*/ 195554 w 207711"/>
              <a:gd name="connsiteY21" fmla="*/ 44851 h 221051"/>
              <a:gd name="connsiteX22" fmla="*/ 109836 w 207711"/>
              <a:gd name="connsiteY22" fmla="*/ 0 h 221051"/>
              <a:gd name="connsiteX23" fmla="*/ 134199 w 207711"/>
              <a:gd name="connsiteY23" fmla="*/ 9968 h 221051"/>
              <a:gd name="connsiteX24" fmla="*/ 134199 w 207711"/>
              <a:gd name="connsiteY24" fmla="*/ 58095 h 221051"/>
              <a:gd name="connsiteX25" fmla="*/ 85474 w 207711"/>
              <a:gd name="connsiteY25" fmla="*/ 58095 h 221051"/>
              <a:gd name="connsiteX26" fmla="*/ 85474 w 207711"/>
              <a:gd name="connsiteY26" fmla="*/ 9968 h 221051"/>
              <a:gd name="connsiteX27" fmla="*/ 109836 w 207711"/>
              <a:gd name="connsiteY27" fmla="*/ 0 h 22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7711" h="221051">
                <a:moveTo>
                  <a:pt x="109836" y="152989"/>
                </a:moveTo>
                <a:cubicBezTo>
                  <a:pt x="118654" y="152989"/>
                  <a:pt x="127471" y="156312"/>
                  <a:pt x="134199" y="162957"/>
                </a:cubicBezTo>
                <a:cubicBezTo>
                  <a:pt x="147654" y="176246"/>
                  <a:pt x="147654" y="197794"/>
                  <a:pt x="134199" y="211085"/>
                </a:cubicBezTo>
                <a:cubicBezTo>
                  <a:pt x="120743" y="224374"/>
                  <a:pt x="98930" y="224374"/>
                  <a:pt x="85474" y="211085"/>
                </a:cubicBezTo>
                <a:cubicBezTo>
                  <a:pt x="72019" y="197794"/>
                  <a:pt x="72019" y="176246"/>
                  <a:pt x="85474" y="162957"/>
                </a:cubicBezTo>
                <a:cubicBezTo>
                  <a:pt x="92202" y="156312"/>
                  <a:pt x="101019" y="152989"/>
                  <a:pt x="109836" y="152989"/>
                </a:cubicBezTo>
                <a:close/>
                <a:moveTo>
                  <a:pt x="182961" y="139441"/>
                </a:moveTo>
                <a:cubicBezTo>
                  <a:pt x="193469" y="136685"/>
                  <a:pt x="204250" y="142866"/>
                  <a:pt x="207041" y="153246"/>
                </a:cubicBezTo>
                <a:cubicBezTo>
                  <a:pt x="209831" y="163625"/>
                  <a:pt x="203574" y="174274"/>
                  <a:pt x="193066" y="177030"/>
                </a:cubicBezTo>
                <a:cubicBezTo>
                  <a:pt x="182557" y="179786"/>
                  <a:pt x="171776" y="173605"/>
                  <a:pt x="168986" y="163226"/>
                </a:cubicBezTo>
                <a:cubicBezTo>
                  <a:pt x="166196" y="152846"/>
                  <a:pt x="172452" y="142198"/>
                  <a:pt x="182961" y="139441"/>
                </a:cubicBezTo>
                <a:close/>
                <a:moveTo>
                  <a:pt x="39377" y="71631"/>
                </a:moveTo>
                <a:cubicBezTo>
                  <a:pt x="61124" y="71631"/>
                  <a:pt x="78753" y="89045"/>
                  <a:pt x="78753" y="110525"/>
                </a:cubicBezTo>
                <a:cubicBezTo>
                  <a:pt x="78753" y="132006"/>
                  <a:pt x="61124" y="149419"/>
                  <a:pt x="39377" y="149419"/>
                </a:cubicBezTo>
                <a:cubicBezTo>
                  <a:pt x="17630" y="149419"/>
                  <a:pt x="0" y="132006"/>
                  <a:pt x="0" y="110525"/>
                </a:cubicBezTo>
                <a:cubicBezTo>
                  <a:pt x="0" y="89045"/>
                  <a:pt x="17630" y="71631"/>
                  <a:pt x="39377" y="71631"/>
                </a:cubicBezTo>
                <a:close/>
                <a:moveTo>
                  <a:pt x="195554" y="44851"/>
                </a:moveTo>
                <a:cubicBezTo>
                  <a:pt x="200208" y="46755"/>
                  <a:pt x="204127" y="50414"/>
                  <a:pt x="206208" y="55375"/>
                </a:cubicBezTo>
                <a:cubicBezTo>
                  <a:pt x="210369" y="65297"/>
                  <a:pt x="205599" y="76671"/>
                  <a:pt x="195554" y="80781"/>
                </a:cubicBezTo>
                <a:cubicBezTo>
                  <a:pt x="185509" y="84891"/>
                  <a:pt x="173993" y="80179"/>
                  <a:pt x="169832" y="70258"/>
                </a:cubicBezTo>
                <a:cubicBezTo>
                  <a:pt x="165671" y="60336"/>
                  <a:pt x="170441" y="48961"/>
                  <a:pt x="180486" y="44851"/>
                </a:cubicBezTo>
                <a:cubicBezTo>
                  <a:pt x="185509" y="42796"/>
                  <a:pt x="190899" y="42947"/>
                  <a:pt x="195554" y="44851"/>
                </a:cubicBezTo>
                <a:close/>
                <a:moveTo>
                  <a:pt x="109836" y="0"/>
                </a:moveTo>
                <a:cubicBezTo>
                  <a:pt x="118654" y="0"/>
                  <a:pt x="127471" y="3323"/>
                  <a:pt x="134199" y="9968"/>
                </a:cubicBezTo>
                <a:cubicBezTo>
                  <a:pt x="147654" y="23258"/>
                  <a:pt x="147654" y="44805"/>
                  <a:pt x="134199" y="58095"/>
                </a:cubicBezTo>
                <a:cubicBezTo>
                  <a:pt x="120743" y="71385"/>
                  <a:pt x="98930" y="71385"/>
                  <a:pt x="85474" y="58095"/>
                </a:cubicBezTo>
                <a:cubicBezTo>
                  <a:pt x="72019" y="44805"/>
                  <a:pt x="72019" y="23258"/>
                  <a:pt x="85474" y="9968"/>
                </a:cubicBezTo>
                <a:cubicBezTo>
                  <a:pt x="92202" y="3323"/>
                  <a:pt x="101019" y="0"/>
                  <a:pt x="109836" y="0"/>
                </a:cubicBezTo>
                <a:close/>
              </a:path>
            </a:pathLst>
          </a:custGeom>
          <a:solidFill>
            <a:schemeClr val="bg1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910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52CD7E1C-99B3-1863-FA6C-9CACB088B433}"/>
              </a:ext>
            </a:extLst>
          </p:cNvPr>
          <p:cNvSpPr/>
          <p:nvPr userDrawn="1"/>
        </p:nvSpPr>
        <p:spPr bwMode="white">
          <a:xfrm>
            <a:off x="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770CEA-87BB-CD50-B93A-F93B069906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05124 w 12192000"/>
              <a:gd name="connsiteY0" fmla="*/ 6548651 h 6858000"/>
              <a:gd name="connsiteX1" fmla="*/ 480762 w 12192000"/>
              <a:gd name="connsiteY1" fmla="*/ 6558619 h 6858000"/>
              <a:gd name="connsiteX2" fmla="*/ 480762 w 12192000"/>
              <a:gd name="connsiteY2" fmla="*/ 6606747 h 6858000"/>
              <a:gd name="connsiteX3" fmla="*/ 529487 w 12192000"/>
              <a:gd name="connsiteY3" fmla="*/ 6606747 h 6858000"/>
              <a:gd name="connsiteX4" fmla="*/ 529487 w 12192000"/>
              <a:gd name="connsiteY4" fmla="*/ 6558619 h 6858000"/>
              <a:gd name="connsiteX5" fmla="*/ 505124 w 12192000"/>
              <a:gd name="connsiteY5" fmla="*/ 6548651 h 6858000"/>
              <a:gd name="connsiteX6" fmla="*/ 578249 w 12192000"/>
              <a:gd name="connsiteY6" fmla="*/ 6535103 h 6858000"/>
              <a:gd name="connsiteX7" fmla="*/ 564274 w 12192000"/>
              <a:gd name="connsiteY7" fmla="*/ 6558888 h 6858000"/>
              <a:gd name="connsiteX8" fmla="*/ 588354 w 12192000"/>
              <a:gd name="connsiteY8" fmla="*/ 6572692 h 6858000"/>
              <a:gd name="connsiteX9" fmla="*/ 602329 w 12192000"/>
              <a:gd name="connsiteY9" fmla="*/ 6548908 h 6858000"/>
              <a:gd name="connsiteX10" fmla="*/ 578249 w 12192000"/>
              <a:gd name="connsiteY10" fmla="*/ 6535103 h 6858000"/>
              <a:gd name="connsiteX11" fmla="*/ 434665 w 12192000"/>
              <a:gd name="connsiteY11" fmla="*/ 6467293 h 6858000"/>
              <a:gd name="connsiteX12" fmla="*/ 395288 w 12192000"/>
              <a:gd name="connsiteY12" fmla="*/ 6506187 h 6858000"/>
              <a:gd name="connsiteX13" fmla="*/ 434665 w 12192000"/>
              <a:gd name="connsiteY13" fmla="*/ 6545081 h 6858000"/>
              <a:gd name="connsiteX14" fmla="*/ 474041 w 12192000"/>
              <a:gd name="connsiteY14" fmla="*/ 6506187 h 6858000"/>
              <a:gd name="connsiteX15" fmla="*/ 434665 w 12192000"/>
              <a:gd name="connsiteY15" fmla="*/ 6467293 h 6858000"/>
              <a:gd name="connsiteX16" fmla="*/ 575774 w 12192000"/>
              <a:gd name="connsiteY16" fmla="*/ 6440513 h 6858000"/>
              <a:gd name="connsiteX17" fmla="*/ 565120 w 12192000"/>
              <a:gd name="connsiteY17" fmla="*/ 6465920 h 6858000"/>
              <a:gd name="connsiteX18" fmla="*/ 590842 w 12192000"/>
              <a:gd name="connsiteY18" fmla="*/ 6476443 h 6858000"/>
              <a:gd name="connsiteX19" fmla="*/ 601496 w 12192000"/>
              <a:gd name="connsiteY19" fmla="*/ 6451037 h 6858000"/>
              <a:gd name="connsiteX20" fmla="*/ 590842 w 12192000"/>
              <a:gd name="connsiteY20" fmla="*/ 6440513 h 6858000"/>
              <a:gd name="connsiteX21" fmla="*/ 575774 w 12192000"/>
              <a:gd name="connsiteY21" fmla="*/ 6440513 h 6858000"/>
              <a:gd name="connsiteX22" fmla="*/ 505124 w 12192000"/>
              <a:gd name="connsiteY22" fmla="*/ 6395662 h 6858000"/>
              <a:gd name="connsiteX23" fmla="*/ 480762 w 12192000"/>
              <a:gd name="connsiteY23" fmla="*/ 6405630 h 6858000"/>
              <a:gd name="connsiteX24" fmla="*/ 480762 w 12192000"/>
              <a:gd name="connsiteY24" fmla="*/ 6453757 h 6858000"/>
              <a:gd name="connsiteX25" fmla="*/ 529487 w 12192000"/>
              <a:gd name="connsiteY25" fmla="*/ 6453757 h 6858000"/>
              <a:gd name="connsiteX26" fmla="*/ 529487 w 12192000"/>
              <a:gd name="connsiteY26" fmla="*/ 6405630 h 6858000"/>
              <a:gd name="connsiteX27" fmla="*/ 505124 w 12192000"/>
              <a:gd name="connsiteY27" fmla="*/ 6395662 h 6858000"/>
              <a:gd name="connsiteX28" fmla="*/ 0 w 12192000"/>
              <a:gd name="connsiteY28" fmla="*/ 0 h 6858000"/>
              <a:gd name="connsiteX29" fmla="*/ 12192000 w 12192000"/>
              <a:gd name="connsiteY29" fmla="*/ 0 h 6858000"/>
              <a:gd name="connsiteX30" fmla="*/ 12192000 w 12192000"/>
              <a:gd name="connsiteY30" fmla="*/ 6858000 h 6858000"/>
              <a:gd name="connsiteX31" fmla="*/ 0 w 12192000"/>
              <a:gd name="connsiteY3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6858000">
                <a:moveTo>
                  <a:pt x="505124" y="6548651"/>
                </a:moveTo>
                <a:cubicBezTo>
                  <a:pt x="496307" y="6548651"/>
                  <a:pt x="487490" y="6551974"/>
                  <a:pt x="480762" y="6558619"/>
                </a:cubicBezTo>
                <a:cubicBezTo>
                  <a:pt x="467307" y="6571908"/>
                  <a:pt x="467307" y="6593456"/>
                  <a:pt x="480762" y="6606747"/>
                </a:cubicBezTo>
                <a:cubicBezTo>
                  <a:pt x="494218" y="6620036"/>
                  <a:pt x="516031" y="6620036"/>
                  <a:pt x="529487" y="6606747"/>
                </a:cubicBezTo>
                <a:cubicBezTo>
                  <a:pt x="542942" y="6593456"/>
                  <a:pt x="542942" y="6571908"/>
                  <a:pt x="529487" y="6558619"/>
                </a:cubicBezTo>
                <a:cubicBezTo>
                  <a:pt x="522759" y="6551974"/>
                  <a:pt x="513942" y="6548651"/>
                  <a:pt x="505124" y="6548651"/>
                </a:cubicBezTo>
                <a:close/>
                <a:moveTo>
                  <a:pt x="578249" y="6535103"/>
                </a:moveTo>
                <a:cubicBezTo>
                  <a:pt x="567740" y="6537860"/>
                  <a:pt x="561484" y="6548508"/>
                  <a:pt x="564274" y="6558888"/>
                </a:cubicBezTo>
                <a:cubicBezTo>
                  <a:pt x="567064" y="6569267"/>
                  <a:pt x="577845" y="6575448"/>
                  <a:pt x="588354" y="6572692"/>
                </a:cubicBezTo>
                <a:cubicBezTo>
                  <a:pt x="598862" y="6569936"/>
                  <a:pt x="605119" y="6559287"/>
                  <a:pt x="602329" y="6548908"/>
                </a:cubicBezTo>
                <a:cubicBezTo>
                  <a:pt x="599538" y="6538528"/>
                  <a:pt x="588757" y="6532347"/>
                  <a:pt x="578249" y="6535103"/>
                </a:cubicBezTo>
                <a:close/>
                <a:moveTo>
                  <a:pt x="434665" y="6467293"/>
                </a:moveTo>
                <a:cubicBezTo>
                  <a:pt x="412918" y="6467293"/>
                  <a:pt x="395288" y="6484707"/>
                  <a:pt x="395288" y="6506187"/>
                </a:cubicBezTo>
                <a:cubicBezTo>
                  <a:pt x="395288" y="6527668"/>
                  <a:pt x="412918" y="6545081"/>
                  <a:pt x="434665" y="6545081"/>
                </a:cubicBezTo>
                <a:cubicBezTo>
                  <a:pt x="456412" y="6545081"/>
                  <a:pt x="474041" y="6527668"/>
                  <a:pt x="474041" y="6506187"/>
                </a:cubicBezTo>
                <a:cubicBezTo>
                  <a:pt x="474041" y="6484707"/>
                  <a:pt x="456412" y="6467293"/>
                  <a:pt x="434665" y="6467293"/>
                </a:cubicBezTo>
                <a:close/>
                <a:moveTo>
                  <a:pt x="575774" y="6440513"/>
                </a:moveTo>
                <a:cubicBezTo>
                  <a:pt x="565729" y="6444623"/>
                  <a:pt x="560959" y="6455998"/>
                  <a:pt x="565120" y="6465920"/>
                </a:cubicBezTo>
                <a:cubicBezTo>
                  <a:pt x="569281" y="6475841"/>
                  <a:pt x="580797" y="6480553"/>
                  <a:pt x="590842" y="6476443"/>
                </a:cubicBezTo>
                <a:cubicBezTo>
                  <a:pt x="600887" y="6472333"/>
                  <a:pt x="605657" y="6460959"/>
                  <a:pt x="601496" y="6451037"/>
                </a:cubicBezTo>
                <a:cubicBezTo>
                  <a:pt x="599415" y="6446076"/>
                  <a:pt x="595496" y="6442417"/>
                  <a:pt x="590842" y="6440513"/>
                </a:cubicBezTo>
                <a:cubicBezTo>
                  <a:pt x="586187" y="6438609"/>
                  <a:pt x="580797" y="6438458"/>
                  <a:pt x="575774" y="6440513"/>
                </a:cubicBezTo>
                <a:close/>
                <a:moveTo>
                  <a:pt x="505124" y="6395662"/>
                </a:moveTo>
                <a:cubicBezTo>
                  <a:pt x="496307" y="6395662"/>
                  <a:pt x="487490" y="6398985"/>
                  <a:pt x="480762" y="6405630"/>
                </a:cubicBezTo>
                <a:cubicBezTo>
                  <a:pt x="467307" y="6418920"/>
                  <a:pt x="467307" y="6440467"/>
                  <a:pt x="480762" y="6453757"/>
                </a:cubicBezTo>
                <a:cubicBezTo>
                  <a:pt x="494218" y="6467047"/>
                  <a:pt x="516031" y="6467047"/>
                  <a:pt x="529487" y="6453757"/>
                </a:cubicBezTo>
                <a:cubicBezTo>
                  <a:pt x="542942" y="6440467"/>
                  <a:pt x="542942" y="6418920"/>
                  <a:pt x="529487" y="6405630"/>
                </a:cubicBezTo>
                <a:cubicBezTo>
                  <a:pt x="522759" y="6398985"/>
                  <a:pt x="513942" y="6395662"/>
                  <a:pt x="505124" y="639566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72000" tIns="72000" rIns="7200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1pPr>
          </a:lstStyle>
          <a:p>
            <a:r>
              <a:rPr lang="da-DK" dirty="0"/>
              <a:t>Klik på rammen og indsæt et mørkt billede ved at bruge fanen Indsæt - Billeder</a:t>
            </a:r>
          </a:p>
        </p:txBody>
      </p:sp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BDA8DE9-43A5-4CF3-9B56-E6119215D5B1}" type="datetime4">
              <a:rPr lang="da-DK" smtClean="0"/>
              <a:t>26-09-22</a:t>
            </a:fld>
            <a:endParaRPr lang="da-DK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5287" y="395288"/>
            <a:ext cx="4656138" cy="4949710"/>
          </a:xfrm>
        </p:spPr>
        <p:txBody>
          <a:bodyPr wrap="square" anchor="t"/>
          <a:lstStyle>
            <a:lvl1pPr algn="l" latinLnBrk="0" hangingPunct="1">
              <a:lnSpc>
                <a:spcPct val="9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5th element" descr=" ">
            <a:extLst>
              <a:ext uri="{FF2B5EF4-FFF2-40B4-BE49-F238E27FC236}">
                <a16:creationId xmlns:a16="http://schemas.microsoft.com/office/drawing/2014/main" id="{01A16D83-C54B-1949-6407-FDF61B9F833B}"/>
              </a:ext>
            </a:extLst>
          </p:cNvPr>
          <p:cNvSpPr/>
          <p:nvPr userDrawn="1"/>
        </p:nvSpPr>
        <p:spPr>
          <a:xfrm>
            <a:off x="395288" y="6395662"/>
            <a:ext cx="207711" cy="221051"/>
          </a:xfrm>
          <a:custGeom>
            <a:avLst/>
            <a:gdLst>
              <a:gd name="connsiteX0" fmla="*/ 109836 w 207711"/>
              <a:gd name="connsiteY0" fmla="*/ 152989 h 221051"/>
              <a:gd name="connsiteX1" fmla="*/ 134199 w 207711"/>
              <a:gd name="connsiteY1" fmla="*/ 162957 h 221051"/>
              <a:gd name="connsiteX2" fmla="*/ 134199 w 207711"/>
              <a:gd name="connsiteY2" fmla="*/ 211085 h 221051"/>
              <a:gd name="connsiteX3" fmla="*/ 85474 w 207711"/>
              <a:gd name="connsiteY3" fmla="*/ 211085 h 221051"/>
              <a:gd name="connsiteX4" fmla="*/ 85474 w 207711"/>
              <a:gd name="connsiteY4" fmla="*/ 162957 h 221051"/>
              <a:gd name="connsiteX5" fmla="*/ 109836 w 207711"/>
              <a:gd name="connsiteY5" fmla="*/ 152989 h 221051"/>
              <a:gd name="connsiteX6" fmla="*/ 182961 w 207711"/>
              <a:gd name="connsiteY6" fmla="*/ 139441 h 221051"/>
              <a:gd name="connsiteX7" fmla="*/ 207041 w 207711"/>
              <a:gd name="connsiteY7" fmla="*/ 153246 h 221051"/>
              <a:gd name="connsiteX8" fmla="*/ 193066 w 207711"/>
              <a:gd name="connsiteY8" fmla="*/ 177030 h 221051"/>
              <a:gd name="connsiteX9" fmla="*/ 168986 w 207711"/>
              <a:gd name="connsiteY9" fmla="*/ 163226 h 221051"/>
              <a:gd name="connsiteX10" fmla="*/ 182961 w 207711"/>
              <a:gd name="connsiteY10" fmla="*/ 139441 h 221051"/>
              <a:gd name="connsiteX11" fmla="*/ 39377 w 207711"/>
              <a:gd name="connsiteY11" fmla="*/ 71631 h 221051"/>
              <a:gd name="connsiteX12" fmla="*/ 78753 w 207711"/>
              <a:gd name="connsiteY12" fmla="*/ 110525 h 221051"/>
              <a:gd name="connsiteX13" fmla="*/ 39377 w 207711"/>
              <a:gd name="connsiteY13" fmla="*/ 149419 h 221051"/>
              <a:gd name="connsiteX14" fmla="*/ 0 w 207711"/>
              <a:gd name="connsiteY14" fmla="*/ 110525 h 221051"/>
              <a:gd name="connsiteX15" fmla="*/ 39377 w 207711"/>
              <a:gd name="connsiteY15" fmla="*/ 71631 h 221051"/>
              <a:gd name="connsiteX16" fmla="*/ 195554 w 207711"/>
              <a:gd name="connsiteY16" fmla="*/ 44851 h 221051"/>
              <a:gd name="connsiteX17" fmla="*/ 206208 w 207711"/>
              <a:gd name="connsiteY17" fmla="*/ 55375 h 221051"/>
              <a:gd name="connsiteX18" fmla="*/ 195554 w 207711"/>
              <a:gd name="connsiteY18" fmla="*/ 80781 h 221051"/>
              <a:gd name="connsiteX19" fmla="*/ 169832 w 207711"/>
              <a:gd name="connsiteY19" fmla="*/ 70258 h 221051"/>
              <a:gd name="connsiteX20" fmla="*/ 180486 w 207711"/>
              <a:gd name="connsiteY20" fmla="*/ 44851 h 221051"/>
              <a:gd name="connsiteX21" fmla="*/ 195554 w 207711"/>
              <a:gd name="connsiteY21" fmla="*/ 44851 h 221051"/>
              <a:gd name="connsiteX22" fmla="*/ 109836 w 207711"/>
              <a:gd name="connsiteY22" fmla="*/ 0 h 221051"/>
              <a:gd name="connsiteX23" fmla="*/ 134199 w 207711"/>
              <a:gd name="connsiteY23" fmla="*/ 9968 h 221051"/>
              <a:gd name="connsiteX24" fmla="*/ 134199 w 207711"/>
              <a:gd name="connsiteY24" fmla="*/ 58095 h 221051"/>
              <a:gd name="connsiteX25" fmla="*/ 85474 w 207711"/>
              <a:gd name="connsiteY25" fmla="*/ 58095 h 221051"/>
              <a:gd name="connsiteX26" fmla="*/ 85474 w 207711"/>
              <a:gd name="connsiteY26" fmla="*/ 9968 h 221051"/>
              <a:gd name="connsiteX27" fmla="*/ 109836 w 207711"/>
              <a:gd name="connsiteY27" fmla="*/ 0 h 22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7711" h="221051">
                <a:moveTo>
                  <a:pt x="109836" y="152989"/>
                </a:moveTo>
                <a:cubicBezTo>
                  <a:pt x="118654" y="152989"/>
                  <a:pt x="127471" y="156312"/>
                  <a:pt x="134199" y="162957"/>
                </a:cubicBezTo>
                <a:cubicBezTo>
                  <a:pt x="147654" y="176246"/>
                  <a:pt x="147654" y="197794"/>
                  <a:pt x="134199" y="211085"/>
                </a:cubicBezTo>
                <a:cubicBezTo>
                  <a:pt x="120743" y="224374"/>
                  <a:pt x="98930" y="224374"/>
                  <a:pt x="85474" y="211085"/>
                </a:cubicBezTo>
                <a:cubicBezTo>
                  <a:pt x="72019" y="197794"/>
                  <a:pt x="72019" y="176246"/>
                  <a:pt x="85474" y="162957"/>
                </a:cubicBezTo>
                <a:cubicBezTo>
                  <a:pt x="92202" y="156312"/>
                  <a:pt x="101019" y="152989"/>
                  <a:pt x="109836" y="152989"/>
                </a:cubicBezTo>
                <a:close/>
                <a:moveTo>
                  <a:pt x="182961" y="139441"/>
                </a:moveTo>
                <a:cubicBezTo>
                  <a:pt x="193469" y="136685"/>
                  <a:pt x="204250" y="142866"/>
                  <a:pt x="207041" y="153246"/>
                </a:cubicBezTo>
                <a:cubicBezTo>
                  <a:pt x="209831" y="163625"/>
                  <a:pt x="203574" y="174274"/>
                  <a:pt x="193066" y="177030"/>
                </a:cubicBezTo>
                <a:cubicBezTo>
                  <a:pt x="182557" y="179786"/>
                  <a:pt x="171776" y="173605"/>
                  <a:pt x="168986" y="163226"/>
                </a:cubicBezTo>
                <a:cubicBezTo>
                  <a:pt x="166196" y="152846"/>
                  <a:pt x="172452" y="142198"/>
                  <a:pt x="182961" y="139441"/>
                </a:cubicBezTo>
                <a:close/>
                <a:moveTo>
                  <a:pt x="39377" y="71631"/>
                </a:moveTo>
                <a:cubicBezTo>
                  <a:pt x="61124" y="71631"/>
                  <a:pt x="78753" y="89045"/>
                  <a:pt x="78753" y="110525"/>
                </a:cubicBezTo>
                <a:cubicBezTo>
                  <a:pt x="78753" y="132006"/>
                  <a:pt x="61124" y="149419"/>
                  <a:pt x="39377" y="149419"/>
                </a:cubicBezTo>
                <a:cubicBezTo>
                  <a:pt x="17630" y="149419"/>
                  <a:pt x="0" y="132006"/>
                  <a:pt x="0" y="110525"/>
                </a:cubicBezTo>
                <a:cubicBezTo>
                  <a:pt x="0" y="89045"/>
                  <a:pt x="17630" y="71631"/>
                  <a:pt x="39377" y="71631"/>
                </a:cubicBezTo>
                <a:close/>
                <a:moveTo>
                  <a:pt x="195554" y="44851"/>
                </a:moveTo>
                <a:cubicBezTo>
                  <a:pt x="200208" y="46755"/>
                  <a:pt x="204127" y="50414"/>
                  <a:pt x="206208" y="55375"/>
                </a:cubicBezTo>
                <a:cubicBezTo>
                  <a:pt x="210369" y="65297"/>
                  <a:pt x="205599" y="76671"/>
                  <a:pt x="195554" y="80781"/>
                </a:cubicBezTo>
                <a:cubicBezTo>
                  <a:pt x="185509" y="84891"/>
                  <a:pt x="173993" y="80179"/>
                  <a:pt x="169832" y="70258"/>
                </a:cubicBezTo>
                <a:cubicBezTo>
                  <a:pt x="165671" y="60336"/>
                  <a:pt x="170441" y="48961"/>
                  <a:pt x="180486" y="44851"/>
                </a:cubicBezTo>
                <a:cubicBezTo>
                  <a:pt x="185509" y="42796"/>
                  <a:pt x="190899" y="42947"/>
                  <a:pt x="195554" y="44851"/>
                </a:cubicBezTo>
                <a:close/>
                <a:moveTo>
                  <a:pt x="109836" y="0"/>
                </a:moveTo>
                <a:cubicBezTo>
                  <a:pt x="118654" y="0"/>
                  <a:pt x="127471" y="3323"/>
                  <a:pt x="134199" y="9968"/>
                </a:cubicBezTo>
                <a:cubicBezTo>
                  <a:pt x="147654" y="23258"/>
                  <a:pt x="147654" y="44805"/>
                  <a:pt x="134199" y="58095"/>
                </a:cubicBezTo>
                <a:cubicBezTo>
                  <a:pt x="120743" y="71385"/>
                  <a:pt x="98930" y="71385"/>
                  <a:pt x="85474" y="58095"/>
                </a:cubicBezTo>
                <a:cubicBezTo>
                  <a:pt x="72019" y="44805"/>
                  <a:pt x="72019" y="23258"/>
                  <a:pt x="85474" y="9968"/>
                </a:cubicBezTo>
                <a:cubicBezTo>
                  <a:pt x="92202" y="3323"/>
                  <a:pt x="101019" y="0"/>
                  <a:pt x="109836" y="0"/>
                </a:cubicBezTo>
                <a:close/>
              </a:path>
            </a:pathLst>
          </a:custGeom>
          <a:solidFill>
            <a:schemeClr val="bg1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B61F20-07F9-9D53-C455-32796D039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3EE388-94B4-A61C-593D-F60C1CAC67FC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Skiller</a:t>
            </a:r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a-DK" noProof="0" dirty="0"/>
              <a:t>Click to add text                                                   Press ENTER then TAB to view next text style    Press SHIFT+TAB to view previous text style</a:t>
            </a:r>
          </a:p>
          <a:p>
            <a:pPr lvl="1"/>
            <a:r>
              <a:rPr lang="da-DK" noProof="0" dirty="0"/>
              <a:t>Second level</a:t>
            </a:r>
          </a:p>
          <a:p>
            <a:pPr lvl="2"/>
            <a:r>
              <a:rPr lang="da-DK" noProof="0" dirty="0"/>
              <a:t>Third level</a:t>
            </a:r>
          </a:p>
          <a:p>
            <a:pPr lvl="3"/>
            <a:r>
              <a:rPr lang="da-DK" noProof="0" dirty="0"/>
              <a:t>Fourth level</a:t>
            </a:r>
          </a:p>
          <a:p>
            <a:pPr lvl="4"/>
            <a:r>
              <a:rPr lang="da-DK" noProof="0" dirty="0"/>
              <a:t>Fifth level</a:t>
            </a:r>
          </a:p>
          <a:p>
            <a:pPr lvl="5"/>
            <a:r>
              <a:rPr lang="da-DK" noProof="0" dirty="0"/>
              <a:t>Sixth level</a:t>
            </a:r>
          </a:p>
          <a:p>
            <a:pPr lvl="6"/>
            <a:r>
              <a:rPr lang="da-DK" noProof="0" dirty="0"/>
              <a:t>Seventh level</a:t>
            </a:r>
          </a:p>
          <a:p>
            <a:pPr lvl="7"/>
            <a:r>
              <a:rPr lang="da-DK" noProof="0" dirty="0"/>
              <a:t>Eighth level</a:t>
            </a:r>
          </a:p>
          <a:p>
            <a:pPr lvl="8"/>
            <a:r>
              <a:rPr lang="da-DK" noProof="0" dirty="0"/>
              <a:t>Ninth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980D4-A6FE-48C4-3FB4-A170F1DD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9C598-2ADD-7AAD-BC20-214AE14F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DCD92-64F9-6FD5-F0BC-D1B2259B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1CB841-5701-B15F-E158-6CFB6A648C97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1 indhold</a:t>
            </a:r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 dirty="0"/>
              <a:t>Overskrift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963" y="395287"/>
            <a:ext cx="2727326" cy="57737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</a:lstStyle>
          <a:p>
            <a:pPr lvl="0"/>
            <a:r>
              <a:rPr lang="da-DK" noProof="0" dirty="0"/>
              <a:t>Click to add text                                                 Press ENTER then TAB to view next text style     Press SHIFT+TAB to view previous text style</a:t>
            </a:r>
          </a:p>
          <a:p>
            <a:pPr lvl="1"/>
            <a:r>
              <a:rPr lang="da-DK" noProof="0" dirty="0"/>
              <a:t>Level 2</a:t>
            </a:r>
          </a:p>
          <a:p>
            <a:pPr lvl="2"/>
            <a:r>
              <a:rPr lang="da-DK" noProof="0" dirty="0"/>
              <a:t>Level 3</a:t>
            </a:r>
          </a:p>
          <a:p>
            <a:pPr lvl="3"/>
            <a:r>
              <a:rPr lang="da-DK" noProof="0" dirty="0"/>
              <a:t>Level 4</a:t>
            </a:r>
          </a:p>
          <a:p>
            <a:pPr lvl="4"/>
            <a:r>
              <a:rPr lang="da-DK" noProof="0" dirty="0"/>
              <a:t>Level 5</a:t>
            </a:r>
          </a:p>
          <a:p>
            <a:pPr lvl="5"/>
            <a:r>
              <a:rPr lang="da-DK" noProof="0" dirty="0"/>
              <a:t>Level 6</a:t>
            </a:r>
          </a:p>
          <a:p>
            <a:pPr lvl="6"/>
            <a:r>
              <a:rPr lang="da-DK" noProof="0" dirty="0"/>
              <a:t>Level 7</a:t>
            </a:r>
          </a:p>
          <a:p>
            <a:pPr lvl="7"/>
            <a:r>
              <a:rPr lang="da-DK" noProof="0" dirty="0"/>
              <a:t>Level 8</a:t>
            </a:r>
          </a:p>
          <a:p>
            <a:pPr lvl="8"/>
            <a:r>
              <a:rPr lang="da-DK" noProof="0" dirty="0"/>
              <a:t>Level 9</a:t>
            </a:r>
          </a:p>
          <a:p>
            <a:pPr lvl="0"/>
            <a:endParaRPr lang="da-DK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066212" y="395288"/>
            <a:ext cx="2727326" cy="577373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</a:lstStyle>
          <a:p>
            <a:pPr lvl="0"/>
            <a:r>
              <a:rPr lang="da-DK" noProof="0" dirty="0"/>
              <a:t>Click to add text                  Press ENTER then TAB to view next text style                            Press SHIFT+TAB to view previous text style</a:t>
            </a:r>
          </a:p>
          <a:p>
            <a:pPr lvl="1"/>
            <a:r>
              <a:rPr lang="da-DK" noProof="0" dirty="0"/>
              <a:t>Level 2</a:t>
            </a:r>
          </a:p>
          <a:p>
            <a:pPr lvl="2"/>
            <a:r>
              <a:rPr lang="da-DK" noProof="0" dirty="0"/>
              <a:t>Level 3</a:t>
            </a:r>
          </a:p>
          <a:p>
            <a:pPr lvl="3"/>
            <a:r>
              <a:rPr lang="da-DK" noProof="0" dirty="0"/>
              <a:t>Level 4</a:t>
            </a:r>
          </a:p>
          <a:p>
            <a:pPr lvl="4"/>
            <a:r>
              <a:rPr lang="da-DK" noProof="0" dirty="0"/>
              <a:t>Level 5</a:t>
            </a:r>
          </a:p>
          <a:p>
            <a:pPr lvl="5"/>
            <a:r>
              <a:rPr lang="da-DK" noProof="0" dirty="0"/>
              <a:t>Level 6</a:t>
            </a:r>
          </a:p>
          <a:p>
            <a:pPr lvl="6"/>
            <a:r>
              <a:rPr lang="da-DK" noProof="0" dirty="0"/>
              <a:t>Level 7</a:t>
            </a:r>
          </a:p>
          <a:p>
            <a:pPr lvl="7"/>
            <a:r>
              <a:rPr lang="da-DK" noProof="0" dirty="0"/>
              <a:t>Level 8</a:t>
            </a:r>
          </a:p>
          <a:p>
            <a:pPr lvl="8"/>
            <a:r>
              <a:rPr lang="da-DK" noProof="0" dirty="0"/>
              <a:t>Level 9</a:t>
            </a:r>
          </a:p>
          <a:p>
            <a:pPr lvl="0"/>
            <a:endParaRPr lang="da-DK" noProof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3A4C8E-6445-465D-2791-1DD35341A3F4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2 indhold</a:t>
            </a:r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3" y="395288"/>
            <a:ext cx="7543801" cy="663600"/>
          </a:xfrm>
        </p:spPr>
        <p:txBody>
          <a:bodyPr/>
          <a:lstStyle/>
          <a:p>
            <a:r>
              <a:rPr lang="da-DK" dirty="0"/>
              <a:t>Overskrift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874" y="1987550"/>
            <a:ext cx="3690939" cy="41814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</a:lstStyle>
          <a:p>
            <a:pPr lvl="0"/>
            <a:r>
              <a:rPr lang="da-DK" noProof="0" dirty="0"/>
              <a:t>Click to add text                                                 Press ENTER then TAB to view next text style     Press SHIFT+TAB to view previous text style</a:t>
            </a:r>
          </a:p>
          <a:p>
            <a:pPr lvl="1"/>
            <a:r>
              <a:rPr lang="da-DK" noProof="0" dirty="0"/>
              <a:t>Level 2</a:t>
            </a:r>
          </a:p>
          <a:p>
            <a:pPr lvl="2"/>
            <a:r>
              <a:rPr lang="da-DK" noProof="0" dirty="0"/>
              <a:t>Level 3</a:t>
            </a:r>
          </a:p>
          <a:p>
            <a:pPr lvl="3"/>
            <a:r>
              <a:rPr lang="da-DK" noProof="0" dirty="0"/>
              <a:t>Level 4</a:t>
            </a:r>
          </a:p>
          <a:p>
            <a:pPr lvl="4"/>
            <a:r>
              <a:rPr lang="da-DK" noProof="0" dirty="0"/>
              <a:t>Level 5</a:t>
            </a:r>
          </a:p>
          <a:p>
            <a:pPr lvl="5"/>
            <a:r>
              <a:rPr lang="da-DK" noProof="0" dirty="0"/>
              <a:t>Level 6</a:t>
            </a:r>
          </a:p>
          <a:p>
            <a:pPr lvl="6"/>
            <a:r>
              <a:rPr lang="da-DK" noProof="0" dirty="0"/>
              <a:t>Level 7</a:t>
            </a:r>
          </a:p>
          <a:p>
            <a:pPr lvl="7"/>
            <a:r>
              <a:rPr lang="da-DK" noProof="0" dirty="0"/>
              <a:t>Level 8</a:t>
            </a:r>
          </a:p>
          <a:p>
            <a:pPr lvl="8"/>
            <a:r>
              <a:rPr lang="da-DK" noProof="0" dirty="0"/>
              <a:t>Level 9</a:t>
            </a:r>
          </a:p>
          <a:p>
            <a:pPr lvl="0"/>
            <a:endParaRPr lang="da-DK" noProof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B49660F-B2FB-4041-2653-C61DAA5A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8EA3FD-C1FD-6A92-B851-3CA9A5AC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8DC114-746C-3747-B023-3D61439F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5309F2-6313-7D94-BB9A-08E08186E7C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60128" y="1987550"/>
            <a:ext cx="3680547" cy="41814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</a:lstStyle>
          <a:p>
            <a:pPr lvl="0"/>
            <a:r>
              <a:rPr lang="da-DK" noProof="0" dirty="0"/>
              <a:t>Click to add text                                                 Press ENTER then TAB to view next text style     Press SHIFT+TAB to view previous text style</a:t>
            </a:r>
          </a:p>
          <a:p>
            <a:pPr lvl="1"/>
            <a:r>
              <a:rPr lang="da-DK" noProof="0" dirty="0"/>
              <a:t>Level 2</a:t>
            </a:r>
          </a:p>
          <a:p>
            <a:pPr lvl="2"/>
            <a:r>
              <a:rPr lang="da-DK" noProof="0" dirty="0"/>
              <a:t>Level 3</a:t>
            </a:r>
          </a:p>
          <a:p>
            <a:pPr lvl="3"/>
            <a:r>
              <a:rPr lang="da-DK" noProof="0" dirty="0"/>
              <a:t>Level 4</a:t>
            </a:r>
          </a:p>
          <a:p>
            <a:pPr lvl="4"/>
            <a:r>
              <a:rPr lang="da-DK" noProof="0" dirty="0"/>
              <a:t>Level 5</a:t>
            </a:r>
          </a:p>
          <a:p>
            <a:pPr lvl="5"/>
            <a:r>
              <a:rPr lang="da-DK" noProof="0" dirty="0"/>
              <a:t>Level 6</a:t>
            </a:r>
          </a:p>
          <a:p>
            <a:pPr lvl="6"/>
            <a:r>
              <a:rPr lang="da-DK" noProof="0" dirty="0"/>
              <a:t>Level 7</a:t>
            </a:r>
          </a:p>
          <a:p>
            <a:pPr lvl="7"/>
            <a:r>
              <a:rPr lang="da-DK" noProof="0" dirty="0"/>
              <a:t>Level 8</a:t>
            </a:r>
          </a:p>
          <a:p>
            <a:pPr lvl="8"/>
            <a:r>
              <a:rPr lang="da-DK" noProof="0" dirty="0"/>
              <a:t>Level 9</a:t>
            </a:r>
          </a:p>
          <a:p>
            <a:pPr lvl="0"/>
            <a:endParaRPr lang="da-DK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81AAC99-87AC-A1A8-8C28-ECBE3A0608F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12224" y="1987550"/>
            <a:ext cx="3682901" cy="41814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</a:lstStyle>
          <a:p>
            <a:pPr lvl="0"/>
            <a:r>
              <a:rPr lang="da-DK" noProof="0" dirty="0"/>
              <a:t>Click to add text                                                 Press ENTER then TAB to view next text style     Press SHIFT+TAB to view previous text style</a:t>
            </a:r>
          </a:p>
          <a:p>
            <a:pPr lvl="1"/>
            <a:r>
              <a:rPr lang="da-DK" noProof="0" dirty="0"/>
              <a:t>Level 2</a:t>
            </a:r>
          </a:p>
          <a:p>
            <a:pPr lvl="2"/>
            <a:r>
              <a:rPr lang="da-DK" noProof="0" dirty="0"/>
              <a:t>Level 3</a:t>
            </a:r>
          </a:p>
          <a:p>
            <a:pPr lvl="3"/>
            <a:r>
              <a:rPr lang="da-DK" noProof="0" dirty="0"/>
              <a:t>Level 4</a:t>
            </a:r>
          </a:p>
          <a:p>
            <a:pPr lvl="4"/>
            <a:r>
              <a:rPr lang="da-DK" noProof="0" dirty="0"/>
              <a:t>Level 5</a:t>
            </a:r>
          </a:p>
          <a:p>
            <a:pPr lvl="5"/>
            <a:r>
              <a:rPr lang="da-DK" noProof="0" dirty="0"/>
              <a:t>Level 6</a:t>
            </a:r>
          </a:p>
          <a:p>
            <a:pPr lvl="6"/>
            <a:r>
              <a:rPr lang="da-DK" noProof="0" dirty="0"/>
              <a:t>Level 7</a:t>
            </a:r>
          </a:p>
          <a:p>
            <a:pPr lvl="7"/>
            <a:r>
              <a:rPr lang="da-DK" noProof="0" dirty="0"/>
              <a:t>Level 8</a:t>
            </a:r>
          </a:p>
          <a:p>
            <a:pPr lvl="8"/>
            <a:r>
              <a:rPr lang="da-DK" noProof="0" dirty="0"/>
              <a:t>Level 9</a:t>
            </a:r>
          </a:p>
          <a:p>
            <a:pPr lvl="0"/>
            <a:endParaRPr lang="da-DK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42D0A6-5F20-4F43-48BC-478E86D80466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3 indhold</a:t>
            </a:r>
          </a:p>
        </p:txBody>
      </p:sp>
    </p:spTree>
    <p:extLst>
      <p:ext uri="{BB962C8B-B14F-4D97-AF65-F5344CB8AC3E}">
        <p14:creationId xmlns:p14="http://schemas.microsoft.com/office/powerpoint/2010/main" val="3880668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+ 1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3740E63-FE5A-40EF-8F52-2CDC77D09B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424488" cy="6858000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6963" y="395288"/>
            <a:ext cx="5618162" cy="663600"/>
          </a:xfrm>
        </p:spPr>
        <p:txBody>
          <a:bodyPr/>
          <a:lstStyle/>
          <a:p>
            <a:r>
              <a:rPr lang="da-DK" dirty="0"/>
              <a:t>Overskrift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08E2DE-A029-5BB5-1FA4-B82BB8214F0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76962" y="1986246"/>
            <a:ext cx="5618163" cy="4182779"/>
          </a:xfrm>
        </p:spPr>
        <p:txBody>
          <a:bodyPr vert="horz" lIns="0" tIns="0" rIns="0" bIns="0" rtlCol="0">
            <a:noAutofit/>
          </a:bodyPr>
          <a:lstStyle>
            <a:lvl1pPr>
              <a:defRPr lang="en-GB" noProof="0" dirty="0"/>
            </a:lvl1pPr>
            <a:lvl2pPr>
              <a:defRPr lang="en-GB" noProof="0" dirty="0"/>
            </a:lvl2pPr>
            <a:lvl3pPr>
              <a:defRPr lang="en-GB" noProof="0" dirty="0"/>
            </a:lvl3pPr>
            <a:lvl4pPr>
              <a:defRPr lang="en-GB" noProof="0" dirty="0"/>
            </a:lvl4pPr>
            <a:lvl5pPr>
              <a:defRPr lang="en-GB" noProof="0" dirty="0"/>
            </a:lvl5pPr>
            <a:lvl6pPr>
              <a:defRPr lang="en-GB" noProof="0" dirty="0"/>
            </a:lvl6pPr>
            <a:lvl7pPr>
              <a:defRPr lang="en-GB" noProof="0" dirty="0"/>
            </a:lvl7pPr>
            <a:lvl8pPr>
              <a:defRPr lang="en-GB" noProof="0" dirty="0"/>
            </a:lvl8pPr>
            <a:lvl9pPr>
              <a:defRPr lang="en-GB" noProof="0" dirty="0"/>
            </a:lvl9pPr>
          </a:lstStyle>
          <a:p>
            <a:pPr lvl="0"/>
            <a:r>
              <a:rPr lang="da-DK" noProof="0" dirty="0"/>
              <a:t>Click to add text                                                                                      Press ENTER then TAB to view next text style                                                                Press SHIFT+TAB to view previous text style</a:t>
            </a:r>
          </a:p>
          <a:p>
            <a:pPr lvl="1"/>
            <a:r>
              <a:rPr lang="da-DK" noProof="0" dirty="0"/>
              <a:t>Second level</a:t>
            </a:r>
          </a:p>
          <a:p>
            <a:pPr lvl="2"/>
            <a:r>
              <a:rPr lang="da-DK" noProof="0" dirty="0"/>
              <a:t>Third level</a:t>
            </a:r>
          </a:p>
          <a:p>
            <a:pPr lvl="3"/>
            <a:r>
              <a:rPr lang="da-DK" noProof="0" dirty="0"/>
              <a:t>Fourth level</a:t>
            </a:r>
          </a:p>
          <a:p>
            <a:pPr lvl="4"/>
            <a:r>
              <a:rPr lang="da-DK" noProof="0" dirty="0"/>
              <a:t>Fifth level</a:t>
            </a:r>
          </a:p>
          <a:p>
            <a:pPr lvl="5"/>
            <a:r>
              <a:rPr lang="da-DK" noProof="0" dirty="0"/>
              <a:t>Sixth level</a:t>
            </a:r>
          </a:p>
          <a:p>
            <a:pPr lvl="6"/>
            <a:r>
              <a:rPr lang="da-DK" noProof="0" dirty="0"/>
              <a:t>Seventh level</a:t>
            </a:r>
          </a:p>
          <a:p>
            <a:pPr lvl="7"/>
            <a:r>
              <a:rPr lang="da-DK" noProof="0" dirty="0"/>
              <a:t>Eighth level</a:t>
            </a:r>
          </a:p>
          <a:p>
            <a:pPr lvl="8"/>
            <a:r>
              <a:rPr lang="da-DK" noProof="0" dirty="0"/>
              <a:t>Ninth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6B4BB3-A163-E970-25BB-A322034649A7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Foto + 1 indhold</a:t>
            </a:r>
          </a:p>
        </p:txBody>
      </p:sp>
    </p:spTree>
    <p:extLst>
      <p:ext uri="{BB962C8B-B14F-4D97-AF65-F5344CB8AC3E}">
        <p14:creationId xmlns:p14="http://schemas.microsoft.com/office/powerpoint/2010/main" val="2695808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1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+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3740E63-FE5A-40EF-8F52-2CDC77D09B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6964" y="395288"/>
            <a:ext cx="5618162" cy="5773737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4" y="395288"/>
            <a:ext cx="4654551" cy="663600"/>
          </a:xfrm>
        </p:spPr>
        <p:txBody>
          <a:bodyPr/>
          <a:lstStyle/>
          <a:p>
            <a:r>
              <a:rPr lang="da-DK" dirty="0"/>
              <a:t>Overskrift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873" y="1987550"/>
            <a:ext cx="4654551" cy="4181475"/>
          </a:xfrm>
        </p:spPr>
        <p:txBody>
          <a:bodyPr vert="horz" lIns="0" tIns="0" rIns="0" bIns="0" rtlCol="0">
            <a:noAutofit/>
          </a:bodyPr>
          <a:lstStyle>
            <a:lvl1pPr>
              <a:defRPr lang="en-GB" noProof="0" dirty="0"/>
            </a:lvl1pPr>
            <a:lvl2pPr>
              <a:defRPr lang="en-GB" noProof="0" dirty="0"/>
            </a:lvl2pPr>
            <a:lvl3pPr>
              <a:defRPr lang="en-GB" noProof="0" dirty="0"/>
            </a:lvl3pPr>
            <a:lvl4pPr>
              <a:defRPr lang="en-GB" noProof="0" dirty="0"/>
            </a:lvl4pPr>
            <a:lvl5pPr>
              <a:defRPr lang="en-GB" noProof="0" dirty="0"/>
            </a:lvl5pPr>
            <a:lvl6pPr>
              <a:defRPr lang="en-GB" noProof="0" dirty="0"/>
            </a:lvl6pPr>
            <a:lvl7pPr>
              <a:defRPr lang="en-GB" noProof="0" dirty="0"/>
            </a:lvl7pPr>
            <a:lvl8pPr>
              <a:defRPr lang="en-GB" noProof="0" dirty="0"/>
            </a:lvl8pPr>
            <a:lvl9pPr>
              <a:defRPr lang="en-GB" noProof="0" dirty="0"/>
            </a:lvl9pPr>
          </a:lstStyle>
          <a:p>
            <a:pPr lvl="0"/>
            <a:r>
              <a:rPr lang="da-DK" noProof="0" dirty="0"/>
              <a:t>Click to add text                                                                                      Press ENTER then TAB to view next text style                                                                Press SHIFT+TAB to view previous text style</a:t>
            </a:r>
          </a:p>
          <a:p>
            <a:pPr lvl="1"/>
            <a:r>
              <a:rPr lang="da-DK" noProof="0" dirty="0"/>
              <a:t>Second level</a:t>
            </a:r>
          </a:p>
          <a:p>
            <a:pPr lvl="2"/>
            <a:r>
              <a:rPr lang="da-DK" noProof="0" dirty="0"/>
              <a:t>Third level</a:t>
            </a:r>
          </a:p>
          <a:p>
            <a:pPr lvl="3"/>
            <a:r>
              <a:rPr lang="da-DK" noProof="0" dirty="0"/>
              <a:t>Fourth level</a:t>
            </a:r>
          </a:p>
          <a:p>
            <a:pPr lvl="4"/>
            <a:r>
              <a:rPr lang="da-DK" noProof="0" dirty="0"/>
              <a:t>Fifth level</a:t>
            </a:r>
          </a:p>
          <a:p>
            <a:pPr lvl="5"/>
            <a:r>
              <a:rPr lang="da-DK" noProof="0" dirty="0"/>
              <a:t>Sixth level</a:t>
            </a:r>
          </a:p>
          <a:p>
            <a:pPr lvl="6"/>
            <a:r>
              <a:rPr lang="da-DK" noProof="0" dirty="0"/>
              <a:t>Seventh level</a:t>
            </a:r>
          </a:p>
          <a:p>
            <a:pPr lvl="7"/>
            <a:r>
              <a:rPr lang="da-DK" noProof="0" dirty="0"/>
              <a:t>Eighth level</a:t>
            </a:r>
          </a:p>
          <a:p>
            <a:pPr lvl="8"/>
            <a:r>
              <a:rPr lang="da-DK" noProof="0" dirty="0"/>
              <a:t>Ninth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42FAB7-A5A7-623F-72C1-C926892C8696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Indhold + foto</a:t>
            </a:r>
          </a:p>
        </p:txBody>
      </p:sp>
    </p:spTree>
    <p:extLst>
      <p:ext uri="{BB962C8B-B14F-4D97-AF65-F5344CB8AC3E}">
        <p14:creationId xmlns:p14="http://schemas.microsoft.com/office/powerpoint/2010/main" val="3619849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3740E63-FE5A-40EF-8F52-2CDC77D09B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40575" y="0"/>
            <a:ext cx="5051425" cy="6858000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E748F-03E8-47BE-9817-391815934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395288"/>
            <a:ext cx="5618162" cy="663600"/>
          </a:xfrm>
        </p:spPr>
        <p:txBody>
          <a:bodyPr/>
          <a:lstStyle/>
          <a:p>
            <a:r>
              <a:rPr lang="da-DK" dirty="0"/>
              <a:t>Overskrift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875" y="1991120"/>
            <a:ext cx="2727326" cy="4176825"/>
          </a:xfrm>
        </p:spPr>
        <p:txBody>
          <a:bodyPr vert="horz" lIns="0" tIns="0" rIns="0" bIns="0" rtlCol="0">
            <a:noAutofit/>
          </a:bodyPr>
          <a:lstStyle>
            <a:lvl1pPr>
              <a:defRPr lang="en-GB" sz="1200" noProof="0" dirty="0"/>
            </a:lvl1pPr>
            <a:lvl2pPr>
              <a:defRPr lang="en-GB" sz="1200" noProof="0" dirty="0"/>
            </a:lvl2pPr>
            <a:lvl3pPr>
              <a:defRPr lang="en-GB" sz="1200" noProof="0" dirty="0"/>
            </a:lvl3pPr>
            <a:lvl4pPr>
              <a:defRPr lang="en-GB" sz="1200" noProof="0" dirty="0"/>
            </a:lvl4pPr>
            <a:lvl5pPr>
              <a:defRPr lang="en-GB" sz="1200" noProof="0" dirty="0"/>
            </a:lvl5pPr>
            <a:lvl6pPr>
              <a:defRPr lang="en-GB" sz="1600" noProof="0" dirty="0"/>
            </a:lvl6pPr>
            <a:lvl7pPr>
              <a:defRPr lang="en-GB" sz="1600" noProof="0" dirty="0"/>
            </a:lvl7pPr>
            <a:lvl8pPr>
              <a:defRPr lang="en-GB" sz="1600" noProof="0" dirty="0"/>
            </a:lvl8pPr>
            <a:lvl9pPr>
              <a:defRPr lang="en-GB" noProof="0" dirty="0"/>
            </a:lvl9pPr>
          </a:lstStyle>
          <a:p>
            <a:pPr lvl="0"/>
            <a:r>
              <a:rPr lang="da-DK" noProof="0" dirty="0"/>
              <a:t>Click to </a:t>
            </a:r>
            <a:r>
              <a:rPr lang="da-DK" noProof="0" dirty="0" err="1"/>
              <a:t>add</a:t>
            </a:r>
            <a:r>
              <a:rPr lang="da-DK" noProof="0" dirty="0"/>
              <a:t> </a:t>
            </a:r>
            <a:r>
              <a:rPr lang="da-DK" noProof="0" dirty="0" err="1"/>
              <a:t>text</a:t>
            </a:r>
            <a:r>
              <a:rPr lang="da-DK" noProof="0" dirty="0"/>
              <a:t>                                Press ENTER </a:t>
            </a:r>
            <a:r>
              <a:rPr lang="da-DK" noProof="0" dirty="0" err="1"/>
              <a:t>then</a:t>
            </a:r>
            <a:r>
              <a:rPr lang="da-DK" noProof="0" dirty="0"/>
              <a:t> TAB to view </a:t>
            </a:r>
            <a:r>
              <a:rPr lang="da-DK" noProof="0" dirty="0" err="1"/>
              <a:t>next</a:t>
            </a:r>
            <a:r>
              <a:rPr lang="da-DK" noProof="0" dirty="0"/>
              <a:t> </a:t>
            </a:r>
            <a:r>
              <a:rPr lang="da-DK" noProof="0" dirty="0" err="1"/>
              <a:t>text</a:t>
            </a:r>
            <a:r>
              <a:rPr lang="da-DK" noProof="0" dirty="0"/>
              <a:t> style    Press SHIFT+TAB to view </a:t>
            </a:r>
            <a:r>
              <a:rPr lang="da-DK" noProof="0" dirty="0" err="1"/>
              <a:t>previous</a:t>
            </a:r>
            <a:r>
              <a:rPr lang="da-DK" noProof="0" dirty="0"/>
              <a:t> </a:t>
            </a:r>
            <a:r>
              <a:rPr lang="da-DK" noProof="0" dirty="0" err="1"/>
              <a:t>text</a:t>
            </a:r>
            <a:r>
              <a:rPr lang="da-DK" noProof="0" dirty="0"/>
              <a:t> style</a:t>
            </a:r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5"/>
            <a:r>
              <a:rPr lang="da-DK" noProof="0" dirty="0" err="1"/>
              <a:t>Sixth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6"/>
            <a:r>
              <a:rPr lang="da-DK" noProof="0" dirty="0" err="1"/>
              <a:t>Seventh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7"/>
            <a:r>
              <a:rPr lang="da-DK" noProof="0" dirty="0" err="1"/>
              <a:t>Eighth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8"/>
            <a:r>
              <a:rPr lang="da-DK" noProof="0" dirty="0"/>
              <a:t>Ninth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72FAD3-8E6B-1BAD-169F-7CFA0CB6DD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CD98A2-EED4-8B7C-BD86-E1C052CDF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40FA6F-B337-F307-0915-EB8BCA4C70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3FDE0AD-679D-42A2-8779-B8C04C86349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86125" y="1996530"/>
            <a:ext cx="2727325" cy="417141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</a:lstStyle>
          <a:p>
            <a:pPr lvl="0"/>
            <a:r>
              <a:rPr lang="da-DK" noProof="0" dirty="0"/>
              <a:t>Click to add text                   Press ENTER then TAB to view next text style     Press SHIFT+TAB to view previous text style</a:t>
            </a:r>
          </a:p>
          <a:p>
            <a:pPr lvl="1"/>
            <a:r>
              <a:rPr lang="da-DK" noProof="0" dirty="0"/>
              <a:t>Second level</a:t>
            </a:r>
          </a:p>
          <a:p>
            <a:pPr lvl="2"/>
            <a:r>
              <a:rPr lang="da-DK" noProof="0" dirty="0"/>
              <a:t>Third level</a:t>
            </a:r>
          </a:p>
          <a:p>
            <a:pPr lvl="3"/>
            <a:r>
              <a:rPr lang="da-DK" noProof="0" dirty="0"/>
              <a:t>Fourth level</a:t>
            </a:r>
          </a:p>
          <a:p>
            <a:pPr lvl="4"/>
            <a:r>
              <a:rPr lang="da-DK" noProof="0" dirty="0"/>
              <a:t>Fifth level</a:t>
            </a:r>
          </a:p>
          <a:p>
            <a:pPr lvl="5"/>
            <a:r>
              <a:rPr lang="da-DK" noProof="0" dirty="0"/>
              <a:t>Sixth level</a:t>
            </a:r>
          </a:p>
          <a:p>
            <a:pPr lvl="6"/>
            <a:r>
              <a:rPr lang="da-DK" noProof="0" dirty="0"/>
              <a:t>Seventh level</a:t>
            </a:r>
          </a:p>
          <a:p>
            <a:pPr lvl="7"/>
            <a:r>
              <a:rPr lang="da-DK" noProof="0" dirty="0"/>
              <a:t>Eighth level</a:t>
            </a:r>
          </a:p>
          <a:p>
            <a:pPr lvl="8"/>
            <a:r>
              <a:rPr lang="da-DK" noProof="0" dirty="0"/>
              <a:t>Ninth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B1B277-F49A-9F26-E8C6-519E5309D914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Indhold + foto</a:t>
            </a:r>
          </a:p>
        </p:txBody>
      </p:sp>
    </p:spTree>
    <p:extLst>
      <p:ext uri="{BB962C8B-B14F-4D97-AF65-F5344CB8AC3E}">
        <p14:creationId xmlns:p14="http://schemas.microsoft.com/office/powerpoint/2010/main" val="2041221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s +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85318E54-A7C0-43F8-8747-5AE35BED7D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8466" y="395288"/>
            <a:ext cx="3690356" cy="4710112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3FC1B8-5DC5-D625-22D8-6C2DCE2850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455" y="5275265"/>
            <a:ext cx="3690357" cy="20160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9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22847D-1286-FB1C-A798-648BE3B317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5288" y="5476873"/>
            <a:ext cx="3692525" cy="69215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9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CC7EE0D-8814-2C8D-79DC-AB6E380321B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0821" y="395288"/>
            <a:ext cx="3690356" cy="4710112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1DB00DC-E79F-8615-46A9-6F737BE6C2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52988" y="5275265"/>
            <a:ext cx="3690357" cy="20160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9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F78F743-0C90-77DE-007A-073A0370E6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50821" y="5476873"/>
            <a:ext cx="3692525" cy="69215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9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4462F0-1726-4082-6035-3C25B9853E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03177" y="395288"/>
            <a:ext cx="3690356" cy="4710112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dirty="0"/>
              <a:t>Klik for at tilføje billede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8980B853-E42B-B67D-B3DE-E9B429306F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05344" y="5275265"/>
            <a:ext cx="3690357" cy="20160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Clever Sans OFFC" pitchFamily="34" charset="0"/>
              </a:defRPr>
            </a:lvl9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199EFB2E-0391-5448-F03B-13CFCE29D1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03177" y="5476873"/>
            <a:ext cx="3692525" cy="69215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200">
                <a:latin typeface="+mn-lt"/>
              </a:defRPr>
            </a:lvl9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570FA-4119-C242-E77B-C06328ABA8B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6DAF5C-34D1-7307-182C-7173FE7A63A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70D7E55-6FEA-EE4C-2D06-73C63AFBDE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451CCA1-A8E9-69E5-C82F-4D4CA90E0E76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3 fotos + indhold</a:t>
            </a:r>
          </a:p>
        </p:txBody>
      </p:sp>
    </p:spTree>
    <p:extLst>
      <p:ext uri="{BB962C8B-B14F-4D97-AF65-F5344CB8AC3E}">
        <p14:creationId xmlns:p14="http://schemas.microsoft.com/office/powerpoint/2010/main" val="2179482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4740612-1E6D-A63E-1FE8-ED77C7A7482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138988" y="0"/>
            <a:ext cx="5053012" cy="6858000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noProof="0" dirty="0"/>
              <a:t>Klik for at tilføje billede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289" y="395288"/>
            <a:ext cx="5618162" cy="509111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Clever Sans OFFC" panose="020B0504050501040104" pitchFamily="34" charset="0"/>
              <a:buChar char="​"/>
              <a:defRPr sz="440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lever Sans OFFC" panose="020B0504050501040104" pitchFamily="34" charset="0"/>
              <a:buChar char="​"/>
              <a:defRPr sz="44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lever Sans OFFC" panose="020B0504050501040104" pitchFamily="34" charset="0"/>
              <a:buChar char="​"/>
              <a:defRPr sz="4400" b="0"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 b="0">
                <a:latin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lever Sans OFFC" panose="020B0504050501040104" pitchFamily="34" charset="0"/>
              <a:buChar char="​"/>
              <a:defRPr sz="4400" b="0"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 b="0"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 b="0"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 b="0">
                <a:latin typeface="+mn-lt"/>
              </a:defRPr>
            </a:lvl9pPr>
          </a:lstStyle>
          <a:p>
            <a:r>
              <a:rPr lang="da-DK" dirty="0"/>
              <a:t>Citat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CC952-19AC-0209-74E9-D4A2E3B6C9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48A24-1C7A-F549-ACFE-133BC6B5A6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D93CA-161D-95DB-1FD3-BA440687BF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A45F02-0AC9-922E-6E08-F4B5C088B9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456" y="5683260"/>
            <a:ext cx="3690357" cy="20160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9pPr>
          </a:lstStyle>
          <a:p>
            <a:pPr lvl="0"/>
            <a:r>
              <a:rPr lang="da-DK" dirty="0"/>
              <a:t>Fornavn Efternavn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9DF7DCF-65AE-1CC0-831F-A26BF91F1A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5288" y="5926162"/>
            <a:ext cx="3692525" cy="24286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har char="​"/>
              <a:defRPr sz="1600">
                <a:latin typeface="+mn-lt"/>
              </a:defRPr>
            </a:lvl9pPr>
          </a:lstStyle>
          <a:p>
            <a:pPr lvl="0"/>
            <a:r>
              <a:rPr lang="da-DK" dirty="0"/>
              <a:t>Titel, Position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CB0F7B-E67B-77F5-987D-AE8F53426F5C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Citat + foto</a:t>
            </a:r>
          </a:p>
        </p:txBody>
      </p:sp>
    </p:spTree>
    <p:extLst>
      <p:ext uri="{BB962C8B-B14F-4D97-AF65-F5344CB8AC3E}">
        <p14:creationId xmlns:p14="http://schemas.microsoft.com/office/powerpoint/2010/main" val="388141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4" y="395288"/>
            <a:ext cx="6580189" cy="6636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da-DK" dirty="0"/>
              <a:t>Titel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6F8E9F8-2734-BE09-1AD2-5630510C5EED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DEF7615D-464A-753D-7B75-02D5670803B6}"/>
              </a:ext>
            </a:extLst>
          </p:cNvPr>
          <p:cNvSpPr/>
          <p:nvPr userDrawn="1"/>
        </p:nvSpPr>
        <p:spPr bwMode="white">
          <a:xfrm>
            <a:off x="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4" y="395288"/>
            <a:ext cx="6580189" cy="6636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Titel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6F8E9F8-2734-BE09-1AD2-5630510C5EED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Titel</a:t>
            </a:r>
          </a:p>
        </p:txBody>
      </p:sp>
      <p:sp>
        <p:nvSpPr>
          <p:cNvPr id="8" name="5th element" descr=" ">
            <a:extLst>
              <a:ext uri="{FF2B5EF4-FFF2-40B4-BE49-F238E27FC236}">
                <a16:creationId xmlns:a16="http://schemas.microsoft.com/office/drawing/2014/main" id="{DC3ABF25-846E-6C87-872C-ABB44B4A42E2}"/>
              </a:ext>
            </a:extLst>
          </p:cNvPr>
          <p:cNvSpPr/>
          <p:nvPr userDrawn="1"/>
        </p:nvSpPr>
        <p:spPr>
          <a:xfrm>
            <a:off x="396000" y="6395662"/>
            <a:ext cx="207711" cy="221051"/>
          </a:xfrm>
          <a:custGeom>
            <a:avLst/>
            <a:gdLst>
              <a:gd name="connsiteX0" fmla="*/ 109836 w 207711"/>
              <a:gd name="connsiteY0" fmla="*/ 152989 h 221051"/>
              <a:gd name="connsiteX1" fmla="*/ 134199 w 207711"/>
              <a:gd name="connsiteY1" fmla="*/ 162957 h 221051"/>
              <a:gd name="connsiteX2" fmla="*/ 134199 w 207711"/>
              <a:gd name="connsiteY2" fmla="*/ 211085 h 221051"/>
              <a:gd name="connsiteX3" fmla="*/ 85474 w 207711"/>
              <a:gd name="connsiteY3" fmla="*/ 211085 h 221051"/>
              <a:gd name="connsiteX4" fmla="*/ 85474 w 207711"/>
              <a:gd name="connsiteY4" fmla="*/ 162957 h 221051"/>
              <a:gd name="connsiteX5" fmla="*/ 109836 w 207711"/>
              <a:gd name="connsiteY5" fmla="*/ 152989 h 221051"/>
              <a:gd name="connsiteX6" fmla="*/ 182961 w 207711"/>
              <a:gd name="connsiteY6" fmla="*/ 139441 h 221051"/>
              <a:gd name="connsiteX7" fmla="*/ 207041 w 207711"/>
              <a:gd name="connsiteY7" fmla="*/ 153246 h 221051"/>
              <a:gd name="connsiteX8" fmla="*/ 193066 w 207711"/>
              <a:gd name="connsiteY8" fmla="*/ 177030 h 221051"/>
              <a:gd name="connsiteX9" fmla="*/ 168986 w 207711"/>
              <a:gd name="connsiteY9" fmla="*/ 163226 h 221051"/>
              <a:gd name="connsiteX10" fmla="*/ 182961 w 207711"/>
              <a:gd name="connsiteY10" fmla="*/ 139441 h 221051"/>
              <a:gd name="connsiteX11" fmla="*/ 39377 w 207711"/>
              <a:gd name="connsiteY11" fmla="*/ 71631 h 221051"/>
              <a:gd name="connsiteX12" fmla="*/ 78753 w 207711"/>
              <a:gd name="connsiteY12" fmla="*/ 110525 h 221051"/>
              <a:gd name="connsiteX13" fmla="*/ 39377 w 207711"/>
              <a:gd name="connsiteY13" fmla="*/ 149419 h 221051"/>
              <a:gd name="connsiteX14" fmla="*/ 0 w 207711"/>
              <a:gd name="connsiteY14" fmla="*/ 110525 h 221051"/>
              <a:gd name="connsiteX15" fmla="*/ 39377 w 207711"/>
              <a:gd name="connsiteY15" fmla="*/ 71631 h 221051"/>
              <a:gd name="connsiteX16" fmla="*/ 195554 w 207711"/>
              <a:gd name="connsiteY16" fmla="*/ 44851 h 221051"/>
              <a:gd name="connsiteX17" fmla="*/ 206208 w 207711"/>
              <a:gd name="connsiteY17" fmla="*/ 55375 h 221051"/>
              <a:gd name="connsiteX18" fmla="*/ 195554 w 207711"/>
              <a:gd name="connsiteY18" fmla="*/ 80781 h 221051"/>
              <a:gd name="connsiteX19" fmla="*/ 169832 w 207711"/>
              <a:gd name="connsiteY19" fmla="*/ 70258 h 221051"/>
              <a:gd name="connsiteX20" fmla="*/ 180486 w 207711"/>
              <a:gd name="connsiteY20" fmla="*/ 44851 h 221051"/>
              <a:gd name="connsiteX21" fmla="*/ 195554 w 207711"/>
              <a:gd name="connsiteY21" fmla="*/ 44851 h 221051"/>
              <a:gd name="connsiteX22" fmla="*/ 109836 w 207711"/>
              <a:gd name="connsiteY22" fmla="*/ 0 h 221051"/>
              <a:gd name="connsiteX23" fmla="*/ 134199 w 207711"/>
              <a:gd name="connsiteY23" fmla="*/ 9968 h 221051"/>
              <a:gd name="connsiteX24" fmla="*/ 134199 w 207711"/>
              <a:gd name="connsiteY24" fmla="*/ 58095 h 221051"/>
              <a:gd name="connsiteX25" fmla="*/ 85474 w 207711"/>
              <a:gd name="connsiteY25" fmla="*/ 58095 h 221051"/>
              <a:gd name="connsiteX26" fmla="*/ 85474 w 207711"/>
              <a:gd name="connsiteY26" fmla="*/ 9968 h 221051"/>
              <a:gd name="connsiteX27" fmla="*/ 109836 w 207711"/>
              <a:gd name="connsiteY27" fmla="*/ 0 h 22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7711" h="221051">
                <a:moveTo>
                  <a:pt x="109836" y="152989"/>
                </a:moveTo>
                <a:cubicBezTo>
                  <a:pt x="118654" y="152989"/>
                  <a:pt x="127471" y="156312"/>
                  <a:pt x="134199" y="162957"/>
                </a:cubicBezTo>
                <a:cubicBezTo>
                  <a:pt x="147654" y="176246"/>
                  <a:pt x="147654" y="197794"/>
                  <a:pt x="134199" y="211085"/>
                </a:cubicBezTo>
                <a:cubicBezTo>
                  <a:pt x="120743" y="224374"/>
                  <a:pt x="98930" y="224374"/>
                  <a:pt x="85474" y="211085"/>
                </a:cubicBezTo>
                <a:cubicBezTo>
                  <a:pt x="72019" y="197794"/>
                  <a:pt x="72019" y="176246"/>
                  <a:pt x="85474" y="162957"/>
                </a:cubicBezTo>
                <a:cubicBezTo>
                  <a:pt x="92202" y="156312"/>
                  <a:pt x="101019" y="152989"/>
                  <a:pt x="109836" y="152989"/>
                </a:cubicBezTo>
                <a:close/>
                <a:moveTo>
                  <a:pt x="182961" y="139441"/>
                </a:moveTo>
                <a:cubicBezTo>
                  <a:pt x="193469" y="136685"/>
                  <a:pt x="204250" y="142866"/>
                  <a:pt x="207041" y="153246"/>
                </a:cubicBezTo>
                <a:cubicBezTo>
                  <a:pt x="209831" y="163625"/>
                  <a:pt x="203574" y="174274"/>
                  <a:pt x="193066" y="177030"/>
                </a:cubicBezTo>
                <a:cubicBezTo>
                  <a:pt x="182557" y="179786"/>
                  <a:pt x="171776" y="173605"/>
                  <a:pt x="168986" y="163226"/>
                </a:cubicBezTo>
                <a:cubicBezTo>
                  <a:pt x="166196" y="152846"/>
                  <a:pt x="172452" y="142198"/>
                  <a:pt x="182961" y="139441"/>
                </a:cubicBezTo>
                <a:close/>
                <a:moveTo>
                  <a:pt x="39377" y="71631"/>
                </a:moveTo>
                <a:cubicBezTo>
                  <a:pt x="61124" y="71631"/>
                  <a:pt x="78753" y="89045"/>
                  <a:pt x="78753" y="110525"/>
                </a:cubicBezTo>
                <a:cubicBezTo>
                  <a:pt x="78753" y="132006"/>
                  <a:pt x="61124" y="149419"/>
                  <a:pt x="39377" y="149419"/>
                </a:cubicBezTo>
                <a:cubicBezTo>
                  <a:pt x="17630" y="149419"/>
                  <a:pt x="0" y="132006"/>
                  <a:pt x="0" y="110525"/>
                </a:cubicBezTo>
                <a:cubicBezTo>
                  <a:pt x="0" y="89045"/>
                  <a:pt x="17630" y="71631"/>
                  <a:pt x="39377" y="71631"/>
                </a:cubicBezTo>
                <a:close/>
                <a:moveTo>
                  <a:pt x="195554" y="44851"/>
                </a:moveTo>
                <a:cubicBezTo>
                  <a:pt x="200208" y="46755"/>
                  <a:pt x="204127" y="50414"/>
                  <a:pt x="206208" y="55375"/>
                </a:cubicBezTo>
                <a:cubicBezTo>
                  <a:pt x="210369" y="65297"/>
                  <a:pt x="205599" y="76671"/>
                  <a:pt x="195554" y="80781"/>
                </a:cubicBezTo>
                <a:cubicBezTo>
                  <a:pt x="185509" y="84891"/>
                  <a:pt x="173993" y="80179"/>
                  <a:pt x="169832" y="70258"/>
                </a:cubicBezTo>
                <a:cubicBezTo>
                  <a:pt x="165671" y="60336"/>
                  <a:pt x="170441" y="48961"/>
                  <a:pt x="180486" y="44851"/>
                </a:cubicBezTo>
                <a:cubicBezTo>
                  <a:pt x="185509" y="42796"/>
                  <a:pt x="190899" y="42947"/>
                  <a:pt x="195554" y="44851"/>
                </a:cubicBezTo>
                <a:close/>
                <a:moveTo>
                  <a:pt x="109836" y="0"/>
                </a:moveTo>
                <a:cubicBezTo>
                  <a:pt x="118654" y="0"/>
                  <a:pt x="127471" y="3323"/>
                  <a:pt x="134199" y="9968"/>
                </a:cubicBezTo>
                <a:cubicBezTo>
                  <a:pt x="147654" y="23258"/>
                  <a:pt x="147654" y="44805"/>
                  <a:pt x="134199" y="58095"/>
                </a:cubicBezTo>
                <a:cubicBezTo>
                  <a:pt x="120743" y="71385"/>
                  <a:pt x="98930" y="71385"/>
                  <a:pt x="85474" y="58095"/>
                </a:cubicBezTo>
                <a:cubicBezTo>
                  <a:pt x="72019" y="44805"/>
                  <a:pt x="72019" y="23258"/>
                  <a:pt x="85474" y="9968"/>
                </a:cubicBezTo>
                <a:cubicBezTo>
                  <a:pt x="92202" y="3323"/>
                  <a:pt x="101019" y="0"/>
                  <a:pt x="109836" y="0"/>
                </a:cubicBezTo>
                <a:close/>
              </a:path>
            </a:pathLst>
          </a:custGeom>
          <a:solidFill>
            <a:schemeClr val="bg1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85415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kas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A864F46F-F519-D52E-F8E3-C5760EEF0602}"/>
              </a:ext>
            </a:extLst>
          </p:cNvPr>
          <p:cNvSpPr/>
          <p:nvPr userDrawn="1"/>
        </p:nvSpPr>
        <p:spPr>
          <a:xfrm>
            <a:off x="8102600" y="1834856"/>
            <a:ext cx="3692413" cy="3197633"/>
          </a:xfrm>
          <a:prstGeom prst="rect">
            <a:avLst/>
          </a:prstGeom>
          <a:solidFill>
            <a:srgbClr val="D0CBC7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E3DAD7B-4285-EFF3-4DC3-1FB54F7C2672}"/>
              </a:ext>
            </a:extLst>
          </p:cNvPr>
          <p:cNvSpPr/>
          <p:nvPr userDrawn="1"/>
        </p:nvSpPr>
        <p:spPr>
          <a:xfrm>
            <a:off x="4249738" y="1834856"/>
            <a:ext cx="3692413" cy="3197633"/>
          </a:xfrm>
          <a:prstGeom prst="rect">
            <a:avLst/>
          </a:prstGeom>
          <a:solidFill>
            <a:srgbClr val="D0CBC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4" y="395288"/>
            <a:ext cx="6580189" cy="6636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da-DK" dirty="0"/>
              <a:t>Titel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964137-5B8A-F803-BED7-0CB16668A1FA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Titel + 3 kasser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65B527F-7C40-4609-320A-7AB68660B1E0}"/>
              </a:ext>
            </a:extLst>
          </p:cNvPr>
          <p:cNvSpPr/>
          <p:nvPr userDrawn="1"/>
        </p:nvSpPr>
        <p:spPr>
          <a:xfrm>
            <a:off x="395287" y="1834856"/>
            <a:ext cx="3692525" cy="3197633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AA66FA-764A-8AA3-E94A-21885A25942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96332" y="3586499"/>
            <a:ext cx="2890434" cy="1055243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61898F6-E72B-14E8-79A4-C97BFB780E8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796332" y="2495227"/>
            <a:ext cx="2890434" cy="862571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77412C5-D8F6-F3AE-077E-D1E156D0141E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50727" y="3586499"/>
            <a:ext cx="2890434" cy="1055243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E2F788D-4017-F1A2-D795-175AFD529C9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50727" y="2495227"/>
            <a:ext cx="2890434" cy="862571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205DC0B-EA98-74A3-46AF-1C9D9AE7801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503589" y="3586499"/>
            <a:ext cx="2890434" cy="1055243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95CCC0-A366-053C-D320-47919DD2C16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503589" y="2495227"/>
            <a:ext cx="2890434" cy="862571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</p:spTree>
    <p:extLst>
      <p:ext uri="{BB962C8B-B14F-4D97-AF65-F5344CB8AC3E}">
        <p14:creationId xmlns:p14="http://schemas.microsoft.com/office/powerpoint/2010/main" val="4108884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kas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A54E06FB-FEF7-3858-E035-ABF69668AEE1}"/>
              </a:ext>
            </a:extLst>
          </p:cNvPr>
          <p:cNvSpPr/>
          <p:nvPr userDrawn="1"/>
        </p:nvSpPr>
        <p:spPr>
          <a:xfrm>
            <a:off x="6178168" y="1834856"/>
            <a:ext cx="2728800" cy="3197633"/>
          </a:xfrm>
          <a:prstGeom prst="rect">
            <a:avLst/>
          </a:prstGeom>
          <a:solidFill>
            <a:srgbClr val="D0CBC7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D61354A-4588-7C5E-DAF2-D525AEBB3DFE}"/>
              </a:ext>
            </a:extLst>
          </p:cNvPr>
          <p:cNvSpPr/>
          <p:nvPr userDrawn="1"/>
        </p:nvSpPr>
        <p:spPr>
          <a:xfrm>
            <a:off x="3287688" y="1834856"/>
            <a:ext cx="2728800" cy="3197633"/>
          </a:xfrm>
          <a:prstGeom prst="rect">
            <a:avLst/>
          </a:prstGeom>
          <a:solidFill>
            <a:srgbClr val="D0CBC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4" y="395288"/>
            <a:ext cx="6580189" cy="6636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da-DK" dirty="0"/>
              <a:t>Titel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12D6-48ED-4B03-85DE-25086AAC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AB716-0309-754C-0B7E-73C48AD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AA5-6588-9A37-5A5C-D63E7CD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37A3927-D21D-16FC-C6EE-02DD8271706A}"/>
              </a:ext>
            </a:extLst>
          </p:cNvPr>
          <p:cNvSpPr/>
          <p:nvPr userDrawn="1"/>
        </p:nvSpPr>
        <p:spPr>
          <a:xfrm>
            <a:off x="395288" y="1834856"/>
            <a:ext cx="2728800" cy="3197633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12A294-CCF1-AE7C-A37F-FA3557A016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5176" y="3690441"/>
            <a:ext cx="2069024" cy="102104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964137-5B8A-F803-BED7-0CB16668A1FA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Titel + 4 kasser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73D125-2BA0-D7F6-02C2-43458C2CEF1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5176" y="2347993"/>
            <a:ext cx="2069024" cy="1009806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CF4086F1-65C7-5FBE-B983-D54A9A927CA7}"/>
              </a:ext>
            </a:extLst>
          </p:cNvPr>
          <p:cNvSpPr/>
          <p:nvPr userDrawn="1"/>
        </p:nvSpPr>
        <p:spPr>
          <a:xfrm>
            <a:off x="9066325" y="1834856"/>
            <a:ext cx="2728800" cy="3197633"/>
          </a:xfrm>
          <a:prstGeom prst="rect">
            <a:avLst/>
          </a:prstGeom>
          <a:solidFill>
            <a:srgbClr val="D0CB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131F081-035C-9674-12CA-A0DE4CBBB5F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617576" y="3690441"/>
            <a:ext cx="2069024" cy="102104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354EA8D-585C-8FBE-0A2B-3AFDDEC2A08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15522" y="2347993"/>
            <a:ext cx="2069024" cy="1009806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A501DD8-B66B-DDE3-7C6F-CF65D96DA5B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508056" y="3690441"/>
            <a:ext cx="2069024" cy="102104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5C85C77-1202-CC0D-8BA0-6C651BAD52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05868" y="2347993"/>
            <a:ext cx="2069024" cy="1009806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A0E56FC-139E-B0A8-CEA2-DC389B849D6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9396213" y="3690441"/>
            <a:ext cx="2069024" cy="102104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buNone/>
              <a:defRPr lang="en-GB" noProof="0" dirty="0"/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24EBE32-633B-9431-BFFF-D61E71B6A3DD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9396213" y="2347993"/>
            <a:ext cx="2069024" cy="1009806"/>
          </a:xfrm>
        </p:spPr>
        <p:txBody>
          <a:bodyPr vert="horz" lIns="0" tIns="0" rIns="0" bIns="0" rtlCol="0" anchor="b">
            <a:normAutofit/>
          </a:bodyPr>
          <a:lstStyle>
            <a:lvl1pPr marL="0" indent="0" algn="ctr">
              <a:buNone/>
              <a:defRPr lang="en-GB" sz="4000" noProof="0" dirty="0">
                <a:latin typeface="+mj-lt"/>
              </a:defRPr>
            </a:lvl1pPr>
            <a:lvl2pPr marL="180000" indent="0" algn="ctr">
              <a:buNone/>
              <a:defRPr lang="en-GB" noProof="0" dirty="0"/>
            </a:lvl2pPr>
            <a:lvl3pPr marL="360000" indent="0" algn="ctr">
              <a:buNone/>
              <a:defRPr lang="en-GB" noProof="0" dirty="0"/>
            </a:lvl3pPr>
            <a:lvl4pPr algn="ctr">
              <a:buNone/>
              <a:defRPr lang="en-GB" noProof="0" dirty="0"/>
            </a:lvl4pPr>
            <a:lvl5pPr algn="ctr">
              <a:buNone/>
              <a:defRPr lang="en-GB" noProof="0" dirty="0"/>
            </a:lvl5pPr>
            <a:lvl6pPr marL="0" indent="0" algn="ctr">
              <a:buNone/>
              <a:defRPr lang="en-GB" noProof="0" dirty="0"/>
            </a:lvl6pPr>
            <a:lvl7pPr algn="ctr">
              <a:buNone/>
              <a:defRPr lang="en-GB" noProof="0" dirty="0"/>
            </a:lvl7pPr>
            <a:lvl8pPr algn="ctr">
              <a:buNone/>
              <a:defRPr lang="en-GB" noProof="0" dirty="0"/>
            </a:lvl8pPr>
            <a:lvl9pPr algn="ctr">
              <a:buNone/>
              <a:defRPr lang="en-GB" noProof="0" dirty="0"/>
            </a:lvl9pPr>
          </a:lstStyle>
          <a:p>
            <a:pPr lvl="0"/>
            <a:r>
              <a:rPr lang="da-DK" noProof="0" dirty="0"/>
              <a:t>Klik for at tilføje tekst</a:t>
            </a:r>
          </a:p>
        </p:txBody>
      </p:sp>
    </p:spTree>
    <p:extLst>
      <p:ext uri="{BB962C8B-B14F-4D97-AF65-F5344CB8AC3E}">
        <p14:creationId xmlns:p14="http://schemas.microsoft.com/office/powerpoint/2010/main" val="3423331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B4C6A-FC10-1448-1E27-DF64D124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B82B7-12B0-864B-83F7-D649A621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DAA7C-CC91-E906-0AE1-7AD8B854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DB44F-D7E6-B567-B773-E8016FFD0EBF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Tomt slide</a:t>
            </a:r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F54DBC17-DB6C-C66F-7CB7-C36ABDDD63DD}"/>
              </a:ext>
            </a:extLst>
          </p:cNvPr>
          <p:cNvSpPr/>
          <p:nvPr userDrawn="1"/>
        </p:nvSpPr>
        <p:spPr bwMode="white">
          <a:xfrm>
            <a:off x="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sp>
        <p:nvSpPr>
          <p:cNvPr id="4" name="Logo" descr=" ">
            <a:extLst>
              <a:ext uri="{FF2B5EF4-FFF2-40B4-BE49-F238E27FC236}">
                <a16:creationId xmlns:a16="http://schemas.microsoft.com/office/drawing/2014/main" id="{DE8ACD4C-6B35-EAA5-91CE-1D3FFA749A21}"/>
              </a:ext>
            </a:extLst>
          </p:cNvPr>
          <p:cNvSpPr/>
          <p:nvPr userDrawn="1"/>
        </p:nvSpPr>
        <p:spPr bwMode="black">
          <a:xfrm>
            <a:off x="4366261" y="3095144"/>
            <a:ext cx="3459480" cy="667714"/>
          </a:xfrm>
          <a:custGeom>
            <a:avLst/>
            <a:gdLst>
              <a:gd name="connsiteX0" fmla="*/ 269537 w 2300296"/>
              <a:gd name="connsiteY0" fmla="*/ 20020 h 443979"/>
              <a:gd name="connsiteX1" fmla="*/ 269537 w 2300296"/>
              <a:gd name="connsiteY1" fmla="*/ 116683 h 443979"/>
              <a:gd name="connsiteX2" fmla="*/ 171674 w 2300296"/>
              <a:gd name="connsiteY2" fmla="*/ 116683 h 443979"/>
              <a:gd name="connsiteX3" fmla="*/ 171674 w 2300296"/>
              <a:gd name="connsiteY3" fmla="*/ 20020 h 443979"/>
              <a:gd name="connsiteX4" fmla="*/ 269537 w 2300296"/>
              <a:gd name="connsiteY4" fmla="*/ 20020 h 443979"/>
              <a:gd name="connsiteX5" fmla="*/ 1039400 w 2300296"/>
              <a:gd name="connsiteY5" fmla="*/ 353120 h 443979"/>
              <a:gd name="connsiteX6" fmla="*/ 1070525 w 2300296"/>
              <a:gd name="connsiteY6" fmla="*/ 353120 h 443979"/>
              <a:gd name="connsiteX7" fmla="*/ 1070525 w 2300296"/>
              <a:gd name="connsiteY7" fmla="*/ 79221 h 443979"/>
              <a:gd name="connsiteX8" fmla="*/ 1039400 w 2300296"/>
              <a:gd name="connsiteY8" fmla="*/ 79221 h 443979"/>
              <a:gd name="connsiteX9" fmla="*/ 1039400 w 2300296"/>
              <a:gd name="connsiteY9" fmla="*/ 353120 h 443979"/>
              <a:gd name="connsiteX10" fmla="*/ 2300196 w 2300296"/>
              <a:gd name="connsiteY10" fmla="*/ 162323 h 443979"/>
              <a:gd name="connsiteX11" fmla="*/ 2300297 w 2300296"/>
              <a:gd name="connsiteY11" fmla="*/ 162346 h 443979"/>
              <a:gd name="connsiteX12" fmla="*/ 2300234 w 2300296"/>
              <a:gd name="connsiteY12" fmla="*/ 162346 h 443979"/>
              <a:gd name="connsiteX13" fmla="*/ 2300234 w 2300296"/>
              <a:gd name="connsiteY13" fmla="*/ 192331 h 443979"/>
              <a:gd name="connsiteX14" fmla="*/ 2273120 w 2300296"/>
              <a:gd name="connsiteY14" fmla="*/ 188405 h 443979"/>
              <a:gd name="connsiteX15" fmla="*/ 2203915 w 2300296"/>
              <a:gd name="connsiteY15" fmla="*/ 271359 h 443979"/>
              <a:gd name="connsiteX16" fmla="*/ 2203915 w 2300296"/>
              <a:gd name="connsiteY16" fmla="*/ 353062 h 443979"/>
              <a:gd name="connsiteX17" fmla="*/ 2172784 w 2300296"/>
              <a:gd name="connsiteY17" fmla="*/ 353062 h 443979"/>
              <a:gd name="connsiteX18" fmla="*/ 2172784 w 2300296"/>
              <a:gd name="connsiteY18" fmla="*/ 163029 h 443979"/>
              <a:gd name="connsiteX19" fmla="*/ 2203915 w 2300296"/>
              <a:gd name="connsiteY19" fmla="*/ 163029 h 443979"/>
              <a:gd name="connsiteX20" fmla="*/ 2203915 w 2300296"/>
              <a:gd name="connsiteY20" fmla="*/ 209684 h 443979"/>
              <a:gd name="connsiteX21" fmla="*/ 2275552 w 2300296"/>
              <a:gd name="connsiteY21" fmla="*/ 159331 h 443979"/>
              <a:gd name="connsiteX22" fmla="*/ 2300196 w 2300296"/>
              <a:gd name="connsiteY22" fmla="*/ 162323 h 443979"/>
              <a:gd name="connsiteX23" fmla="*/ 1314184 w 2300296"/>
              <a:gd name="connsiteY23" fmla="*/ 187267 h 443979"/>
              <a:gd name="connsiteX24" fmla="*/ 1245097 w 2300296"/>
              <a:gd name="connsiteY24" fmla="*/ 244277 h 443979"/>
              <a:gd name="connsiteX25" fmla="*/ 1383275 w 2300296"/>
              <a:gd name="connsiteY25" fmla="*/ 244277 h 443979"/>
              <a:gd name="connsiteX26" fmla="*/ 1314184 w 2300296"/>
              <a:gd name="connsiteY26" fmla="*/ 187267 h 443979"/>
              <a:gd name="connsiteX27" fmla="*/ 1318010 w 2300296"/>
              <a:gd name="connsiteY27" fmla="*/ 356875 h 443979"/>
              <a:gd name="connsiteX28" fmla="*/ 1213220 w 2300296"/>
              <a:gd name="connsiteY28" fmla="*/ 258102 h 443979"/>
              <a:gd name="connsiteX29" fmla="*/ 1314184 w 2300296"/>
              <a:gd name="connsiteY29" fmla="*/ 159387 h 443979"/>
              <a:gd name="connsiteX30" fmla="*/ 1414799 w 2300296"/>
              <a:gd name="connsiteY30" fmla="*/ 258160 h 443979"/>
              <a:gd name="connsiteX31" fmla="*/ 1414051 w 2300296"/>
              <a:gd name="connsiteY31" fmla="*/ 269710 h 443979"/>
              <a:gd name="connsiteX32" fmla="*/ 1244750 w 2300296"/>
              <a:gd name="connsiteY32" fmla="*/ 269710 h 443979"/>
              <a:gd name="connsiteX33" fmla="*/ 1318416 w 2300296"/>
              <a:gd name="connsiteY33" fmla="*/ 328939 h 443979"/>
              <a:gd name="connsiteX34" fmla="*/ 1381488 w 2300296"/>
              <a:gd name="connsiteY34" fmla="*/ 305690 h 443979"/>
              <a:gd name="connsiteX35" fmla="*/ 1382173 w 2300296"/>
              <a:gd name="connsiteY35" fmla="*/ 305098 h 443979"/>
              <a:gd name="connsiteX36" fmla="*/ 1400773 w 2300296"/>
              <a:gd name="connsiteY36" fmla="*/ 327460 h 443979"/>
              <a:gd name="connsiteX37" fmla="*/ 1318010 w 2300296"/>
              <a:gd name="connsiteY37" fmla="*/ 356875 h 443979"/>
              <a:gd name="connsiteX38" fmla="*/ 1930579 w 2300296"/>
              <a:gd name="connsiteY38" fmla="*/ 187267 h 443979"/>
              <a:gd name="connsiteX39" fmla="*/ 1861488 w 2300296"/>
              <a:gd name="connsiteY39" fmla="*/ 244277 h 443979"/>
              <a:gd name="connsiteX40" fmla="*/ 1999657 w 2300296"/>
              <a:gd name="connsiteY40" fmla="*/ 244277 h 443979"/>
              <a:gd name="connsiteX41" fmla="*/ 1930579 w 2300296"/>
              <a:gd name="connsiteY41" fmla="*/ 187267 h 443979"/>
              <a:gd name="connsiteX42" fmla="*/ 1934406 w 2300296"/>
              <a:gd name="connsiteY42" fmla="*/ 356875 h 443979"/>
              <a:gd name="connsiteX43" fmla="*/ 1829610 w 2300296"/>
              <a:gd name="connsiteY43" fmla="*/ 258102 h 443979"/>
              <a:gd name="connsiteX44" fmla="*/ 1930579 w 2300296"/>
              <a:gd name="connsiteY44" fmla="*/ 159387 h 443979"/>
              <a:gd name="connsiteX45" fmla="*/ 2031194 w 2300296"/>
              <a:gd name="connsiteY45" fmla="*/ 258160 h 443979"/>
              <a:gd name="connsiteX46" fmla="*/ 2030446 w 2300296"/>
              <a:gd name="connsiteY46" fmla="*/ 269710 h 443979"/>
              <a:gd name="connsiteX47" fmla="*/ 1861146 w 2300296"/>
              <a:gd name="connsiteY47" fmla="*/ 269710 h 443979"/>
              <a:gd name="connsiteX48" fmla="*/ 1934811 w 2300296"/>
              <a:gd name="connsiteY48" fmla="*/ 328939 h 443979"/>
              <a:gd name="connsiteX49" fmla="*/ 1997884 w 2300296"/>
              <a:gd name="connsiteY49" fmla="*/ 305693 h 443979"/>
              <a:gd name="connsiteX50" fmla="*/ 1998568 w 2300296"/>
              <a:gd name="connsiteY50" fmla="*/ 305098 h 443979"/>
              <a:gd name="connsiteX51" fmla="*/ 2017168 w 2300296"/>
              <a:gd name="connsiteY51" fmla="*/ 327460 h 443979"/>
              <a:gd name="connsiteX52" fmla="*/ 1934406 w 2300296"/>
              <a:gd name="connsiteY52" fmla="*/ 356875 h 443979"/>
              <a:gd name="connsiteX53" fmla="*/ 1622819 w 2300296"/>
              <a:gd name="connsiteY53" fmla="*/ 310390 h 443979"/>
              <a:gd name="connsiteX54" fmla="*/ 1694912 w 2300296"/>
              <a:gd name="connsiteY54" fmla="*/ 163029 h 443979"/>
              <a:gd name="connsiteX55" fmla="*/ 1728767 w 2300296"/>
              <a:gd name="connsiteY55" fmla="*/ 163029 h 443979"/>
              <a:gd name="connsiteX56" fmla="*/ 1622641 w 2300296"/>
              <a:gd name="connsiteY56" fmla="*/ 373260 h 443979"/>
              <a:gd name="connsiteX57" fmla="*/ 1516515 w 2300296"/>
              <a:gd name="connsiteY57" fmla="*/ 163029 h 443979"/>
              <a:gd name="connsiteX58" fmla="*/ 1550662 w 2300296"/>
              <a:gd name="connsiteY58" fmla="*/ 163029 h 443979"/>
              <a:gd name="connsiteX59" fmla="*/ 1622819 w 2300296"/>
              <a:gd name="connsiteY59" fmla="*/ 310390 h 443979"/>
              <a:gd name="connsiteX60" fmla="*/ 800668 w 2300296"/>
              <a:gd name="connsiteY60" fmla="*/ 325866 h 443979"/>
              <a:gd name="connsiteX61" fmla="*/ 878449 w 2300296"/>
              <a:gd name="connsiteY61" fmla="*/ 294915 h 443979"/>
              <a:gd name="connsiteX62" fmla="*/ 900415 w 2300296"/>
              <a:gd name="connsiteY62" fmla="*/ 316990 h 443979"/>
              <a:gd name="connsiteX63" fmla="*/ 800668 w 2300296"/>
              <a:gd name="connsiteY63" fmla="*/ 356704 h 443979"/>
              <a:gd name="connsiteX64" fmla="*/ 657394 w 2300296"/>
              <a:gd name="connsiteY64" fmla="*/ 216057 h 443979"/>
              <a:gd name="connsiteX65" fmla="*/ 800668 w 2300296"/>
              <a:gd name="connsiteY65" fmla="*/ 75409 h 443979"/>
              <a:gd name="connsiteX66" fmla="*/ 899024 w 2300296"/>
              <a:gd name="connsiteY66" fmla="*/ 113871 h 443979"/>
              <a:gd name="connsiteX67" fmla="*/ 877173 w 2300296"/>
              <a:gd name="connsiteY67" fmla="*/ 136117 h 443979"/>
              <a:gd name="connsiteX68" fmla="*/ 800668 w 2300296"/>
              <a:gd name="connsiteY68" fmla="*/ 106361 h 443979"/>
              <a:gd name="connsiteX69" fmla="*/ 688865 w 2300296"/>
              <a:gd name="connsiteY69" fmla="*/ 216113 h 443979"/>
              <a:gd name="connsiteX70" fmla="*/ 800668 w 2300296"/>
              <a:gd name="connsiteY70" fmla="*/ 325866 h 443979"/>
              <a:gd name="connsiteX71" fmla="*/ 414166 w 2300296"/>
              <a:gd name="connsiteY71" fmla="*/ 111219 h 443979"/>
              <a:gd name="connsiteX72" fmla="*/ 362505 w 2300296"/>
              <a:gd name="connsiteY72" fmla="*/ 90083 h 443979"/>
              <a:gd name="connsiteX73" fmla="*/ 341106 w 2300296"/>
              <a:gd name="connsiteY73" fmla="*/ 141112 h 443979"/>
              <a:gd name="connsiteX74" fmla="*/ 392768 w 2300296"/>
              <a:gd name="connsiteY74" fmla="*/ 162248 h 443979"/>
              <a:gd name="connsiteX75" fmla="*/ 414166 w 2300296"/>
              <a:gd name="connsiteY75" fmla="*/ 111219 h 443979"/>
              <a:gd name="connsiteX76" fmla="*/ 415839 w 2300296"/>
              <a:gd name="connsiteY76" fmla="*/ 307792 h 443979"/>
              <a:gd name="connsiteX77" fmla="*/ 387771 w 2300296"/>
              <a:gd name="connsiteY77" fmla="*/ 355563 h 443979"/>
              <a:gd name="connsiteX78" fmla="*/ 339407 w 2300296"/>
              <a:gd name="connsiteY78" fmla="*/ 327837 h 443979"/>
              <a:gd name="connsiteX79" fmla="*/ 367475 w 2300296"/>
              <a:gd name="connsiteY79" fmla="*/ 280066 h 443979"/>
              <a:gd name="connsiteX80" fmla="*/ 415839 w 2300296"/>
              <a:gd name="connsiteY80" fmla="*/ 307792 h 443979"/>
              <a:gd name="connsiteX81" fmla="*/ 79088 w 2300296"/>
              <a:gd name="connsiteY81" fmla="*/ 300106 h 443979"/>
              <a:gd name="connsiteX82" fmla="*/ 158175 w 2300296"/>
              <a:gd name="connsiteY82" fmla="*/ 221987 h 443979"/>
              <a:gd name="connsiteX83" fmla="*/ 79088 w 2300296"/>
              <a:gd name="connsiteY83" fmla="*/ 143869 h 443979"/>
              <a:gd name="connsiteX84" fmla="*/ 0 w 2300296"/>
              <a:gd name="connsiteY84" fmla="*/ 221987 h 443979"/>
              <a:gd name="connsiteX85" fmla="*/ 79088 w 2300296"/>
              <a:gd name="connsiteY85" fmla="*/ 300106 h 443979"/>
              <a:gd name="connsiteX86" fmla="*/ 269537 w 2300296"/>
              <a:gd name="connsiteY86" fmla="*/ 327297 h 443979"/>
              <a:gd name="connsiteX87" fmla="*/ 269537 w 2300296"/>
              <a:gd name="connsiteY87" fmla="*/ 423961 h 443979"/>
              <a:gd name="connsiteX88" fmla="*/ 171674 w 2300296"/>
              <a:gd name="connsiteY88" fmla="*/ 423961 h 443979"/>
              <a:gd name="connsiteX89" fmla="*/ 171674 w 2300296"/>
              <a:gd name="connsiteY89" fmla="*/ 327297 h 443979"/>
              <a:gd name="connsiteX90" fmla="*/ 269537 w 2300296"/>
              <a:gd name="connsiteY90" fmla="*/ 327297 h 44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2300296" h="443979">
                <a:moveTo>
                  <a:pt x="269537" y="20020"/>
                </a:moveTo>
                <a:cubicBezTo>
                  <a:pt x="296561" y="46713"/>
                  <a:pt x="296561" y="89990"/>
                  <a:pt x="269537" y="116683"/>
                </a:cubicBezTo>
                <a:cubicBezTo>
                  <a:pt x="242512" y="143376"/>
                  <a:pt x="198699" y="143376"/>
                  <a:pt x="171674" y="116683"/>
                </a:cubicBezTo>
                <a:cubicBezTo>
                  <a:pt x="144650" y="89990"/>
                  <a:pt x="144650" y="46713"/>
                  <a:pt x="171674" y="20020"/>
                </a:cubicBezTo>
                <a:cubicBezTo>
                  <a:pt x="198699" y="-6673"/>
                  <a:pt x="242512" y="-6673"/>
                  <a:pt x="269537" y="20020"/>
                </a:cubicBezTo>
                <a:close/>
                <a:moveTo>
                  <a:pt x="1039400" y="353120"/>
                </a:moveTo>
                <a:lnTo>
                  <a:pt x="1070525" y="353120"/>
                </a:lnTo>
                <a:lnTo>
                  <a:pt x="1070525" y="79221"/>
                </a:lnTo>
                <a:lnTo>
                  <a:pt x="1039400" y="79221"/>
                </a:lnTo>
                <a:lnTo>
                  <a:pt x="1039400" y="353120"/>
                </a:lnTo>
                <a:close/>
                <a:moveTo>
                  <a:pt x="2300196" y="162323"/>
                </a:moveTo>
                <a:lnTo>
                  <a:pt x="2300297" y="162346"/>
                </a:lnTo>
                <a:lnTo>
                  <a:pt x="2300234" y="162346"/>
                </a:lnTo>
                <a:lnTo>
                  <a:pt x="2300234" y="192331"/>
                </a:lnTo>
                <a:cubicBezTo>
                  <a:pt x="2291200" y="189714"/>
                  <a:pt x="2283598" y="188405"/>
                  <a:pt x="2273120" y="188405"/>
                </a:cubicBezTo>
                <a:cubicBezTo>
                  <a:pt x="2229065" y="188405"/>
                  <a:pt x="2203915" y="225388"/>
                  <a:pt x="2203915" y="271359"/>
                </a:cubicBezTo>
                <a:lnTo>
                  <a:pt x="2203915" y="353062"/>
                </a:lnTo>
                <a:lnTo>
                  <a:pt x="2172784" y="353062"/>
                </a:lnTo>
                <a:lnTo>
                  <a:pt x="2172784" y="163029"/>
                </a:lnTo>
                <a:lnTo>
                  <a:pt x="2203915" y="163029"/>
                </a:lnTo>
                <a:lnTo>
                  <a:pt x="2203915" y="209684"/>
                </a:lnTo>
                <a:cubicBezTo>
                  <a:pt x="2214165" y="184422"/>
                  <a:pt x="2244016" y="159331"/>
                  <a:pt x="2275552" y="159331"/>
                </a:cubicBezTo>
                <a:cubicBezTo>
                  <a:pt x="2287133" y="159331"/>
                  <a:pt x="2293291" y="160740"/>
                  <a:pt x="2300196" y="162323"/>
                </a:cubicBezTo>
                <a:close/>
                <a:moveTo>
                  <a:pt x="1314184" y="187267"/>
                </a:moveTo>
                <a:cubicBezTo>
                  <a:pt x="1277732" y="187267"/>
                  <a:pt x="1250777" y="209628"/>
                  <a:pt x="1245097" y="244277"/>
                </a:cubicBezTo>
                <a:lnTo>
                  <a:pt x="1383275" y="244277"/>
                </a:lnTo>
                <a:cubicBezTo>
                  <a:pt x="1377941" y="209228"/>
                  <a:pt x="1350991" y="187267"/>
                  <a:pt x="1314184" y="187267"/>
                </a:cubicBezTo>
                <a:close/>
                <a:moveTo>
                  <a:pt x="1318010" y="356875"/>
                </a:moveTo>
                <a:cubicBezTo>
                  <a:pt x="1255763" y="356875"/>
                  <a:pt x="1213220" y="315852"/>
                  <a:pt x="1213220" y="258102"/>
                </a:cubicBezTo>
                <a:cubicBezTo>
                  <a:pt x="1213220" y="201035"/>
                  <a:pt x="1255356" y="159331"/>
                  <a:pt x="1314184" y="159387"/>
                </a:cubicBezTo>
                <a:cubicBezTo>
                  <a:pt x="1373417" y="159387"/>
                  <a:pt x="1414799" y="201150"/>
                  <a:pt x="1414799" y="258160"/>
                </a:cubicBezTo>
                <a:cubicBezTo>
                  <a:pt x="1414799" y="262655"/>
                  <a:pt x="1414456" y="266011"/>
                  <a:pt x="1414051" y="269710"/>
                </a:cubicBezTo>
                <a:lnTo>
                  <a:pt x="1244750" y="269710"/>
                </a:lnTo>
                <a:cubicBezTo>
                  <a:pt x="1249734" y="305838"/>
                  <a:pt x="1278188" y="328939"/>
                  <a:pt x="1318416" y="328939"/>
                </a:cubicBezTo>
                <a:cubicBezTo>
                  <a:pt x="1354665" y="328939"/>
                  <a:pt x="1374672" y="311601"/>
                  <a:pt x="1381488" y="305690"/>
                </a:cubicBezTo>
                <a:lnTo>
                  <a:pt x="1382173" y="305098"/>
                </a:lnTo>
                <a:lnTo>
                  <a:pt x="1400773" y="327460"/>
                </a:lnTo>
                <a:cubicBezTo>
                  <a:pt x="1392017" y="336391"/>
                  <a:pt x="1365473" y="356875"/>
                  <a:pt x="1318010" y="356875"/>
                </a:cubicBezTo>
                <a:close/>
                <a:moveTo>
                  <a:pt x="1930579" y="187267"/>
                </a:moveTo>
                <a:cubicBezTo>
                  <a:pt x="1894127" y="187267"/>
                  <a:pt x="1867177" y="209628"/>
                  <a:pt x="1861488" y="244277"/>
                </a:cubicBezTo>
                <a:lnTo>
                  <a:pt x="1999657" y="244277"/>
                </a:lnTo>
                <a:cubicBezTo>
                  <a:pt x="1994336" y="209228"/>
                  <a:pt x="1967386" y="187267"/>
                  <a:pt x="1930579" y="187267"/>
                </a:cubicBezTo>
                <a:close/>
                <a:moveTo>
                  <a:pt x="1934406" y="356875"/>
                </a:moveTo>
                <a:cubicBezTo>
                  <a:pt x="1872157" y="356875"/>
                  <a:pt x="1829610" y="315852"/>
                  <a:pt x="1829610" y="258102"/>
                </a:cubicBezTo>
                <a:cubicBezTo>
                  <a:pt x="1829610" y="201035"/>
                  <a:pt x="1871751" y="159331"/>
                  <a:pt x="1930579" y="159387"/>
                </a:cubicBezTo>
                <a:cubicBezTo>
                  <a:pt x="1989813" y="159387"/>
                  <a:pt x="2031194" y="201150"/>
                  <a:pt x="2031194" y="258160"/>
                </a:cubicBezTo>
                <a:cubicBezTo>
                  <a:pt x="2031194" y="262655"/>
                  <a:pt x="2030852" y="266011"/>
                  <a:pt x="2030446" y="269710"/>
                </a:cubicBezTo>
                <a:lnTo>
                  <a:pt x="1861146" y="269710"/>
                </a:lnTo>
                <a:cubicBezTo>
                  <a:pt x="1866126" y="305838"/>
                  <a:pt x="1894583" y="328939"/>
                  <a:pt x="1934811" y="328939"/>
                </a:cubicBezTo>
                <a:cubicBezTo>
                  <a:pt x="1971061" y="328939"/>
                  <a:pt x="1991054" y="311606"/>
                  <a:pt x="1997884" y="305693"/>
                </a:cubicBezTo>
                <a:lnTo>
                  <a:pt x="1998568" y="305098"/>
                </a:lnTo>
                <a:lnTo>
                  <a:pt x="2017168" y="327460"/>
                </a:lnTo>
                <a:cubicBezTo>
                  <a:pt x="2008425" y="336391"/>
                  <a:pt x="1981868" y="356875"/>
                  <a:pt x="1934406" y="356875"/>
                </a:cubicBezTo>
                <a:close/>
                <a:moveTo>
                  <a:pt x="1622819" y="310390"/>
                </a:moveTo>
                <a:lnTo>
                  <a:pt x="1694912" y="163029"/>
                </a:lnTo>
                <a:lnTo>
                  <a:pt x="1728767" y="163029"/>
                </a:lnTo>
                <a:lnTo>
                  <a:pt x="1622641" y="373260"/>
                </a:lnTo>
                <a:lnTo>
                  <a:pt x="1516515" y="163029"/>
                </a:lnTo>
                <a:lnTo>
                  <a:pt x="1550662" y="163029"/>
                </a:lnTo>
                <a:lnTo>
                  <a:pt x="1622819" y="310390"/>
                </a:lnTo>
                <a:close/>
                <a:moveTo>
                  <a:pt x="800668" y="325866"/>
                </a:moveTo>
                <a:cubicBezTo>
                  <a:pt x="830923" y="325866"/>
                  <a:pt x="858337" y="314032"/>
                  <a:pt x="878449" y="294915"/>
                </a:cubicBezTo>
                <a:lnTo>
                  <a:pt x="900415" y="316990"/>
                </a:lnTo>
                <a:cubicBezTo>
                  <a:pt x="874624" y="341570"/>
                  <a:pt x="839442" y="356704"/>
                  <a:pt x="800668" y="356704"/>
                </a:cubicBezTo>
                <a:cubicBezTo>
                  <a:pt x="721553" y="356704"/>
                  <a:pt x="657394" y="293720"/>
                  <a:pt x="657394" y="216057"/>
                </a:cubicBezTo>
                <a:cubicBezTo>
                  <a:pt x="657394" y="138394"/>
                  <a:pt x="721553" y="75409"/>
                  <a:pt x="800668" y="75409"/>
                </a:cubicBezTo>
                <a:cubicBezTo>
                  <a:pt x="838804" y="75409"/>
                  <a:pt x="873349" y="90032"/>
                  <a:pt x="899024" y="113871"/>
                </a:cubicBezTo>
                <a:lnTo>
                  <a:pt x="877173" y="136117"/>
                </a:lnTo>
                <a:cubicBezTo>
                  <a:pt x="857178" y="117683"/>
                  <a:pt x="830285" y="106361"/>
                  <a:pt x="800668" y="106361"/>
                </a:cubicBezTo>
                <a:cubicBezTo>
                  <a:pt x="738942" y="106361"/>
                  <a:pt x="688865" y="155519"/>
                  <a:pt x="688865" y="216113"/>
                </a:cubicBezTo>
                <a:cubicBezTo>
                  <a:pt x="688865" y="276708"/>
                  <a:pt x="738942" y="325866"/>
                  <a:pt x="800668" y="325866"/>
                </a:cubicBezTo>
                <a:close/>
                <a:moveTo>
                  <a:pt x="414166" y="111219"/>
                </a:moveTo>
                <a:cubicBezTo>
                  <a:pt x="405810" y="91291"/>
                  <a:pt x="382681" y="81828"/>
                  <a:pt x="362505" y="90083"/>
                </a:cubicBezTo>
                <a:cubicBezTo>
                  <a:pt x="342330" y="98337"/>
                  <a:pt x="332749" y="121184"/>
                  <a:pt x="341106" y="141112"/>
                </a:cubicBezTo>
                <a:cubicBezTo>
                  <a:pt x="349463" y="161039"/>
                  <a:pt x="372593" y="170503"/>
                  <a:pt x="392768" y="162248"/>
                </a:cubicBezTo>
                <a:cubicBezTo>
                  <a:pt x="412944" y="153993"/>
                  <a:pt x="422524" y="131147"/>
                  <a:pt x="414166" y="111219"/>
                </a:cubicBezTo>
                <a:close/>
                <a:moveTo>
                  <a:pt x="415839" y="307792"/>
                </a:moveTo>
                <a:cubicBezTo>
                  <a:pt x="421443" y="328639"/>
                  <a:pt x="408877" y="350027"/>
                  <a:pt x="387771" y="355563"/>
                </a:cubicBezTo>
                <a:cubicBezTo>
                  <a:pt x="366663" y="361098"/>
                  <a:pt x="345011" y="348684"/>
                  <a:pt x="339407" y="327837"/>
                </a:cubicBezTo>
                <a:cubicBezTo>
                  <a:pt x="333803" y="306989"/>
                  <a:pt x="346369" y="285602"/>
                  <a:pt x="367475" y="280066"/>
                </a:cubicBezTo>
                <a:cubicBezTo>
                  <a:pt x="388581" y="274530"/>
                  <a:pt x="410235" y="286944"/>
                  <a:pt x="415839" y="307792"/>
                </a:cubicBezTo>
                <a:close/>
                <a:moveTo>
                  <a:pt x="79088" y="300106"/>
                </a:moveTo>
                <a:cubicBezTo>
                  <a:pt x="122767" y="300106"/>
                  <a:pt x="158175" y="265132"/>
                  <a:pt x="158175" y="221987"/>
                </a:cubicBezTo>
                <a:cubicBezTo>
                  <a:pt x="158175" y="178845"/>
                  <a:pt x="122767" y="143869"/>
                  <a:pt x="79088" y="143869"/>
                </a:cubicBezTo>
                <a:cubicBezTo>
                  <a:pt x="35409" y="143869"/>
                  <a:pt x="0" y="178845"/>
                  <a:pt x="0" y="221987"/>
                </a:cubicBezTo>
                <a:cubicBezTo>
                  <a:pt x="0" y="265132"/>
                  <a:pt x="35409" y="300106"/>
                  <a:pt x="79088" y="300106"/>
                </a:cubicBezTo>
                <a:close/>
                <a:moveTo>
                  <a:pt x="269537" y="327297"/>
                </a:moveTo>
                <a:cubicBezTo>
                  <a:pt x="296561" y="353989"/>
                  <a:pt x="296561" y="397268"/>
                  <a:pt x="269537" y="423961"/>
                </a:cubicBezTo>
                <a:cubicBezTo>
                  <a:pt x="242512" y="450653"/>
                  <a:pt x="198699" y="450653"/>
                  <a:pt x="171674" y="423961"/>
                </a:cubicBezTo>
                <a:cubicBezTo>
                  <a:pt x="144650" y="397268"/>
                  <a:pt x="144650" y="353989"/>
                  <a:pt x="171674" y="327297"/>
                </a:cubicBezTo>
                <a:cubicBezTo>
                  <a:pt x="198699" y="300604"/>
                  <a:pt x="242512" y="300604"/>
                  <a:pt x="269537" y="327297"/>
                </a:cubicBezTo>
                <a:close/>
              </a:path>
            </a:pathLst>
          </a:custGeom>
          <a:solidFill>
            <a:schemeClr val="bg1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616B5-82F3-5E80-4CA2-0B49467B55D6}"/>
              </a:ext>
            </a:extLst>
          </p:cNvPr>
          <p:cNvSpPr txBox="1">
            <a:spLocks/>
          </p:cNvSpPr>
          <p:nvPr userDrawn="1"/>
        </p:nvSpPr>
        <p:spPr>
          <a:xfrm>
            <a:off x="395287" y="-819472"/>
            <a:ext cx="6581775" cy="5711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dirty="0">
                <a:solidFill>
                  <a:srgbClr val="DCDAD5"/>
                </a:solidFill>
              </a:rPr>
              <a:t>Slut</a:t>
            </a:r>
          </a:p>
        </p:txBody>
      </p:sp>
    </p:spTree>
    <p:extLst>
      <p:ext uri="{BB962C8B-B14F-4D97-AF65-F5344CB8AC3E}">
        <p14:creationId xmlns:p14="http://schemas.microsoft.com/office/powerpoint/2010/main" val="9039299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PS &amp; TRICKS - DIN 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>
            <a:spLocks/>
          </p:cNvSpPr>
          <p:nvPr userDrawn="1"/>
        </p:nvSpPr>
        <p:spPr>
          <a:xfrm>
            <a:off x="396875" y="395287"/>
            <a:ext cx="3690938" cy="663600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da-DK" sz="2400" b="0" i="0" u="none" strike="noStrike" noProof="1">
                <a:solidFill>
                  <a:schemeClr val="bg2"/>
                </a:solidFill>
                <a:latin typeface="Clever Sans OFFC" pitchFamily="34" charset="0"/>
                <a:cs typeface="Clever Sans OFFC" panose="020B0504050501040104" pitchFamily="34" charset="0"/>
              </a:rPr>
              <a:t>Tips &amp; tricks </a:t>
            </a:r>
          </a:p>
          <a:p>
            <a:pPr algn="l">
              <a:lnSpc>
                <a:spcPct val="90000"/>
              </a:lnSpc>
            </a:pPr>
            <a:r>
              <a:rPr lang="da-DK" sz="2400" b="0" i="0" u="none" strike="noStrike" noProof="1">
                <a:solidFill>
                  <a:schemeClr val="bg1">
                    <a:lumMod val="85000"/>
                  </a:schemeClr>
                </a:solidFill>
                <a:latin typeface="Clever Sans OFFC" pitchFamily="34" charset="0"/>
                <a:cs typeface="Clever Sans OFFC" panose="020B0504050501040104" pitchFamily="34" charset="0"/>
              </a:rPr>
              <a:t>Din brugerguide</a:t>
            </a:r>
          </a:p>
        </p:txBody>
      </p:sp>
      <p:sp>
        <p:nvSpPr>
          <p:cNvPr id="27" name="Text Box 2">
            <a:extLst>
              <a:ext uri="{FF2B5EF4-FFF2-40B4-BE49-F238E27FC236}">
                <a16:creationId xmlns:a16="http://schemas.microsoft.com/office/drawing/2014/main" id="{1E86B7E7-F87D-4375-BAE3-34A81C5D0F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6874" y="2239200"/>
            <a:ext cx="3331138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Typografier</a:t>
            </a:r>
            <a:endParaRPr lang="da-DK" altLang="da-DK" sz="1600" b="0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Brug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TAB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 at gå frem i tekst-niveauer. Klik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ENTER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, derefter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TAB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for at skifte fra et niveau til det næste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 at gå tilbage i tekst-niveauer,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brug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SHIFT+TAB</a:t>
            </a:r>
            <a:endParaRPr lang="da-DK" altLang="da-DK" sz="900" b="0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Alternativt kan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Forøg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og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Formindsk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listeniveau bruges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endParaRPr lang="da-DK" altLang="da-DK" sz="900" b="0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TIP: Brug</a:t>
            </a:r>
            <a:r>
              <a:rPr lang="da-DK" sz="900" b="1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bullet knappen</a:t>
            </a:r>
            <a:endParaRPr lang="da-DK" sz="900" b="1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Fjern bullet for almindelig tekst.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på bullet knappen for at sætte korrekt bullet igen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da-DK" altLang="da-DK" sz="16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Slides og layout</a:t>
            </a:r>
            <a:br>
              <a:rPr lang="da-DK" altLang="da-DK" sz="16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b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på menupunktet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Nyt Slide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i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Hjem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fanen for at indsætte nyt slide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Ændre layout</a:t>
            </a:r>
            <a:endParaRPr lang="da-DK" altLang="da-DK" sz="900" b="0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på pilen</a:t>
            </a:r>
            <a:r>
              <a:rPr lang="da-DK" altLang="da-DK" sz="900" b="0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ved siden af </a:t>
            </a:r>
            <a:r>
              <a:rPr lang="da-DK" altLang="da-DK" sz="900" b="1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Layout</a:t>
            </a:r>
            <a:br>
              <a:rPr lang="da-DK" altLang="da-DK" sz="900" b="0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 at få vist en dropdown menu af </a:t>
            </a:r>
            <a:br>
              <a:rPr lang="da-DK" altLang="da-DK" sz="900" b="0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baseline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mulige slides layout</a:t>
            </a:r>
            <a:endParaRPr lang="da-DK" altLang="da-DK" sz="900" b="0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F5D76AC5-956B-497C-88E2-05290D3AAF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51425" y="2239200"/>
            <a:ext cx="2953629" cy="407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Nulstil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1.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på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Hjem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knappen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2.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Vælg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Nulstil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for at nulstille placering, størrelse og formatering af pladsholdere til layoutets oprindelige design i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Hjem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fanen</a:t>
            </a:r>
            <a:endParaRPr lang="da-DK" sz="900" b="1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da-DK" sz="900" b="1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Billeder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På slides med billedpladsholder,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på ikonet og vælg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Indsæt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 at søge efter billede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Beskær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1.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Beskær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for at ændre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billedets fokus/størrelse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2.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Ønsker du at skalere billedet, så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hold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SHIFT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-knappen nede, mens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du trækker i billedets hjørner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TIP: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Hvis du sletter billedet og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indsætter et nyt, kan billedet lægge 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sig foran tekst og grafik. Hvis dette sker, højreklik på billedet og vælg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Placer bagest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1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460FBAEE-DC7E-44A6-BEA8-1DCAE4DE77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04288" y="2239200"/>
            <a:ext cx="2890838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Hjælpelinjer</a:t>
            </a:r>
            <a:endParaRPr lang="da-DK" sz="1600" b="1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Klik på fanen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Vis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og sæt hak ved </a:t>
            </a: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TIP: Alt + F9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for hurtig visning af hjælpelinjer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Mac: </a:t>
            </a:r>
            <a:r>
              <a:rPr lang="da-DK" sz="900" b="0" i="0" dirty="0">
                <a:solidFill>
                  <a:schemeClr val="bg2"/>
                </a:solidFill>
                <a:effectLst/>
                <a:latin typeface="+mn-lt"/>
              </a:rPr>
              <a:t>⌘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+ option + ctrl + G</a:t>
            </a:r>
            <a:b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</a:br>
            <a:endParaRPr lang="da-DK" altLang="da-DK" sz="900" b="0" noProof="1">
              <a:solidFill>
                <a:schemeClr val="bg2"/>
              </a:solidFill>
              <a:latin typeface="+mn-lt"/>
              <a:cs typeface="Clever Sans OFFC" panose="020B05040505010401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16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Copy/paste indhold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Du har 2 muligheder, når du kopierer gammelt indhold over i din nye præsentation: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1. Best practice: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Opret et slide i din nye præsentation og kopier ét indholdselement ad gangen (fx kopier al tekst fra én tekstboks)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2.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Eller kopier et helt slide over i din nye præsentation og vælg derefter et passende layout. Når din præsentation er klar, åbner du en tom præsentation (tryk Ctrl+N). Kopier alle dias fra den nye præsentation, indsæt dem i den tomme præsentation. Dette vil sikre, at der ikke er ekstra layouts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B73ADD-C9A2-4CC9-B9B1-829AB8120F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2496" y="3697440"/>
            <a:ext cx="257143" cy="2857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4E7EF11-FB06-4FF3-89B6-C9C7B40D4D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93725" y="3750315"/>
            <a:ext cx="341204" cy="321707"/>
          </a:xfrm>
          <a:prstGeom prst="rect">
            <a:avLst/>
          </a:prstGeom>
        </p:spPr>
      </p:pic>
      <p:pic>
        <p:nvPicPr>
          <p:cNvPr id="33" name="Billede 1">
            <a:extLst>
              <a:ext uri="{FF2B5EF4-FFF2-40B4-BE49-F238E27FC236}">
                <a16:creationId xmlns:a16="http://schemas.microsoft.com/office/drawing/2014/main" id="{58944A03-80A9-4768-89E7-4E910EFFBC2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47943" y="4715872"/>
            <a:ext cx="308589" cy="528030"/>
          </a:xfrm>
          <a:prstGeom prst="rect">
            <a:avLst/>
          </a:prstGeom>
        </p:spPr>
      </p:pic>
      <p:pic>
        <p:nvPicPr>
          <p:cNvPr id="35" name="Billede 4">
            <a:extLst>
              <a:ext uri="{FF2B5EF4-FFF2-40B4-BE49-F238E27FC236}">
                <a16:creationId xmlns:a16="http://schemas.microsoft.com/office/drawing/2014/main" id="{51BFC2D6-78F9-4DE9-9EA2-2262FCDF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66139" y="2782078"/>
            <a:ext cx="496606" cy="172842"/>
          </a:xfrm>
          <a:prstGeom prst="rect">
            <a:avLst/>
          </a:prstGeom>
        </p:spPr>
      </p:pic>
      <p:pic>
        <p:nvPicPr>
          <p:cNvPr id="36" name="Billede 5">
            <a:extLst>
              <a:ext uri="{FF2B5EF4-FFF2-40B4-BE49-F238E27FC236}">
                <a16:creationId xmlns:a16="http://schemas.microsoft.com/office/drawing/2014/main" id="{EBC4A3E5-1D15-4741-BFC6-17ACF4D5CD3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869869" y="4394634"/>
            <a:ext cx="366043" cy="4804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C19287C-813E-4966-89A1-64D6247DEA8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743037" y="2939399"/>
            <a:ext cx="457143" cy="2571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07658DD-99CF-4B02-82C0-E6D1C908CA1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748917" y="5393640"/>
            <a:ext cx="475428" cy="176762"/>
          </a:xfrm>
          <a:prstGeom prst="rect">
            <a:avLst/>
          </a:prstGeom>
        </p:spPr>
      </p:pic>
      <p:sp>
        <p:nvSpPr>
          <p:cNvPr id="14" name="Date Placeholder 6" hidden="1">
            <a:extLst>
              <a:ext uri="{FF2B5EF4-FFF2-40B4-BE49-F238E27FC236}">
                <a16:creationId xmlns:a16="http://schemas.microsoft.com/office/drawing/2014/main" id="{E4FD2B6E-39A9-4094-A5FF-CBA180265C0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D736BE2-FA01-468E-9EB3-D707920AA64D}" type="datetime4">
              <a:rPr lang="da-DK" smtClean="0"/>
              <a:t>26-09-22</a:t>
            </a:fld>
            <a:endParaRPr lang="da-DK" dirty="0"/>
          </a:p>
        </p:txBody>
      </p:sp>
      <p:sp>
        <p:nvSpPr>
          <p:cNvPr id="15" name="Footer Placeholder 8" hidden="1">
            <a:extLst>
              <a:ext uri="{FF2B5EF4-FFF2-40B4-BE49-F238E27FC236}">
                <a16:creationId xmlns:a16="http://schemas.microsoft.com/office/drawing/2014/main" id="{AAFF8183-88DB-4217-8B14-93C3A2F3C6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6" name="Slide Number Placeholder 10" hidden="1">
            <a:extLst>
              <a:ext uri="{FF2B5EF4-FFF2-40B4-BE49-F238E27FC236}">
                <a16:creationId xmlns:a16="http://schemas.microsoft.com/office/drawing/2014/main" id="{2ECA3156-EAFA-499A-BDD3-C3FE309B57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Fast overskrift">
            <a:extLst>
              <a:ext uri="{FF2B5EF4-FFF2-40B4-BE49-F238E27FC236}">
                <a16:creationId xmlns:a16="http://schemas.microsoft.com/office/drawing/2014/main" id="{0B48F850-9DD1-8DBB-9B81-5FEAD111D79D}"/>
              </a:ext>
            </a:extLst>
          </p:cNvPr>
          <p:cNvSpPr txBox="1">
            <a:spLocks/>
          </p:cNvSpPr>
          <p:nvPr userDrawn="1"/>
        </p:nvSpPr>
        <p:spPr>
          <a:xfrm>
            <a:off x="395288" y="1441423"/>
            <a:ext cx="3690938" cy="271140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da-DK" sz="1200" b="0" i="0" u="none" strike="noStrike" noProof="1">
                <a:solidFill>
                  <a:schemeClr val="bg1">
                    <a:lumMod val="75000"/>
                  </a:schemeClr>
                </a:solidFill>
                <a:latin typeface="Clever Sans OFFC" pitchFamily="34" charset="0"/>
                <a:cs typeface="Clever Sans OFFC" panose="020B0504050501040104" pitchFamily="34" charset="0"/>
              </a:rPr>
              <a:t>Version 1 — Februar 2026</a:t>
            </a:r>
          </a:p>
        </p:txBody>
      </p:sp>
    </p:spTree>
    <p:extLst>
      <p:ext uri="{BB962C8B-B14F-4D97-AF65-F5344CB8AC3E}">
        <p14:creationId xmlns:p14="http://schemas.microsoft.com/office/powerpoint/2010/main" val="1961143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HOLD - DIN 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>
            <a:spLocks/>
          </p:cNvSpPr>
          <p:nvPr userDrawn="1"/>
        </p:nvSpPr>
        <p:spPr>
          <a:xfrm>
            <a:off x="396876" y="395287"/>
            <a:ext cx="3690938" cy="663600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da-DK" sz="2400" b="0" i="0" u="none" strike="noStrike" noProof="1">
                <a:solidFill>
                  <a:schemeClr val="bg2"/>
                </a:solidFill>
                <a:latin typeface="Clever Sans OFFC" pitchFamily="34" charset="0"/>
                <a:cs typeface="Clever Sans OFFC" panose="020B0504050501040104" pitchFamily="34" charset="0"/>
              </a:rPr>
              <a:t>Visuelle elementer</a:t>
            </a:r>
          </a:p>
          <a:p>
            <a:pPr algn="l">
              <a:lnSpc>
                <a:spcPct val="90000"/>
              </a:lnSpc>
            </a:pPr>
            <a:r>
              <a:rPr lang="da-DK" sz="2400" b="0" i="0" u="none" strike="noStrike" noProof="1">
                <a:solidFill>
                  <a:schemeClr val="bg1">
                    <a:lumMod val="75000"/>
                  </a:schemeClr>
                </a:solidFill>
                <a:latin typeface="Clever Sans OFFC" pitchFamily="34" charset="0"/>
                <a:cs typeface="Clever Sans OFFC" panose="020B0504050501040104" pitchFamily="34" charset="0"/>
              </a:rPr>
              <a:t>Din brugerguide</a:t>
            </a:r>
          </a:p>
        </p:txBody>
      </p:sp>
      <p:sp>
        <p:nvSpPr>
          <p:cNvPr id="27" name="Text Box 2">
            <a:extLst>
              <a:ext uri="{FF2B5EF4-FFF2-40B4-BE49-F238E27FC236}">
                <a16:creationId xmlns:a16="http://schemas.microsoft.com/office/drawing/2014/main" id="{1E86B7E7-F87D-4375-BAE3-34A81C5D0F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6874" y="2239200"/>
            <a:ext cx="3331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Typografi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Brug altid kun Clever Sans i skabelonen.</a:t>
            </a:r>
          </a:p>
        </p:txBody>
      </p:sp>
      <p:sp>
        <p:nvSpPr>
          <p:cNvPr id="14" name="Date Placeholder 6" hidden="1">
            <a:extLst>
              <a:ext uri="{FF2B5EF4-FFF2-40B4-BE49-F238E27FC236}">
                <a16:creationId xmlns:a16="http://schemas.microsoft.com/office/drawing/2014/main" id="{E4FD2B6E-39A9-4094-A5FF-CBA180265C0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D736BE2-FA01-468E-9EB3-D707920AA64D}" type="datetime4">
              <a:rPr lang="da-DK" smtClean="0"/>
              <a:t>26-09-22</a:t>
            </a:fld>
            <a:endParaRPr lang="da-DK" dirty="0"/>
          </a:p>
        </p:txBody>
      </p:sp>
      <p:sp>
        <p:nvSpPr>
          <p:cNvPr id="15" name="Footer Placeholder 8" hidden="1">
            <a:extLst>
              <a:ext uri="{FF2B5EF4-FFF2-40B4-BE49-F238E27FC236}">
                <a16:creationId xmlns:a16="http://schemas.microsoft.com/office/drawing/2014/main" id="{AAFF8183-88DB-4217-8B14-93C3A2F3C6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6" name="Slide Number Placeholder 10" hidden="1">
            <a:extLst>
              <a:ext uri="{FF2B5EF4-FFF2-40B4-BE49-F238E27FC236}">
                <a16:creationId xmlns:a16="http://schemas.microsoft.com/office/drawing/2014/main" id="{2ECA3156-EAFA-499A-BDD3-C3FE309B57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4475026A-D6C3-BBD4-836D-DE53F79936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332" y="2239200"/>
            <a:ext cx="3331138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Farver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Brug altid kun de pre-definerede farver. Vores primære farver er Clever-grøn og hvid, men templaten rummer også gråskalaer og andre farver tiltænkt infografik.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.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2D93F57E-AB87-D15C-F7F1-374CCEF907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12224" y="2239200"/>
            <a:ext cx="333113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Billeder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Billeder findes her i 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  <a:hlinkClick r:id="rId2"/>
              </a:rPr>
              <a:t>PowerPoint 2025-mappen</a:t>
            </a:r>
            <a:r>
              <a:rPr lang="da-DK" altLang="da-DK" sz="900" b="0" noProof="1">
                <a:solidFill>
                  <a:schemeClr val="bg2"/>
                </a:solidFill>
                <a:latin typeface="+mn-lt"/>
                <a:cs typeface="Clever Sans OFFC" panose="020B0504050501040104" pitchFamily="34" charset="0"/>
              </a:rPr>
              <a:t> der opdateres løbende i takt med, at der skydes nye billeder.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B45E280-A352-0ED0-E2CD-BC6C04A8BE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6874" y="3559083"/>
            <a:ext cx="3331138" cy="2783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lever Sans OFF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lever Sans OFF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lever Sans OFF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ver Sans OFFC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sz="4000" dirty="0" err="1">
                <a:solidFill>
                  <a:schemeClr val="bg2"/>
                </a:solidFill>
                <a:latin typeface="+mj-lt"/>
                <a:cs typeface="Clever Sans OFFC" panose="020B0504050501040104" pitchFamily="34" charset="0"/>
              </a:rPr>
              <a:t>Velkommentil</a:t>
            </a:r>
            <a:r>
              <a:rPr lang="da-DK" sz="4000" dirty="0">
                <a:solidFill>
                  <a:schemeClr val="bg2"/>
                </a:solidFill>
                <a:latin typeface="+mj-lt"/>
                <a:cs typeface="Clever Sans OFFC" panose="020B0504050501040104" pitchFamily="34" charset="0"/>
              </a:rPr>
              <a:t> friheden. Frihed på farten. Fart på friheden</a:t>
            </a:r>
          </a:p>
        </p:txBody>
      </p:sp>
      <p:pic>
        <p:nvPicPr>
          <p:cNvPr id="18" name="Billede 17" descr="Et billede, der indeholder Ansigt, person, tøj, smil&#10;&#10;Indhold genereret af kunstig intelligens kan være forkert.">
            <a:extLst>
              <a:ext uri="{FF2B5EF4-FFF2-40B4-BE49-F238E27FC236}">
                <a16:creationId xmlns:a16="http://schemas.microsoft.com/office/drawing/2014/main" id="{79301CE7-3719-A57D-E18A-8F00DE89F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02600" y="3595607"/>
            <a:ext cx="2728913" cy="2573418"/>
          </a:xfrm>
          <a:prstGeom prst="rect">
            <a:avLst/>
          </a:prstGeom>
        </p:spPr>
      </p:pic>
      <p:sp>
        <p:nvSpPr>
          <p:cNvPr id="19" name="Fast overskrift">
            <a:extLst>
              <a:ext uri="{FF2B5EF4-FFF2-40B4-BE49-F238E27FC236}">
                <a16:creationId xmlns:a16="http://schemas.microsoft.com/office/drawing/2014/main" id="{52172EB7-5EF9-7AE0-49EB-46A97E666316}"/>
              </a:ext>
            </a:extLst>
          </p:cNvPr>
          <p:cNvSpPr txBox="1">
            <a:spLocks/>
          </p:cNvSpPr>
          <p:nvPr userDrawn="1"/>
        </p:nvSpPr>
        <p:spPr>
          <a:xfrm>
            <a:off x="395288" y="1441423"/>
            <a:ext cx="3690938" cy="271140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da-DK" sz="1200" b="0" i="0" u="none" strike="noStrike" noProof="1">
                <a:solidFill>
                  <a:schemeClr val="bg1">
                    <a:lumMod val="75000"/>
                  </a:schemeClr>
                </a:solidFill>
                <a:latin typeface="Clever Sans OFFC" pitchFamily="34" charset="0"/>
                <a:cs typeface="Clever Sans OFFC" panose="020B0504050501040104" pitchFamily="34" charset="0"/>
              </a:rPr>
              <a:t>Version 1 — Februar 2026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0B6AB9B-A4F4-289D-F2CE-ED1C79E11D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57821" y="3590305"/>
            <a:ext cx="2726400" cy="257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11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Brug ikke layouts efter dette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black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da-DK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da-DK" sz="4400" b="0" noProof="0" dirty="0">
                <a:solidFill>
                  <a:schemeClr val="bg1"/>
                </a:solidFill>
              </a:rPr>
              <a:t>Hvis du ser andre </a:t>
            </a:r>
            <a:r>
              <a:rPr lang="da-DK" sz="4400" b="1" i="1" noProof="0" dirty="0">
                <a:solidFill>
                  <a:schemeClr val="bg1"/>
                </a:solidFill>
              </a:rPr>
              <a:t>layouts efter dette,</a:t>
            </a:r>
            <a:br>
              <a:rPr lang="da-DK" sz="4400" b="0" i="0" noProof="0" dirty="0">
                <a:solidFill>
                  <a:schemeClr val="bg1"/>
                </a:solidFill>
              </a:rPr>
            </a:br>
            <a:r>
              <a:rPr lang="da-DK" sz="4400" b="0" noProof="0" dirty="0">
                <a:solidFill>
                  <a:schemeClr val="bg1"/>
                </a:solidFill>
              </a:rPr>
              <a:t>brug dem ikke. Disse layouts </a:t>
            </a:r>
            <a:r>
              <a:rPr lang="da-DK" sz="4400" b="1" i="1" u="none" noProof="0" dirty="0">
                <a:solidFill>
                  <a:schemeClr val="bg1"/>
                </a:solidFill>
              </a:rPr>
              <a:t>tilhører ikke </a:t>
            </a:r>
            <a:r>
              <a:rPr lang="da-DK" sz="4400" b="0" i="0" u="none" noProof="0" dirty="0">
                <a:solidFill>
                  <a:schemeClr val="bg1"/>
                </a:solidFill>
              </a:rPr>
              <a:t>vores corporate </a:t>
            </a:r>
            <a:r>
              <a:rPr lang="da-DK" sz="4400" b="0" noProof="0" dirty="0">
                <a:solidFill>
                  <a:schemeClr val="bg1"/>
                </a:solidFill>
              </a:rPr>
              <a:t>skabelon.</a:t>
            </a:r>
            <a:br>
              <a:rPr lang="da-DK" sz="2800" b="0" noProof="0" dirty="0">
                <a:solidFill>
                  <a:schemeClr val="bg1"/>
                </a:solidFill>
              </a:rPr>
            </a:br>
            <a:br>
              <a:rPr lang="da-DK" sz="2800" b="0" noProof="0" dirty="0">
                <a:solidFill>
                  <a:schemeClr val="bg1"/>
                </a:solidFill>
              </a:rPr>
            </a:br>
            <a:endParaRPr lang="da-DK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da-DK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da-DK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72536" y="2986685"/>
            <a:ext cx="1015234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0000" b="1" i="1" noProof="0" dirty="0">
                <a:solidFill>
                  <a:schemeClr val="bg1"/>
                </a:solidFill>
              </a:rPr>
              <a:t>Brug dem ikke</a:t>
            </a:r>
            <a:endParaRPr lang="da-DK" sz="10000" b="1" i="1" noProof="0" dirty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12772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da-DK" sz="2000" b="0" noProof="0" dirty="0">
                <a:solidFill>
                  <a:schemeClr val="bg1"/>
                </a:solidFill>
              </a:rPr>
              <a:t>Pga. PowerPoints standard Kopier/Indsæt funktionalitet kan ekstra uønskede layouts forekomme.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da-DK" sz="2000" b="0" noProof="0" dirty="0">
                <a:solidFill>
                  <a:schemeClr val="bg1"/>
                </a:solidFill>
              </a:rPr>
              <a:t>OBS! Layouts efter dette kan indeholde potential fortrolig information.</a:t>
            </a:r>
            <a:br>
              <a:rPr lang="da-DK" sz="1800" b="0" noProof="0" dirty="0">
                <a:solidFill>
                  <a:schemeClr val="bg1"/>
                </a:solidFill>
              </a:rPr>
            </a:br>
            <a:endParaRPr lang="da-DK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16F02AC0-8835-4687-9809-625BC7974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78E59B62-033C-4704-BD1F-D8185ADB39DC}" type="datetime4">
              <a:rPr lang="da-DK" smtClean="0"/>
              <a:t>26-09-22</a:t>
            </a:fld>
            <a:endParaRPr lang="da-DK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06D6C9CE-4F2C-454C-BB55-801B8D39FB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475F42F-AD98-4F3B-A294-8047E72ED3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8866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4" y="395288"/>
            <a:ext cx="4654551" cy="6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962" y="395287"/>
            <a:ext cx="5618163" cy="577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 dirty="0"/>
              <a:t>Level 1                                                                                                                                          Press ENTER then TAB to view next text style                                                                                  Press SHIFT+TAB to view previous text style</a:t>
            </a:r>
          </a:p>
          <a:p>
            <a:pPr lvl="1"/>
            <a:r>
              <a:rPr lang="da-DK" noProof="0" dirty="0"/>
              <a:t>Level 2</a:t>
            </a:r>
          </a:p>
          <a:p>
            <a:pPr lvl="2"/>
            <a:r>
              <a:rPr lang="da-DK" noProof="0" dirty="0"/>
              <a:t>Level 3</a:t>
            </a:r>
          </a:p>
          <a:p>
            <a:pPr lvl="3"/>
            <a:r>
              <a:rPr lang="da-DK" noProof="0" dirty="0"/>
              <a:t>Level 4, Header</a:t>
            </a:r>
          </a:p>
          <a:p>
            <a:pPr lvl="4"/>
            <a:r>
              <a:rPr lang="da-DK" noProof="0" dirty="0"/>
              <a:t>Level 5, Body</a:t>
            </a:r>
          </a:p>
          <a:p>
            <a:pPr lvl="5"/>
            <a:r>
              <a:rPr lang="da-DK" noProof="0" dirty="0"/>
              <a:t>Level 6</a:t>
            </a:r>
          </a:p>
          <a:p>
            <a:pPr lvl="6"/>
            <a:r>
              <a:rPr lang="da-DK" noProof="0" dirty="0"/>
              <a:t>Level 7, Small Header</a:t>
            </a:r>
          </a:p>
          <a:p>
            <a:pPr lvl="7"/>
            <a:r>
              <a:rPr lang="da-DK" noProof="0" dirty="0"/>
              <a:t>Level 8, Small Body</a:t>
            </a:r>
          </a:p>
          <a:p>
            <a:pPr lvl="8"/>
            <a:r>
              <a:rPr lang="da-DK" noProof="0" dirty="0"/>
              <a:t>Level 9, Infographic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noFill/>
              </a:defRPr>
            </a:lvl1pPr>
          </a:lstStyle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8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5125" y="6461124"/>
            <a:ext cx="360000" cy="1368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b="0" baseline="0">
                <a:solidFill>
                  <a:schemeClr val="bg2"/>
                </a:solidFill>
              </a:defRPr>
            </a:lvl1pPr>
          </a:lstStyle>
          <a:p>
            <a:fld id="{23AA811B-2EBD-4900-905E-5BE20644961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7" name="5th element" descr=" ">
            <a:extLst>
              <a:ext uri="{FF2B5EF4-FFF2-40B4-BE49-F238E27FC236}">
                <a16:creationId xmlns:a16="http://schemas.microsoft.com/office/drawing/2014/main" id="{DF90C2F4-E6A6-AA12-F70C-3B3D641C7231}"/>
              </a:ext>
            </a:extLst>
          </p:cNvPr>
          <p:cNvSpPr/>
          <p:nvPr userDrawn="1"/>
        </p:nvSpPr>
        <p:spPr>
          <a:xfrm>
            <a:off x="395288" y="6395662"/>
            <a:ext cx="207711" cy="221051"/>
          </a:xfrm>
          <a:custGeom>
            <a:avLst/>
            <a:gdLst>
              <a:gd name="connsiteX0" fmla="*/ 109836 w 207711"/>
              <a:gd name="connsiteY0" fmla="*/ 152989 h 221051"/>
              <a:gd name="connsiteX1" fmla="*/ 134199 w 207711"/>
              <a:gd name="connsiteY1" fmla="*/ 162957 h 221051"/>
              <a:gd name="connsiteX2" fmla="*/ 134199 w 207711"/>
              <a:gd name="connsiteY2" fmla="*/ 211085 h 221051"/>
              <a:gd name="connsiteX3" fmla="*/ 85474 w 207711"/>
              <a:gd name="connsiteY3" fmla="*/ 211085 h 221051"/>
              <a:gd name="connsiteX4" fmla="*/ 85474 w 207711"/>
              <a:gd name="connsiteY4" fmla="*/ 162957 h 221051"/>
              <a:gd name="connsiteX5" fmla="*/ 109836 w 207711"/>
              <a:gd name="connsiteY5" fmla="*/ 152989 h 221051"/>
              <a:gd name="connsiteX6" fmla="*/ 182961 w 207711"/>
              <a:gd name="connsiteY6" fmla="*/ 139441 h 221051"/>
              <a:gd name="connsiteX7" fmla="*/ 207041 w 207711"/>
              <a:gd name="connsiteY7" fmla="*/ 153246 h 221051"/>
              <a:gd name="connsiteX8" fmla="*/ 193066 w 207711"/>
              <a:gd name="connsiteY8" fmla="*/ 177030 h 221051"/>
              <a:gd name="connsiteX9" fmla="*/ 168986 w 207711"/>
              <a:gd name="connsiteY9" fmla="*/ 163226 h 221051"/>
              <a:gd name="connsiteX10" fmla="*/ 182961 w 207711"/>
              <a:gd name="connsiteY10" fmla="*/ 139441 h 221051"/>
              <a:gd name="connsiteX11" fmla="*/ 39377 w 207711"/>
              <a:gd name="connsiteY11" fmla="*/ 71631 h 221051"/>
              <a:gd name="connsiteX12" fmla="*/ 78753 w 207711"/>
              <a:gd name="connsiteY12" fmla="*/ 110525 h 221051"/>
              <a:gd name="connsiteX13" fmla="*/ 39377 w 207711"/>
              <a:gd name="connsiteY13" fmla="*/ 149419 h 221051"/>
              <a:gd name="connsiteX14" fmla="*/ 0 w 207711"/>
              <a:gd name="connsiteY14" fmla="*/ 110525 h 221051"/>
              <a:gd name="connsiteX15" fmla="*/ 39377 w 207711"/>
              <a:gd name="connsiteY15" fmla="*/ 71631 h 221051"/>
              <a:gd name="connsiteX16" fmla="*/ 195554 w 207711"/>
              <a:gd name="connsiteY16" fmla="*/ 44851 h 221051"/>
              <a:gd name="connsiteX17" fmla="*/ 206208 w 207711"/>
              <a:gd name="connsiteY17" fmla="*/ 55375 h 221051"/>
              <a:gd name="connsiteX18" fmla="*/ 195554 w 207711"/>
              <a:gd name="connsiteY18" fmla="*/ 80781 h 221051"/>
              <a:gd name="connsiteX19" fmla="*/ 169832 w 207711"/>
              <a:gd name="connsiteY19" fmla="*/ 70258 h 221051"/>
              <a:gd name="connsiteX20" fmla="*/ 180486 w 207711"/>
              <a:gd name="connsiteY20" fmla="*/ 44851 h 221051"/>
              <a:gd name="connsiteX21" fmla="*/ 195554 w 207711"/>
              <a:gd name="connsiteY21" fmla="*/ 44851 h 221051"/>
              <a:gd name="connsiteX22" fmla="*/ 109836 w 207711"/>
              <a:gd name="connsiteY22" fmla="*/ 0 h 221051"/>
              <a:gd name="connsiteX23" fmla="*/ 134199 w 207711"/>
              <a:gd name="connsiteY23" fmla="*/ 9968 h 221051"/>
              <a:gd name="connsiteX24" fmla="*/ 134199 w 207711"/>
              <a:gd name="connsiteY24" fmla="*/ 58095 h 221051"/>
              <a:gd name="connsiteX25" fmla="*/ 85474 w 207711"/>
              <a:gd name="connsiteY25" fmla="*/ 58095 h 221051"/>
              <a:gd name="connsiteX26" fmla="*/ 85474 w 207711"/>
              <a:gd name="connsiteY26" fmla="*/ 9968 h 221051"/>
              <a:gd name="connsiteX27" fmla="*/ 109836 w 207711"/>
              <a:gd name="connsiteY27" fmla="*/ 0 h 22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7711" h="221051">
                <a:moveTo>
                  <a:pt x="109836" y="152989"/>
                </a:moveTo>
                <a:cubicBezTo>
                  <a:pt x="118654" y="152989"/>
                  <a:pt x="127471" y="156312"/>
                  <a:pt x="134199" y="162957"/>
                </a:cubicBezTo>
                <a:cubicBezTo>
                  <a:pt x="147654" y="176246"/>
                  <a:pt x="147654" y="197794"/>
                  <a:pt x="134199" y="211085"/>
                </a:cubicBezTo>
                <a:cubicBezTo>
                  <a:pt x="120743" y="224374"/>
                  <a:pt x="98930" y="224374"/>
                  <a:pt x="85474" y="211085"/>
                </a:cubicBezTo>
                <a:cubicBezTo>
                  <a:pt x="72019" y="197794"/>
                  <a:pt x="72019" y="176246"/>
                  <a:pt x="85474" y="162957"/>
                </a:cubicBezTo>
                <a:cubicBezTo>
                  <a:pt x="92202" y="156312"/>
                  <a:pt x="101019" y="152989"/>
                  <a:pt x="109836" y="152989"/>
                </a:cubicBezTo>
                <a:close/>
                <a:moveTo>
                  <a:pt x="182961" y="139441"/>
                </a:moveTo>
                <a:cubicBezTo>
                  <a:pt x="193469" y="136685"/>
                  <a:pt x="204250" y="142866"/>
                  <a:pt x="207041" y="153246"/>
                </a:cubicBezTo>
                <a:cubicBezTo>
                  <a:pt x="209831" y="163625"/>
                  <a:pt x="203574" y="174274"/>
                  <a:pt x="193066" y="177030"/>
                </a:cubicBezTo>
                <a:cubicBezTo>
                  <a:pt x="182557" y="179786"/>
                  <a:pt x="171776" y="173605"/>
                  <a:pt x="168986" y="163226"/>
                </a:cubicBezTo>
                <a:cubicBezTo>
                  <a:pt x="166196" y="152846"/>
                  <a:pt x="172452" y="142198"/>
                  <a:pt x="182961" y="139441"/>
                </a:cubicBezTo>
                <a:close/>
                <a:moveTo>
                  <a:pt x="39377" y="71631"/>
                </a:moveTo>
                <a:cubicBezTo>
                  <a:pt x="61124" y="71631"/>
                  <a:pt x="78753" y="89045"/>
                  <a:pt x="78753" y="110525"/>
                </a:cubicBezTo>
                <a:cubicBezTo>
                  <a:pt x="78753" y="132006"/>
                  <a:pt x="61124" y="149419"/>
                  <a:pt x="39377" y="149419"/>
                </a:cubicBezTo>
                <a:cubicBezTo>
                  <a:pt x="17630" y="149419"/>
                  <a:pt x="0" y="132006"/>
                  <a:pt x="0" y="110525"/>
                </a:cubicBezTo>
                <a:cubicBezTo>
                  <a:pt x="0" y="89045"/>
                  <a:pt x="17630" y="71631"/>
                  <a:pt x="39377" y="71631"/>
                </a:cubicBezTo>
                <a:close/>
                <a:moveTo>
                  <a:pt x="195554" y="44851"/>
                </a:moveTo>
                <a:cubicBezTo>
                  <a:pt x="200208" y="46755"/>
                  <a:pt x="204127" y="50414"/>
                  <a:pt x="206208" y="55375"/>
                </a:cubicBezTo>
                <a:cubicBezTo>
                  <a:pt x="210369" y="65297"/>
                  <a:pt x="205599" y="76671"/>
                  <a:pt x="195554" y="80781"/>
                </a:cubicBezTo>
                <a:cubicBezTo>
                  <a:pt x="185509" y="84891"/>
                  <a:pt x="173993" y="80179"/>
                  <a:pt x="169832" y="70258"/>
                </a:cubicBezTo>
                <a:cubicBezTo>
                  <a:pt x="165671" y="60336"/>
                  <a:pt x="170441" y="48961"/>
                  <a:pt x="180486" y="44851"/>
                </a:cubicBezTo>
                <a:cubicBezTo>
                  <a:pt x="185509" y="42796"/>
                  <a:pt x="190899" y="42947"/>
                  <a:pt x="195554" y="44851"/>
                </a:cubicBezTo>
                <a:close/>
                <a:moveTo>
                  <a:pt x="109836" y="0"/>
                </a:moveTo>
                <a:cubicBezTo>
                  <a:pt x="118654" y="0"/>
                  <a:pt x="127471" y="3323"/>
                  <a:pt x="134199" y="9968"/>
                </a:cubicBezTo>
                <a:cubicBezTo>
                  <a:pt x="147654" y="23258"/>
                  <a:pt x="147654" y="44805"/>
                  <a:pt x="134199" y="58095"/>
                </a:cubicBezTo>
                <a:cubicBezTo>
                  <a:pt x="120743" y="71385"/>
                  <a:pt x="98930" y="71385"/>
                  <a:pt x="85474" y="58095"/>
                </a:cubicBezTo>
                <a:cubicBezTo>
                  <a:pt x="72019" y="44805"/>
                  <a:pt x="72019" y="23258"/>
                  <a:pt x="85474" y="9968"/>
                </a:cubicBezTo>
                <a:cubicBezTo>
                  <a:pt x="92202" y="3323"/>
                  <a:pt x="101019" y="0"/>
                  <a:pt x="109836" y="0"/>
                </a:cubicBezTo>
                <a:close/>
              </a:path>
            </a:pathLst>
          </a:custGeom>
          <a:solidFill>
            <a:srgbClr val="003732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13" r:id="rId2"/>
    <p:sldLayoutId id="2147483819" r:id="rId3"/>
    <p:sldLayoutId id="2147483820" r:id="rId4"/>
    <p:sldLayoutId id="2147483729" r:id="rId5"/>
    <p:sldLayoutId id="2147483732" r:id="rId6"/>
    <p:sldLayoutId id="2147483755" r:id="rId7"/>
    <p:sldLayoutId id="2147483818" r:id="rId8"/>
    <p:sldLayoutId id="2147483807" r:id="rId9"/>
    <p:sldLayoutId id="2147483815" r:id="rId10"/>
    <p:sldLayoutId id="2147483816" r:id="rId11"/>
    <p:sldLayoutId id="2147483810" r:id="rId12"/>
    <p:sldLayoutId id="2147483765" r:id="rId13"/>
    <p:sldLayoutId id="2147483743" r:id="rId14"/>
    <p:sldLayoutId id="2147483823" r:id="rId15"/>
    <p:sldLayoutId id="2147483822" r:id="rId16"/>
    <p:sldLayoutId id="2147483821" r:id="rId17"/>
    <p:sldLayoutId id="2147483744" r:id="rId18"/>
    <p:sldLayoutId id="2147483817" r:id="rId19"/>
    <p:sldLayoutId id="2147483783" r:id="rId20"/>
    <p:sldLayoutId id="2147483824" r:id="rId21"/>
    <p:sldLayoutId id="2147483753" r:id="rId22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2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•"/>
        <a:defRPr sz="1400" kern="1200" baseline="0">
          <a:solidFill>
            <a:schemeClr val="bg2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•"/>
        <a:defRPr sz="1400" kern="1200" baseline="0">
          <a:solidFill>
            <a:schemeClr val="bg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•"/>
        <a:defRPr sz="1400" kern="1200" baseline="0">
          <a:solidFill>
            <a:schemeClr val="bg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​"/>
        <a:defRPr sz="1400" b="0" kern="1200" baseline="0">
          <a:solidFill>
            <a:schemeClr val="bg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​"/>
        <a:tabLst/>
        <a:defRPr sz="1400" kern="1200" baseline="0">
          <a:solidFill>
            <a:schemeClr val="bg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​"/>
        <a:defRPr sz="1200" b="0" kern="1200" baseline="0">
          <a:solidFill>
            <a:schemeClr val="bg2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lever Sans OFFC" panose="020B0504050501040104" pitchFamily="34" charset="0"/>
        <a:buChar char="​"/>
        <a:defRPr sz="1200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Clever Sans OFFC" panose="020B0504050501040104" pitchFamily="34" charset="0"/>
        <a:buChar char="​"/>
        <a:defRPr sz="4800" kern="1200" baseline="0">
          <a:solidFill>
            <a:schemeClr val="bg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9" userDrawn="1">
          <p15:clr>
            <a:srgbClr val="F26B43"/>
          </p15:clr>
        </p15:guide>
        <p15:guide id="2" pos="7360" userDrawn="1">
          <p15:clr>
            <a:srgbClr val="F26B43"/>
          </p15:clr>
        </p15:guide>
        <p15:guide id="3" orient="horz" pos="319" userDrawn="1">
          <p15:clr>
            <a:srgbClr val="F26B43"/>
          </p15:clr>
        </p15:guide>
        <p15:guide id="4" orient="horz" pos="38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058D-9D8A-B2F3-7A5C-EBDB7935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3B23F800-19AA-BAA0-0CE1-31E4CDEFDB3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C2AEF28-462D-B074-20FA-4E1622101C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1C32AA7-4D32-46CB-ABB0-3FCE5FA44E81}" type="datetime1">
              <a:rPr lang="da-DK" noProof="1" smtClean="0"/>
              <a:pPr/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F234A90-A783-D660-7DC5-DBE4E6A7B8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5D2983A-543F-17A6-454B-435D50A1A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11609144" cy="682466"/>
          </a:xfrm>
        </p:spPr>
        <p:txBody>
          <a:bodyPr/>
          <a:lstStyle/>
          <a:p>
            <a:r>
              <a:rPr lang="da-DK" noProof="1"/>
              <a:t>En introduktion til Azure</a:t>
            </a:r>
          </a:p>
        </p:txBody>
      </p:sp>
      <p:sp>
        <p:nvSpPr>
          <p:cNvPr id="7" name="Undertitel 6">
            <a:extLst>
              <a:ext uri="{FF2B5EF4-FFF2-40B4-BE49-F238E27FC236}">
                <a16:creationId xmlns:a16="http://schemas.microsoft.com/office/drawing/2014/main" id="{BFFD73AF-F3BB-9481-668B-504AFE186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287" y="1077754"/>
            <a:ext cx="8309098" cy="682466"/>
          </a:xfrm>
        </p:spPr>
        <p:txBody>
          <a:bodyPr/>
          <a:lstStyle/>
          <a:p>
            <a:endParaRPr lang="da-DK" noProof="1"/>
          </a:p>
        </p:txBody>
      </p:sp>
    </p:spTree>
    <p:extLst>
      <p:ext uri="{BB962C8B-B14F-4D97-AF65-F5344CB8AC3E}">
        <p14:creationId xmlns:p14="http://schemas.microsoft.com/office/powerpoint/2010/main" val="195903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7239E-8F2E-3712-7AC7-67D8048E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C7726F0-3FA7-7D8C-BFDE-74C5AA2C6A0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876FC24-1D04-E9D6-DF51-CF959F5A8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6C3314B-31A7-882C-8D2C-DF2C9A9372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/>
              <a:t>Tiden før Azure og Cloud</a:t>
            </a:r>
          </a:p>
          <a:p>
            <a:endParaRPr lang="da-DK" sz="2000" noProof="1"/>
          </a:p>
          <a:p>
            <a:r>
              <a:rPr lang="da-DK" sz="2000" noProof="1"/>
              <a:t>Problemerne ved on-premises</a:t>
            </a:r>
          </a:p>
          <a:p>
            <a:endParaRPr lang="da-DK" sz="2000" noProof="1"/>
          </a:p>
          <a:p>
            <a:r>
              <a:rPr lang="da-DK" sz="2000" noProof="1"/>
              <a:t>Hvad er Cloud?</a:t>
            </a:r>
          </a:p>
          <a:p>
            <a:endParaRPr lang="da-DK" sz="2000" noProof="1"/>
          </a:p>
          <a:p>
            <a:r>
              <a:rPr lang="da-DK" sz="2000" noProof="1"/>
              <a:t>Hvad er Azure?</a:t>
            </a:r>
          </a:p>
          <a:p>
            <a:endParaRPr lang="da-DK" sz="2000" noProof="1"/>
          </a:p>
          <a:p>
            <a:r>
              <a:rPr lang="da-DK" sz="2000" noProof="1"/>
              <a:t>Hvordan er Azure organiseret?</a:t>
            </a:r>
          </a:p>
          <a:p>
            <a:endParaRPr lang="da-DK" sz="2000" noProof="1"/>
          </a:p>
          <a:p>
            <a:r>
              <a:rPr lang="da-DK" sz="2000" noProof="1"/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89D7FE0-72FC-6193-DCE5-B9F594BD407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2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2C38E2D-6DE7-3338-B4F0-4A0A97C066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/>
              <a:t>01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02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18C2E-3B08-5A28-841B-51507CC69A87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AC3211-74DB-7DF0-2F37-77ABAF702697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235260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B3C2-99F0-C137-AC21-029493A9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B65E94ED-51DB-FF59-56E8-1136EA815A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B521A21-D67B-AD0C-6BFC-1D4D40153F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65A2188-2352-FB7D-C9A9-7CDAFB0F43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3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8D1D63A-4682-7625-C33E-73345D884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Tiden før Azure og Cloud</a:t>
            </a:r>
          </a:p>
        </p:txBody>
      </p:sp>
    </p:spTree>
    <p:extLst>
      <p:ext uri="{BB962C8B-B14F-4D97-AF65-F5344CB8AC3E}">
        <p14:creationId xmlns:p14="http://schemas.microsoft.com/office/powerpoint/2010/main" val="284487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17FB-2BDC-7C62-4A8B-22FEA4DD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D6DBA27-D381-7BAB-D0D8-B5C91FF2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4" y="395288"/>
            <a:ext cx="11647723" cy="663600"/>
          </a:xfrm>
        </p:spPr>
        <p:txBody>
          <a:bodyPr/>
          <a:lstStyle/>
          <a:p>
            <a:r>
              <a:rPr lang="da-DK" noProof="1"/>
              <a:t>Hvordan byggede man software før cloud?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CD2ED7F-0615-A815-22CB-1608EF2E77F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56012" y="8543224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ED6BE1F-5133-D87C-5348-00CF8AA460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56012" y="8543224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264B68B-03BF-89C9-21FE-EFABBA930D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4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C258DD-3BCE-AF09-45D2-2D909BE25DDB}"/>
              </a:ext>
            </a:extLst>
          </p:cNvPr>
          <p:cNvSpPr/>
          <p:nvPr/>
        </p:nvSpPr>
        <p:spPr>
          <a:xfrm>
            <a:off x="717716" y="957764"/>
            <a:ext cx="2058152" cy="56350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Brugere</a:t>
            </a:r>
            <a:endParaRPr lang="da-DK" sz="1600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4A3CDB-833C-65E9-FA67-61220960D8BD}"/>
              </a:ext>
            </a:extLst>
          </p:cNvPr>
          <p:cNvSpPr/>
          <p:nvPr/>
        </p:nvSpPr>
        <p:spPr>
          <a:xfrm>
            <a:off x="7367152" y="4084693"/>
            <a:ext cx="4107132" cy="246496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1B717-94CC-A93B-45BA-9945D94BFC39}"/>
              </a:ext>
            </a:extLst>
          </p:cNvPr>
          <p:cNvSpPr txBox="1"/>
          <p:nvPr/>
        </p:nvSpPr>
        <p:spPr>
          <a:xfrm>
            <a:off x="7477442" y="4207431"/>
            <a:ext cx="20758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Wolts</a:t>
            </a:r>
            <a:r>
              <a:rPr lang="da-DK" sz="1600" dirty="0"/>
              <a:t> hovedkvarter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5AE188-05F4-858D-BB0C-930032B6AB7C}"/>
              </a:ext>
            </a:extLst>
          </p:cNvPr>
          <p:cNvCxnSpPr>
            <a:cxnSpLocks/>
            <a:stCxn id="2" idx="2"/>
            <a:endCxn id="20" idx="0"/>
          </p:cNvCxnSpPr>
          <p:nvPr/>
        </p:nvCxnSpPr>
        <p:spPr>
          <a:xfrm>
            <a:off x="1746792" y="1521271"/>
            <a:ext cx="0" cy="322176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81D84E0-CB80-35B0-6D80-41A52B621089}"/>
              </a:ext>
            </a:extLst>
          </p:cNvPr>
          <p:cNvSpPr/>
          <p:nvPr/>
        </p:nvSpPr>
        <p:spPr>
          <a:xfrm>
            <a:off x="7447602" y="4619800"/>
            <a:ext cx="3689348" cy="1861065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BED477-39BD-B76C-0CC8-E9AF707B3089}"/>
              </a:ext>
            </a:extLst>
          </p:cNvPr>
          <p:cNvSpPr txBox="1"/>
          <p:nvPr/>
        </p:nvSpPr>
        <p:spPr>
          <a:xfrm>
            <a:off x="7545054" y="4667897"/>
            <a:ext cx="238366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Server-rum i kælderen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1CE2093-4F1F-93C1-1A4C-51EDCD879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054" y="5692642"/>
            <a:ext cx="654050" cy="6540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8001AE-458C-E521-A8A4-8983F0B9D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054" y="5048290"/>
            <a:ext cx="654050" cy="6540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3CD6A37-1E22-6182-A89E-588AF4A61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753" y="5692642"/>
            <a:ext cx="654050" cy="6540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4FC469D-A32F-A7D2-1061-2161104C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819" y="5048290"/>
            <a:ext cx="654050" cy="6540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9E77FB-E1A1-EA32-F38B-A11687AFB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092" y="5692642"/>
            <a:ext cx="654050" cy="6540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1D7E470-ACBD-EF38-9154-10B0B270B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092" y="5048290"/>
            <a:ext cx="654050" cy="6540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5751D0A-C214-6703-478E-6FB4AFA82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486" y="5692642"/>
            <a:ext cx="654050" cy="6540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A950481-2708-1BE0-6BF0-241D0C407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592" y="5048290"/>
            <a:ext cx="654050" cy="6540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BF0294A-4537-766C-700D-BCEF2E287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012" y="5692642"/>
            <a:ext cx="654050" cy="6540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EF748A4-4FA2-8010-CFA1-8C619C6A1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118" y="5048290"/>
            <a:ext cx="654050" cy="65405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57B75E1-4479-132A-2579-BC13459CF2E1}"/>
              </a:ext>
            </a:extLst>
          </p:cNvPr>
          <p:cNvSpPr txBox="1"/>
          <p:nvPr/>
        </p:nvSpPr>
        <p:spPr>
          <a:xfrm>
            <a:off x="9799284" y="2913287"/>
            <a:ext cx="13176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on-</a:t>
            </a:r>
            <a:r>
              <a:rPr lang="da-DK" sz="1600" dirty="0" err="1"/>
              <a:t>premises</a:t>
            </a:r>
            <a:endParaRPr lang="da-DK" sz="16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D60E682-EF3E-E5D9-9769-753B8D234BD8}"/>
              </a:ext>
            </a:extLst>
          </p:cNvPr>
          <p:cNvCxnSpPr>
            <a:cxnSpLocks/>
          </p:cNvCxnSpPr>
          <p:nvPr/>
        </p:nvCxnSpPr>
        <p:spPr>
          <a:xfrm flipH="1">
            <a:off x="10082617" y="3183702"/>
            <a:ext cx="375501" cy="1695508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35D77E-4B60-905C-1D02-D3378E414D21}"/>
              </a:ext>
            </a:extLst>
          </p:cNvPr>
          <p:cNvCxnSpPr>
            <a:cxnSpLocks/>
          </p:cNvCxnSpPr>
          <p:nvPr/>
        </p:nvCxnSpPr>
        <p:spPr>
          <a:xfrm flipH="1">
            <a:off x="2932078" y="1117462"/>
            <a:ext cx="791662" cy="123142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939312-421D-F748-42A0-CDC7FEA7E0DC}"/>
              </a:ext>
            </a:extLst>
          </p:cNvPr>
          <p:cNvSpPr txBox="1"/>
          <p:nvPr/>
        </p:nvSpPr>
        <p:spPr>
          <a:xfrm>
            <a:off x="3920120" y="957764"/>
            <a:ext cx="58669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dig 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8C818-6D06-5493-7CCA-6A2A2DE4BEF7}"/>
              </a:ext>
            </a:extLst>
          </p:cNvPr>
          <p:cNvSpPr/>
          <p:nvPr/>
        </p:nvSpPr>
        <p:spPr>
          <a:xfrm>
            <a:off x="717716" y="1843447"/>
            <a:ext cx="2058152" cy="56350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Computer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A49398-FD27-B5F3-3B0A-E2176D42207F}"/>
              </a:ext>
            </a:extLst>
          </p:cNvPr>
          <p:cNvSpPr/>
          <p:nvPr/>
        </p:nvSpPr>
        <p:spPr>
          <a:xfrm>
            <a:off x="717716" y="2722091"/>
            <a:ext cx="2058152" cy="56350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Browser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3BE143A-8961-27F8-54D0-2D6C05D78D54}"/>
              </a:ext>
            </a:extLst>
          </p:cNvPr>
          <p:cNvCxnSpPr>
            <a:cxnSpLocks/>
            <a:stCxn id="20" idx="2"/>
            <a:endCxn id="37" idx="0"/>
          </p:cNvCxnSpPr>
          <p:nvPr/>
        </p:nvCxnSpPr>
        <p:spPr>
          <a:xfrm>
            <a:off x="1746792" y="2406954"/>
            <a:ext cx="0" cy="31513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A048684-1B4C-91EC-9094-0378FE67D03E}"/>
              </a:ext>
            </a:extLst>
          </p:cNvPr>
          <p:cNvCxnSpPr>
            <a:cxnSpLocks/>
          </p:cNvCxnSpPr>
          <p:nvPr/>
        </p:nvCxnSpPr>
        <p:spPr>
          <a:xfrm flipH="1">
            <a:off x="2932078" y="1907419"/>
            <a:ext cx="908072" cy="136749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B0A80DC-463D-1F36-BC89-5EBF4B36E63E}"/>
              </a:ext>
            </a:extLst>
          </p:cNvPr>
          <p:cNvSpPr txBox="1"/>
          <p:nvPr/>
        </p:nvSpPr>
        <p:spPr>
          <a:xfrm>
            <a:off x="3971311" y="1729572"/>
            <a:ext cx="289181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computer derhjemme 🧑‍💻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8852040-3C17-C17B-26F6-4C1C5B0B42DE}"/>
              </a:ext>
            </a:extLst>
          </p:cNvPr>
          <p:cNvCxnSpPr>
            <a:cxnSpLocks/>
          </p:cNvCxnSpPr>
          <p:nvPr/>
        </p:nvCxnSpPr>
        <p:spPr>
          <a:xfrm flipH="1" flipV="1">
            <a:off x="2847528" y="3429000"/>
            <a:ext cx="889105" cy="348296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97BB530-3762-764B-09D8-70D3A8686022}"/>
              </a:ext>
            </a:extLst>
          </p:cNvPr>
          <p:cNvSpPr txBox="1"/>
          <p:nvPr/>
        </p:nvSpPr>
        <p:spPr>
          <a:xfrm>
            <a:off x="3920120" y="3654185"/>
            <a:ext cx="341279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Chrome, Edge, Firefox, Safari 🌊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829C515-04A3-4F70-CAC5-304CA30A7D69}"/>
              </a:ext>
            </a:extLst>
          </p:cNvPr>
          <p:cNvSpPr/>
          <p:nvPr/>
        </p:nvSpPr>
        <p:spPr>
          <a:xfrm>
            <a:off x="3203532" y="2710983"/>
            <a:ext cx="2058152" cy="56350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Internet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5F764D-0F0C-7304-317E-83E9FE994908}"/>
              </a:ext>
            </a:extLst>
          </p:cNvPr>
          <p:cNvCxnSpPr>
            <a:cxnSpLocks/>
          </p:cNvCxnSpPr>
          <p:nvPr/>
        </p:nvCxnSpPr>
        <p:spPr>
          <a:xfrm flipH="1">
            <a:off x="5361650" y="2875481"/>
            <a:ext cx="908072" cy="136749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B32C4E9-7F37-4FA2-BAF7-CF7ACE102C74}"/>
              </a:ext>
            </a:extLst>
          </p:cNvPr>
          <p:cNvSpPr txBox="1"/>
          <p:nvPr/>
        </p:nvSpPr>
        <p:spPr>
          <a:xfrm>
            <a:off x="6400883" y="2697634"/>
            <a:ext cx="30152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Wi-Fi eller Ethernet-kabel 🛜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524A659-3E2B-B877-5A5A-6D9860FB0BE6}"/>
              </a:ext>
            </a:extLst>
          </p:cNvPr>
          <p:cNvCxnSpPr>
            <a:cxnSpLocks/>
            <a:stCxn id="20" idx="3"/>
            <a:endCxn id="55" idx="0"/>
          </p:cNvCxnSpPr>
          <p:nvPr/>
        </p:nvCxnSpPr>
        <p:spPr>
          <a:xfrm>
            <a:off x="2775868" y="2125201"/>
            <a:ext cx="1456740" cy="58578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BF2AFF1-7F5A-15FC-FBDA-ED88D1A0EB59}"/>
              </a:ext>
            </a:extLst>
          </p:cNvPr>
          <p:cNvSpPr/>
          <p:nvPr/>
        </p:nvSpPr>
        <p:spPr>
          <a:xfrm>
            <a:off x="717716" y="3632199"/>
            <a:ext cx="2058152" cy="56350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w</a:t>
            </a:r>
            <a:r>
              <a:rPr lang="da-DK" sz="1600" noProof="0" dirty="0" err="1"/>
              <a:t>olt.dk</a:t>
            </a:r>
            <a:endParaRPr lang="da-DK" sz="1600" noProof="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C598923-08E2-2BB9-429A-058F3A123CDD}"/>
              </a:ext>
            </a:extLst>
          </p:cNvPr>
          <p:cNvCxnSpPr>
            <a:cxnSpLocks/>
            <a:stCxn id="37" idx="2"/>
            <a:endCxn id="67" idx="0"/>
          </p:cNvCxnSpPr>
          <p:nvPr/>
        </p:nvCxnSpPr>
        <p:spPr>
          <a:xfrm>
            <a:off x="1746792" y="3285598"/>
            <a:ext cx="0" cy="34660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B354FC9-F80C-8703-9ECE-B10FE89B0EB8}"/>
              </a:ext>
            </a:extLst>
          </p:cNvPr>
          <p:cNvCxnSpPr>
            <a:cxnSpLocks/>
          </p:cNvCxnSpPr>
          <p:nvPr/>
        </p:nvCxnSpPr>
        <p:spPr>
          <a:xfrm flipH="1" flipV="1">
            <a:off x="2881766" y="3978920"/>
            <a:ext cx="889105" cy="348296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686005A-214C-D755-9683-5314C166F747}"/>
              </a:ext>
            </a:extLst>
          </p:cNvPr>
          <p:cNvSpPr txBox="1"/>
          <p:nvPr/>
        </p:nvSpPr>
        <p:spPr>
          <a:xfrm>
            <a:off x="3954358" y="4204105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du er sulten 🍔 </a:t>
            </a:r>
          </a:p>
        </p:txBody>
      </p:sp>
      <p:pic>
        <p:nvPicPr>
          <p:cNvPr id="75" name="Picture 74" descr="The Invisible Backbone of the Internet: Nearly A Million Miles of Undersea  Cables Keep the World Connected — But What Happens If They Break?">
            <a:extLst>
              <a:ext uri="{FF2B5EF4-FFF2-40B4-BE49-F238E27FC236}">
                <a16:creationId xmlns:a16="http://schemas.microsoft.com/office/drawing/2014/main" id="{361509EB-3001-9317-24BC-12511A079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897" y="4630915"/>
            <a:ext cx="3010620" cy="1863599"/>
          </a:xfrm>
          <a:prstGeom prst="rect">
            <a:avLst/>
          </a:prstGeom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F49E737-383C-A61C-657E-D05934F7F9B1}"/>
              </a:ext>
            </a:extLst>
          </p:cNvPr>
          <p:cNvCxnSpPr>
            <a:cxnSpLocks/>
            <a:stCxn id="67" idx="2"/>
            <a:endCxn id="75" idx="1"/>
          </p:cNvCxnSpPr>
          <p:nvPr/>
        </p:nvCxnSpPr>
        <p:spPr>
          <a:xfrm>
            <a:off x="1746792" y="4195706"/>
            <a:ext cx="869105" cy="136700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CCF0117-DCD7-EE54-3D6A-7CEAEA8C7A99}"/>
              </a:ext>
            </a:extLst>
          </p:cNvPr>
          <p:cNvCxnSpPr>
            <a:cxnSpLocks/>
            <a:stCxn id="75" idx="3"/>
            <a:endCxn id="21" idx="1"/>
          </p:cNvCxnSpPr>
          <p:nvPr/>
        </p:nvCxnSpPr>
        <p:spPr>
          <a:xfrm flipV="1">
            <a:off x="5626517" y="5550333"/>
            <a:ext cx="1821085" cy="1238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C6EC3CA-A6D6-EEC8-F1D9-667167890361}"/>
              </a:ext>
            </a:extLst>
          </p:cNvPr>
          <p:cNvSpPr txBox="1"/>
          <p:nvPr/>
        </p:nvSpPr>
        <p:spPr>
          <a:xfrm>
            <a:off x="780511" y="4925179"/>
            <a:ext cx="130163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bestilling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D08155-641F-79EF-7F8E-FD2A2D219B89}"/>
              </a:ext>
            </a:extLst>
          </p:cNvPr>
          <p:cNvSpPr txBox="1"/>
          <p:nvPr/>
        </p:nvSpPr>
        <p:spPr>
          <a:xfrm>
            <a:off x="5815686" y="5702340"/>
            <a:ext cx="130163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stadig </a:t>
            </a:r>
            <a:br>
              <a:rPr lang="da-DK" sz="1600" dirty="0"/>
            </a:br>
            <a:r>
              <a:rPr lang="da-DK" sz="1600" dirty="0"/>
              <a:t>din bestilling</a:t>
            </a:r>
          </a:p>
        </p:txBody>
      </p:sp>
    </p:spTree>
    <p:extLst>
      <p:ext uri="{BB962C8B-B14F-4D97-AF65-F5344CB8AC3E}">
        <p14:creationId xmlns:p14="http://schemas.microsoft.com/office/powerpoint/2010/main" val="19237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/>
      <p:bldP spid="21" grpId="0" animBg="1"/>
      <p:bldP spid="22" grpId="0"/>
      <p:bldP spid="40" grpId="0"/>
      <p:bldP spid="17" grpId="0"/>
      <p:bldP spid="20" grpId="0" animBg="1"/>
      <p:bldP spid="37" grpId="0" animBg="1"/>
      <p:bldP spid="48" grpId="0"/>
      <p:bldP spid="54" grpId="0"/>
      <p:bldP spid="55" grpId="0" animBg="1"/>
      <p:bldP spid="60" grpId="0"/>
      <p:bldP spid="67" grpId="0" animBg="1"/>
      <p:bldP spid="72" grpId="0"/>
      <p:bldP spid="85" grpId="0"/>
      <p:bldP spid="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132E-513E-D50A-CD3F-1584313B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2">
            <a:extLst>
              <a:ext uri="{FF2B5EF4-FFF2-40B4-BE49-F238E27FC236}">
                <a16:creationId xmlns:a16="http://schemas.microsoft.com/office/drawing/2014/main" id="{A5302CF2-E433-A396-E3FC-705F46C7B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3" r="21175"/>
          <a:stretch>
            <a:fillRect/>
          </a:stretch>
        </p:blipFill>
        <p:spPr bwMode="auto">
          <a:xfrm>
            <a:off x="3187700" y="0"/>
            <a:ext cx="9004300" cy="632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9965755-C374-80C3-393A-ABD88A9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5" y="395287"/>
            <a:ext cx="2587626" cy="936765"/>
          </a:xfrm>
        </p:spPr>
        <p:txBody>
          <a:bodyPr/>
          <a:lstStyle/>
          <a:p>
            <a:r>
              <a:rPr lang="da-DK" noProof="1"/>
              <a:t>Okay, men hvad er en server egentlig?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6A22EDC-E55F-47E2-2EB1-34361266ED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1177BF-98F5-5001-2AD3-41A46D0CC32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1B3E88E-AB95-EF66-9C84-CB5EB6EA44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</a:t>
            </a:fld>
            <a:endParaRPr lang="da-DK" noProof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3C56F4-418A-1655-DC0A-4EA455A6CBBC}"/>
              </a:ext>
            </a:extLst>
          </p:cNvPr>
          <p:cNvSpPr txBox="1"/>
          <p:nvPr/>
        </p:nvSpPr>
        <p:spPr>
          <a:xfrm>
            <a:off x="196267" y="1451922"/>
            <a:ext cx="26866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Rackserver hos Microsoft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7BE6B4-F3B2-6C61-D9DF-1AB13A522A27}"/>
              </a:ext>
            </a:extLst>
          </p:cNvPr>
          <p:cNvSpPr txBox="1"/>
          <p:nvPr/>
        </p:nvSpPr>
        <p:spPr>
          <a:xfrm>
            <a:off x="1016201" y="2105832"/>
            <a:ext cx="10467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Computer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FEB3EB-993F-74A6-D814-BB7D9A6BB610}"/>
              </a:ext>
            </a:extLst>
          </p:cNvPr>
          <p:cNvSpPr txBox="1"/>
          <p:nvPr/>
        </p:nvSpPr>
        <p:spPr>
          <a:xfrm>
            <a:off x="1016201" y="2604078"/>
            <a:ext cx="10467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Computer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694E6C-3615-CFF6-BE19-BF64D452230F}"/>
              </a:ext>
            </a:extLst>
          </p:cNvPr>
          <p:cNvSpPr txBox="1"/>
          <p:nvPr/>
        </p:nvSpPr>
        <p:spPr>
          <a:xfrm>
            <a:off x="1016200" y="3102324"/>
            <a:ext cx="10467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Computer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1EEDA3-0D95-B922-7381-38584E24D6EC}"/>
              </a:ext>
            </a:extLst>
          </p:cNvPr>
          <p:cNvSpPr txBox="1"/>
          <p:nvPr/>
        </p:nvSpPr>
        <p:spPr>
          <a:xfrm>
            <a:off x="458357" y="4576604"/>
            <a:ext cx="216245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Forbundet via kabler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CE2405-2541-4C1B-5430-8CA2DE1D43EE}"/>
              </a:ext>
            </a:extLst>
          </p:cNvPr>
          <p:cNvSpPr txBox="1"/>
          <p:nvPr/>
        </p:nvSpPr>
        <p:spPr>
          <a:xfrm>
            <a:off x="3187700" y="6459172"/>
            <a:ext cx="84972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100" dirty="0" err="1"/>
              <a:t>https</a:t>
            </a:r>
            <a:r>
              <a:rPr lang="da-DK" sz="1100" dirty="0"/>
              <a:t>://</a:t>
            </a:r>
            <a:r>
              <a:rPr lang="da-DK" sz="1100" dirty="0" err="1"/>
              <a:t>blogs.microsoft.com</a:t>
            </a:r>
            <a:r>
              <a:rPr lang="da-DK" sz="1100" dirty="0"/>
              <a:t>/blog/2025/09/18/</a:t>
            </a:r>
            <a:r>
              <a:rPr lang="da-DK" sz="1100" dirty="0" err="1"/>
              <a:t>inside</a:t>
            </a:r>
            <a:r>
              <a:rPr lang="da-DK" sz="1100" dirty="0"/>
              <a:t>-the-</a:t>
            </a:r>
            <a:r>
              <a:rPr lang="da-DK" sz="1100" dirty="0" err="1"/>
              <a:t>worlds</a:t>
            </a:r>
            <a:r>
              <a:rPr lang="da-DK" sz="1100" dirty="0"/>
              <a:t>-most-</a:t>
            </a:r>
            <a:r>
              <a:rPr lang="da-DK" sz="1100" dirty="0" err="1"/>
              <a:t>powerful</a:t>
            </a:r>
            <a:r>
              <a:rPr lang="da-DK" sz="1100" dirty="0"/>
              <a:t>-</a:t>
            </a:r>
            <a:r>
              <a:rPr lang="da-DK" sz="1100" dirty="0" err="1"/>
              <a:t>ai</a:t>
            </a:r>
            <a:r>
              <a:rPr lang="da-DK" sz="1100" dirty="0"/>
              <a:t>-datacenter/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FA0ED02-5F1D-BD2D-688B-97315A35A4EC}"/>
              </a:ext>
            </a:extLst>
          </p:cNvPr>
          <p:cNvCxnSpPr>
            <a:cxnSpLocks/>
          </p:cNvCxnSpPr>
          <p:nvPr/>
        </p:nvCxnSpPr>
        <p:spPr>
          <a:xfrm>
            <a:off x="2916426" y="1584078"/>
            <a:ext cx="1135659" cy="94898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C43D67-DC18-7676-7481-78F271092419}"/>
              </a:ext>
            </a:extLst>
          </p:cNvPr>
          <p:cNvCxnSpPr>
            <a:cxnSpLocks/>
          </p:cNvCxnSpPr>
          <p:nvPr/>
        </p:nvCxnSpPr>
        <p:spPr>
          <a:xfrm flipV="1">
            <a:off x="2161309" y="1887467"/>
            <a:ext cx="3437907" cy="335866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0A13CB-D489-D87B-1921-EEBD5195ADFD}"/>
              </a:ext>
            </a:extLst>
          </p:cNvPr>
          <p:cNvCxnSpPr>
            <a:cxnSpLocks/>
          </p:cNvCxnSpPr>
          <p:nvPr/>
        </p:nvCxnSpPr>
        <p:spPr>
          <a:xfrm flipV="1">
            <a:off x="2161309" y="1983179"/>
            <a:ext cx="3437907" cy="772222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E62D61B-834B-B55C-8AE2-600D6B9F5268}"/>
              </a:ext>
            </a:extLst>
          </p:cNvPr>
          <p:cNvSpPr txBox="1"/>
          <p:nvPr/>
        </p:nvSpPr>
        <p:spPr>
          <a:xfrm>
            <a:off x="1016199" y="3510013"/>
            <a:ext cx="10467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Computer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AD882E-1AFA-533D-F6F2-AE105D5816F5}"/>
              </a:ext>
            </a:extLst>
          </p:cNvPr>
          <p:cNvCxnSpPr>
            <a:cxnSpLocks/>
          </p:cNvCxnSpPr>
          <p:nvPr/>
        </p:nvCxnSpPr>
        <p:spPr>
          <a:xfrm flipV="1">
            <a:off x="2161308" y="2091177"/>
            <a:ext cx="3437908" cy="114737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B93472-5106-7AFC-7211-F6AA0063C48A}"/>
              </a:ext>
            </a:extLst>
          </p:cNvPr>
          <p:cNvCxnSpPr>
            <a:cxnSpLocks/>
          </p:cNvCxnSpPr>
          <p:nvPr/>
        </p:nvCxnSpPr>
        <p:spPr>
          <a:xfrm flipV="1">
            <a:off x="2161308" y="2204166"/>
            <a:ext cx="3437908" cy="143096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AB79BC-FF2D-3344-5518-D874BC7213EC}"/>
              </a:ext>
            </a:extLst>
          </p:cNvPr>
          <p:cNvCxnSpPr>
            <a:cxnSpLocks/>
          </p:cNvCxnSpPr>
          <p:nvPr/>
        </p:nvCxnSpPr>
        <p:spPr>
          <a:xfrm flipV="1">
            <a:off x="2719154" y="4488873"/>
            <a:ext cx="2571303" cy="22431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55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56" grpId="0"/>
      <p:bldP spid="7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6C6E35A-431C-F5CF-A4CC-210547BBED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9" y="395289"/>
            <a:ext cx="5618162" cy="481011"/>
          </a:xfrm>
        </p:spPr>
        <p:txBody>
          <a:bodyPr/>
          <a:lstStyle/>
          <a:p>
            <a:pPr>
              <a:buNone/>
            </a:pPr>
            <a:r>
              <a:rPr lang="da-DK" sz="2400" noProof="1"/>
              <a:t>Et typisk on-premises setup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E63A528-8A4C-5927-80A7-895586E95E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65C56-BA79-B20A-B0FB-4F4F1F1FDD6E}"/>
              </a:ext>
            </a:extLst>
          </p:cNvPr>
          <p:cNvSpPr/>
          <p:nvPr/>
        </p:nvSpPr>
        <p:spPr>
          <a:xfrm>
            <a:off x="4062900" y="1836526"/>
            <a:ext cx="4152117" cy="48101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Firewall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C29679-1602-0464-6518-5828A54A17C3}"/>
              </a:ext>
            </a:extLst>
          </p:cNvPr>
          <p:cNvSpPr txBox="1"/>
          <p:nvPr/>
        </p:nvSpPr>
        <p:spPr>
          <a:xfrm>
            <a:off x="8627100" y="4020562"/>
            <a:ext cx="17088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F.eks. Order API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66CDB1-1265-A43E-9E02-755A83107E7C}"/>
              </a:ext>
            </a:extLst>
          </p:cNvPr>
          <p:cNvSpPr txBox="1"/>
          <p:nvPr/>
        </p:nvSpPr>
        <p:spPr>
          <a:xfrm>
            <a:off x="8625381" y="5396133"/>
            <a:ext cx="122469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F.eks. Raito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311DB-5CC2-F95C-3ABF-E9B5B8D4EF93}"/>
              </a:ext>
            </a:extLst>
          </p:cNvPr>
          <p:cNvSpPr txBox="1"/>
          <p:nvPr/>
        </p:nvSpPr>
        <p:spPr>
          <a:xfrm>
            <a:off x="1859128" y="4449544"/>
            <a:ext cx="13882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Fysisk 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F1D666-1C82-F752-CD5C-412D8E2AEF35}"/>
              </a:ext>
            </a:extLst>
          </p:cNvPr>
          <p:cNvCxnSpPr>
            <a:cxnSpLocks/>
            <a:stCxn id="2" idx="2"/>
            <a:endCxn id="23" idx="0"/>
          </p:cNvCxnSpPr>
          <p:nvPr/>
        </p:nvCxnSpPr>
        <p:spPr>
          <a:xfrm flipH="1">
            <a:off x="6138957" y="2317537"/>
            <a:ext cx="2" cy="57367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2977586-1DF7-3897-1735-33503991F14E}"/>
              </a:ext>
            </a:extLst>
          </p:cNvPr>
          <p:cNvSpPr/>
          <p:nvPr/>
        </p:nvSpPr>
        <p:spPr>
          <a:xfrm>
            <a:off x="4954290" y="2891212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Web Server</a:t>
            </a:r>
            <a:endParaRPr lang="da-DK" sz="1600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0736D6-0CF5-200E-CE09-76BF29AD9C9F}"/>
              </a:ext>
            </a:extLst>
          </p:cNvPr>
          <p:cNvSpPr/>
          <p:nvPr/>
        </p:nvSpPr>
        <p:spPr>
          <a:xfrm>
            <a:off x="4954289" y="5642354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Database</a:t>
            </a:r>
            <a:endParaRPr lang="da-DK" sz="1600" noProof="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F014F5-400F-6EFC-252C-EEB470A69A2A}"/>
              </a:ext>
            </a:extLst>
          </p:cNvPr>
          <p:cNvCxnSpPr>
            <a:cxnSpLocks/>
            <a:stCxn id="23" idx="2"/>
            <a:endCxn id="8" idx="0"/>
          </p:cNvCxnSpPr>
          <p:nvPr/>
        </p:nvCxnSpPr>
        <p:spPr>
          <a:xfrm flipH="1">
            <a:off x="6138955" y="3709982"/>
            <a:ext cx="2" cy="51633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201FF8-9411-4040-302F-54F79405004E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>
            <a:off x="6138955" y="5045089"/>
            <a:ext cx="1" cy="59726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B81B8D-4C26-74D6-4A38-DA0F2C3C7B34}"/>
              </a:ext>
            </a:extLst>
          </p:cNvPr>
          <p:cNvCxnSpPr>
            <a:cxnSpLocks/>
          </p:cNvCxnSpPr>
          <p:nvPr/>
        </p:nvCxnSpPr>
        <p:spPr>
          <a:xfrm flipH="1">
            <a:off x="7365931" y="4222920"/>
            <a:ext cx="1203511" cy="453248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7BCF11-2CFD-8E8C-F00A-1B28E68CB31C}"/>
              </a:ext>
            </a:extLst>
          </p:cNvPr>
          <p:cNvCxnSpPr>
            <a:cxnSpLocks/>
          </p:cNvCxnSpPr>
          <p:nvPr/>
        </p:nvCxnSpPr>
        <p:spPr>
          <a:xfrm flipH="1">
            <a:off x="7372746" y="5598491"/>
            <a:ext cx="1203511" cy="453248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24E40FC-9B60-28E0-0F4B-994865EC2EED}"/>
              </a:ext>
            </a:extLst>
          </p:cNvPr>
          <p:cNvCxnSpPr>
            <a:cxnSpLocks/>
          </p:cNvCxnSpPr>
          <p:nvPr/>
        </p:nvCxnSpPr>
        <p:spPr>
          <a:xfrm flipV="1">
            <a:off x="3296798" y="3300597"/>
            <a:ext cx="1573480" cy="114894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94945E7-A69E-F016-502F-AD8FFD81E4F1}"/>
              </a:ext>
            </a:extLst>
          </p:cNvPr>
          <p:cNvCxnSpPr>
            <a:cxnSpLocks/>
          </p:cNvCxnSpPr>
          <p:nvPr/>
        </p:nvCxnSpPr>
        <p:spPr>
          <a:xfrm>
            <a:off x="3322360" y="4580578"/>
            <a:ext cx="1574271" cy="9559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DF62DA-DB23-DC3D-4FA2-63C340DE1107}"/>
              </a:ext>
            </a:extLst>
          </p:cNvPr>
          <p:cNvCxnSpPr>
            <a:cxnSpLocks/>
          </p:cNvCxnSpPr>
          <p:nvPr/>
        </p:nvCxnSpPr>
        <p:spPr>
          <a:xfrm>
            <a:off x="3296798" y="4739496"/>
            <a:ext cx="1599833" cy="136566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EC11256-8940-27A1-B3AA-A0964036D3A9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>
            <a:off x="6138955" y="1271288"/>
            <a:ext cx="4" cy="56523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78AC2C4-C22A-E7E9-C1FF-4BA60A3D9346}"/>
              </a:ext>
            </a:extLst>
          </p:cNvPr>
          <p:cNvSpPr/>
          <p:nvPr/>
        </p:nvSpPr>
        <p:spPr>
          <a:xfrm>
            <a:off x="4954288" y="452518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Brugere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62EEF9-5F59-CFDA-2670-E4BCBB2AD172}"/>
              </a:ext>
            </a:extLst>
          </p:cNvPr>
          <p:cNvSpPr/>
          <p:nvPr/>
        </p:nvSpPr>
        <p:spPr>
          <a:xfrm>
            <a:off x="4954288" y="4226319"/>
            <a:ext cx="2369333" cy="818770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Applikation</a:t>
            </a:r>
            <a:endParaRPr lang="da-DK" sz="16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F5D2A-F292-61AF-7C4C-D320795CD344}"/>
              </a:ext>
            </a:extLst>
          </p:cNvPr>
          <p:cNvSpPr txBox="1"/>
          <p:nvPr/>
        </p:nvSpPr>
        <p:spPr>
          <a:xfrm>
            <a:off x="8668804" y="2682114"/>
            <a:ext cx="253274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F.eks. IIS, Apache, </a:t>
            </a:r>
            <a:r>
              <a:rPr lang="da-DK" sz="1600" dirty="0" err="1"/>
              <a:t>Nginx</a:t>
            </a:r>
            <a:endParaRPr lang="da-DK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0A66CA-1988-A8FF-EE14-1C513D04ABAB}"/>
              </a:ext>
            </a:extLst>
          </p:cNvPr>
          <p:cNvCxnSpPr>
            <a:cxnSpLocks/>
          </p:cNvCxnSpPr>
          <p:nvPr/>
        </p:nvCxnSpPr>
        <p:spPr>
          <a:xfrm flipH="1">
            <a:off x="7407635" y="2884472"/>
            <a:ext cx="1203511" cy="453248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92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/>
      <p:bldP spid="25" grpId="0"/>
      <p:bldP spid="29" grpId="0"/>
      <p:bldP spid="23" grpId="0" animBg="1"/>
      <p:bldP spid="30" grpId="0" animBg="1"/>
      <p:bldP spid="4" grpId="0" animBg="1"/>
      <p:bldP spid="8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7E4F434-EC8D-BDF2-DF12-07B4BB9A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48" y="395288"/>
            <a:ext cx="5618162" cy="323169"/>
          </a:xfrm>
        </p:spPr>
        <p:txBody>
          <a:bodyPr/>
          <a:lstStyle/>
          <a:p>
            <a:r>
              <a:rPr lang="da-DK" noProof="1"/>
              <a:t>Hvem havde ansvaret?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0F55FC8-4178-98E7-A4C1-52AB9CDC162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7F3BAD2-B1BF-2C6A-33BD-B0DE1B8DA1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3C2739C-327D-A4B7-FF55-A66AD27260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</a:t>
            </a:fld>
            <a:endParaRPr lang="da-DK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4E48A-FC9A-F991-1CCF-96D42D53D793}"/>
              </a:ext>
            </a:extLst>
          </p:cNvPr>
          <p:cNvSpPr txBox="1"/>
          <p:nvPr/>
        </p:nvSpPr>
        <p:spPr>
          <a:xfrm>
            <a:off x="3270241" y="2405261"/>
            <a:ext cx="8223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67F4F3-3F3F-E72C-B885-9EE34EEEF61F}"/>
              </a:ext>
            </a:extLst>
          </p:cNvPr>
          <p:cNvSpPr txBox="1"/>
          <p:nvPr/>
        </p:nvSpPr>
        <p:spPr>
          <a:xfrm>
            <a:off x="3270241" y="2892782"/>
            <a:ext cx="92813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Netværk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00E09-C688-256E-2CE1-BA381B35A4C6}"/>
              </a:ext>
            </a:extLst>
          </p:cNvPr>
          <p:cNvSpPr txBox="1"/>
          <p:nvPr/>
        </p:nvSpPr>
        <p:spPr>
          <a:xfrm>
            <a:off x="3270241" y="3380303"/>
            <a:ext cx="8367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87B72-8D62-52C5-F883-ECC4474CC923}"/>
              </a:ext>
            </a:extLst>
          </p:cNvPr>
          <p:cNvSpPr txBox="1"/>
          <p:nvPr/>
        </p:nvSpPr>
        <p:spPr>
          <a:xfrm>
            <a:off x="3270241" y="3867824"/>
            <a:ext cx="7694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Backup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FE458B-9F0B-6946-D968-ED852C0FF2B6}"/>
              </a:ext>
            </a:extLst>
          </p:cNvPr>
          <p:cNvSpPr txBox="1"/>
          <p:nvPr/>
        </p:nvSpPr>
        <p:spPr>
          <a:xfrm>
            <a:off x="3270240" y="4355345"/>
            <a:ext cx="140102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Opdateringer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199AAB-BA80-C634-8871-439F3284B606}"/>
              </a:ext>
            </a:extLst>
          </p:cNvPr>
          <p:cNvSpPr txBox="1"/>
          <p:nvPr/>
        </p:nvSpPr>
        <p:spPr>
          <a:xfrm>
            <a:off x="3270239" y="4842866"/>
            <a:ext cx="10820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Databaser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8F1CAB-018D-CA0D-562E-1ADAF1C67EBC}"/>
              </a:ext>
            </a:extLst>
          </p:cNvPr>
          <p:cNvSpPr txBox="1"/>
          <p:nvPr/>
        </p:nvSpPr>
        <p:spPr>
          <a:xfrm>
            <a:off x="3270238" y="5330387"/>
            <a:ext cx="13817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Applikationer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3814D4-A6D9-006A-61F6-1F4BC8B84EB7}"/>
              </a:ext>
            </a:extLst>
          </p:cNvPr>
          <p:cNvSpPr txBox="1"/>
          <p:nvPr/>
        </p:nvSpPr>
        <p:spPr>
          <a:xfrm>
            <a:off x="6908048" y="2405261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0FBAD9-B1EB-61DA-E30C-71B65A5E9869}"/>
              </a:ext>
            </a:extLst>
          </p:cNvPr>
          <p:cNvSpPr txBox="1"/>
          <p:nvPr/>
        </p:nvSpPr>
        <p:spPr>
          <a:xfrm>
            <a:off x="6908048" y="2892782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256F7C-C85B-1A18-E37B-734420D4DB58}"/>
              </a:ext>
            </a:extLst>
          </p:cNvPr>
          <p:cNvSpPr txBox="1"/>
          <p:nvPr/>
        </p:nvSpPr>
        <p:spPr>
          <a:xfrm>
            <a:off x="6908048" y="3380302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A12D13-C480-6AD2-02DF-C950AA9988A1}"/>
              </a:ext>
            </a:extLst>
          </p:cNvPr>
          <p:cNvSpPr txBox="1"/>
          <p:nvPr/>
        </p:nvSpPr>
        <p:spPr>
          <a:xfrm>
            <a:off x="6908048" y="3867824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BDF604-08D5-EBC6-07F1-C74E8101D57E}"/>
              </a:ext>
            </a:extLst>
          </p:cNvPr>
          <p:cNvSpPr txBox="1"/>
          <p:nvPr/>
        </p:nvSpPr>
        <p:spPr>
          <a:xfrm>
            <a:off x="6908048" y="4355345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26C0F-5A4F-0D2E-201A-91BDF500A0B3}"/>
              </a:ext>
            </a:extLst>
          </p:cNvPr>
          <p:cNvSpPr txBox="1"/>
          <p:nvPr/>
        </p:nvSpPr>
        <p:spPr>
          <a:xfrm>
            <a:off x="6908048" y="4842866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40CA6A-231C-4203-3B37-D4F8E5E21E46}"/>
              </a:ext>
            </a:extLst>
          </p:cNvPr>
          <p:cNvSpPr txBox="1"/>
          <p:nvPr/>
        </p:nvSpPr>
        <p:spPr>
          <a:xfrm>
            <a:off x="6908048" y="5330387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329CAB-BA09-D6F2-8067-D81B570BD772}"/>
              </a:ext>
            </a:extLst>
          </p:cNvPr>
          <p:cNvSpPr/>
          <p:nvPr/>
        </p:nvSpPr>
        <p:spPr>
          <a:xfrm>
            <a:off x="3270241" y="167312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Hardware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F15938-1656-13A1-ED1D-4A15422CE590}"/>
              </a:ext>
            </a:extLst>
          </p:cNvPr>
          <p:cNvSpPr/>
          <p:nvPr/>
        </p:nvSpPr>
        <p:spPr>
          <a:xfrm>
            <a:off x="6908048" y="167312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Ansvarlig</a:t>
            </a:r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243282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53017-D3A0-61D4-72D4-101C46B9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8007FA5-30F5-9A72-F196-92EB94DCA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4" y="395288"/>
            <a:ext cx="6959890" cy="663600"/>
          </a:xfrm>
        </p:spPr>
        <p:txBody>
          <a:bodyPr/>
          <a:lstStyle/>
          <a:p>
            <a:r>
              <a:rPr lang="da-DK" noProof="1"/>
              <a:t>Hvordan fik man en ny server?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287676B-3499-9B6D-D454-5CA3D4A5A9C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E7B09DA-1DEC-FCFA-38C6-DDF70FBDD5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13720A9-D103-0A40-1B2A-4E3AF8EEFE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8</a:t>
            </a:fld>
            <a:endParaRPr lang="da-DK" noProof="1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8D18A5D-AC4E-F94D-F01E-8CB2218D81BB}"/>
              </a:ext>
            </a:extLst>
          </p:cNvPr>
          <p:cNvSpPr/>
          <p:nvPr/>
        </p:nvSpPr>
        <p:spPr>
          <a:xfrm>
            <a:off x="396874" y="1226932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Bestil hardware</a:t>
            </a:r>
            <a:endParaRPr lang="da-DK" sz="1600" noProof="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F3AB9D8-D6DA-1235-5303-5B1D69BDAF65}"/>
              </a:ext>
            </a:extLst>
          </p:cNvPr>
          <p:cNvSpPr/>
          <p:nvPr/>
        </p:nvSpPr>
        <p:spPr>
          <a:xfrm>
            <a:off x="4911333" y="1226932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Afvent levering</a:t>
            </a:r>
            <a:endParaRPr lang="da-DK" sz="1600" noProof="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02AB118-4D32-7D89-68B8-88FB7567F0A4}"/>
              </a:ext>
            </a:extLst>
          </p:cNvPr>
          <p:cNvSpPr/>
          <p:nvPr/>
        </p:nvSpPr>
        <p:spPr>
          <a:xfrm>
            <a:off x="9425792" y="1226932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Opsæt serveren</a:t>
            </a:r>
            <a:endParaRPr lang="da-DK" sz="1600" noProof="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8444586-41E7-EEEF-2970-EAF781192D13}"/>
              </a:ext>
            </a:extLst>
          </p:cNvPr>
          <p:cNvSpPr/>
          <p:nvPr/>
        </p:nvSpPr>
        <p:spPr>
          <a:xfrm>
            <a:off x="9425792" y="320813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Installér operativsystem</a:t>
            </a:r>
            <a:endParaRPr lang="da-DK" sz="1600" noProof="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CF68B1-8BC3-B9E6-D06C-A1D78156B9A4}"/>
              </a:ext>
            </a:extLst>
          </p:cNvPr>
          <p:cNvSpPr/>
          <p:nvPr/>
        </p:nvSpPr>
        <p:spPr>
          <a:xfrm>
            <a:off x="4911333" y="320813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Installér SQL (etc.)</a:t>
            </a:r>
            <a:endParaRPr lang="da-DK" sz="1600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794F8C-5F4E-27FA-0A81-B97322FB0935}"/>
              </a:ext>
            </a:extLst>
          </p:cNvPr>
          <p:cNvSpPr/>
          <p:nvPr/>
        </p:nvSpPr>
        <p:spPr>
          <a:xfrm>
            <a:off x="396874" y="320813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Konfigurer Firewall</a:t>
            </a:r>
            <a:endParaRPr lang="da-DK" sz="1600" noProof="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B743E5-6389-C599-31B5-A577C2CE2F6C}"/>
              </a:ext>
            </a:extLst>
          </p:cNvPr>
          <p:cNvSpPr/>
          <p:nvPr/>
        </p:nvSpPr>
        <p:spPr>
          <a:xfrm>
            <a:off x="396873" y="5189334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 err="1"/>
              <a:t>Opsæ</a:t>
            </a:r>
            <a:r>
              <a:rPr lang="da-DK" dirty="0"/>
              <a:t>t rettigheder</a:t>
            </a:r>
            <a:endParaRPr lang="da-DK" sz="1600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65EC793-B185-14E5-A79B-C0C0B8E6AC85}"/>
              </a:ext>
            </a:extLst>
          </p:cNvPr>
          <p:cNvSpPr/>
          <p:nvPr/>
        </p:nvSpPr>
        <p:spPr>
          <a:xfrm>
            <a:off x="4911333" y="5189334"/>
            <a:ext cx="2369333" cy="818770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 err="1"/>
              <a:t>Deploy</a:t>
            </a:r>
            <a:r>
              <a:rPr lang="da-DK" noProof="0" dirty="0"/>
              <a:t> applikation</a:t>
            </a:r>
            <a:endParaRPr lang="da-DK" sz="1600" noProof="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C4BB1E0-B8FA-6BA7-F33D-455FD7A8D0ED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2766207" y="1636317"/>
            <a:ext cx="214512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6D27715-1C97-A68A-9629-3E7BAB41807E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7280666" y="1636317"/>
            <a:ext cx="214512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2F01F85-190A-B0EB-6A21-CEC7950B8E4C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>
            <a:off x="10610459" y="2045702"/>
            <a:ext cx="0" cy="116243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198C844-4527-5C6B-B942-9AEFB6D5CDE5}"/>
              </a:ext>
            </a:extLst>
          </p:cNvPr>
          <p:cNvCxnSpPr>
            <a:cxnSpLocks/>
            <a:stCxn id="67" idx="1"/>
            <a:endCxn id="68" idx="3"/>
          </p:cNvCxnSpPr>
          <p:nvPr/>
        </p:nvCxnSpPr>
        <p:spPr>
          <a:xfrm flipH="1">
            <a:off x="7280666" y="3617518"/>
            <a:ext cx="214512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EE5C26C-17A1-951C-22AE-7BDCE4D5864B}"/>
              </a:ext>
            </a:extLst>
          </p:cNvPr>
          <p:cNvCxnSpPr>
            <a:cxnSpLocks/>
            <a:stCxn id="68" idx="1"/>
            <a:endCxn id="69" idx="3"/>
          </p:cNvCxnSpPr>
          <p:nvPr/>
        </p:nvCxnSpPr>
        <p:spPr>
          <a:xfrm flipH="1">
            <a:off x="2766207" y="3617518"/>
            <a:ext cx="214512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F42E383-D7DA-3B00-1203-5C9174EEA6DB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1581540" y="4026903"/>
            <a:ext cx="1" cy="116243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0D590F5-8638-2519-1EC3-10DB1E655822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2766206" y="5598719"/>
            <a:ext cx="2145127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1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F26E-A194-6FF5-35BE-B36DDCA9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A5B2274-BA6E-BCC4-55F5-49AE067A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4" y="395288"/>
            <a:ext cx="6959890" cy="663600"/>
          </a:xfrm>
        </p:spPr>
        <p:txBody>
          <a:bodyPr/>
          <a:lstStyle/>
          <a:p>
            <a:r>
              <a:rPr lang="da-DK" noProof="1"/>
              <a:t>Fordele ved on-premises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61B87E9-816D-6495-3DD2-1372EB003A4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4F0E942-B71B-94C8-4466-387C5F65CF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7EB5DEE-3F1D-7BD7-C046-A75A014070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9</a:t>
            </a:fld>
            <a:endParaRPr lang="da-DK" noProof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A98ADD-6294-F5C3-6919-4B77106EC84F}"/>
              </a:ext>
            </a:extLst>
          </p:cNvPr>
          <p:cNvSpPr/>
          <p:nvPr/>
        </p:nvSpPr>
        <p:spPr>
          <a:xfrm>
            <a:off x="396874" y="194625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Fuld kontrol</a:t>
            </a:r>
            <a:endParaRPr lang="da-DK" sz="16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A6BF3-8B17-25FD-0421-36BCDB0E714B}"/>
              </a:ext>
            </a:extLst>
          </p:cNvPr>
          <p:cNvSpPr/>
          <p:nvPr/>
        </p:nvSpPr>
        <p:spPr>
          <a:xfrm>
            <a:off x="4911333" y="194625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Ingen cloud-omkostninger</a:t>
            </a:r>
            <a:endParaRPr lang="da-DK" sz="1600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30B8D-7D20-A3C1-4D61-19FFA968591E}"/>
              </a:ext>
            </a:extLst>
          </p:cNvPr>
          <p:cNvSpPr/>
          <p:nvPr/>
        </p:nvSpPr>
        <p:spPr>
          <a:xfrm>
            <a:off x="9425792" y="194625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Data forlader ikke virksomheden</a:t>
            </a:r>
            <a:endParaRPr lang="da-DK" sz="1600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3778FF-D0C5-128F-5B58-37D502421E34}"/>
              </a:ext>
            </a:extLst>
          </p:cNvPr>
          <p:cNvSpPr txBox="1"/>
          <p:nvPr/>
        </p:nvSpPr>
        <p:spPr>
          <a:xfrm>
            <a:off x="439388" y="2642260"/>
            <a:ext cx="3518592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Bestem selv hardware </a:t>
            </a:r>
            <a:br>
              <a:rPr lang="da-DK" sz="1600" dirty="0"/>
            </a:br>
            <a:r>
              <a:rPr lang="da-DK" sz="1600" dirty="0"/>
              <a:t>og software</a:t>
            </a:r>
            <a:br>
              <a:rPr lang="da-DK" sz="1600" dirty="0"/>
            </a:br>
            <a:endParaRPr lang="da-DK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Fuld adgang til operativsystem</a:t>
            </a:r>
            <a:br>
              <a:rPr lang="da-DK" sz="1600" dirty="0"/>
            </a:br>
            <a:r>
              <a:rPr lang="da-DK" sz="1600" dirty="0"/>
              <a:t>og netværk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BC1810-724C-2C04-82D8-12DCBB71A9D0}"/>
              </a:ext>
            </a:extLst>
          </p:cNvPr>
          <p:cNvSpPr txBox="1"/>
          <p:nvPr/>
        </p:nvSpPr>
        <p:spPr>
          <a:xfrm>
            <a:off x="4991596" y="2642260"/>
            <a:ext cx="3209212" cy="9848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Hardware købes én gang</a:t>
            </a:r>
            <a:br>
              <a:rPr lang="da-DK" sz="1600" dirty="0"/>
            </a:br>
            <a:endParaRPr lang="da-DK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Driftsomkostninger er mere</a:t>
            </a:r>
            <a:br>
              <a:rPr lang="da-DK" sz="1600" dirty="0"/>
            </a:br>
            <a:r>
              <a:rPr lang="da-DK" sz="1600" dirty="0"/>
              <a:t>forudsigelige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6502E-6AF0-911C-E8E1-767BDBFBB1AB}"/>
              </a:ext>
            </a:extLst>
          </p:cNvPr>
          <p:cNvSpPr txBox="1"/>
          <p:nvPr/>
        </p:nvSpPr>
        <p:spPr>
          <a:xfrm>
            <a:off x="9543804" y="2606830"/>
            <a:ext cx="2266646" cy="196977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Data opbevares på</a:t>
            </a:r>
            <a:br>
              <a:rPr lang="da-DK" sz="1600" dirty="0"/>
            </a:br>
            <a:r>
              <a:rPr lang="da-DK" sz="1600" dirty="0"/>
              <a:t>egne servere</a:t>
            </a:r>
            <a:br>
              <a:rPr lang="da-DK" sz="1600" dirty="0"/>
            </a:br>
            <a:endParaRPr lang="da-DK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Fuld kontrol over</a:t>
            </a:r>
            <a:br>
              <a:rPr lang="da-DK" sz="1600" dirty="0"/>
            </a:br>
            <a:r>
              <a:rPr lang="da-DK" sz="1600" dirty="0"/>
              <a:t>fysisk adgang til</a:t>
            </a:r>
            <a:br>
              <a:rPr lang="da-DK" sz="1600" dirty="0"/>
            </a:br>
            <a:r>
              <a:rPr lang="da-DK" sz="1600" dirty="0"/>
              <a:t>data</a:t>
            </a:r>
            <a:br>
              <a:rPr lang="da-DK" sz="1600" dirty="0"/>
            </a:br>
            <a:endParaRPr lang="da-DK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256869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4B68-D7F8-36C0-5B9A-396E1C8A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90DEEBE-C66A-3B92-D311-6837150E23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7F8F162-72FB-B1BB-4AFC-9644F58A2D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6E5CEBC-0BA2-29AE-C740-7212E3D4D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/>
              <a:t>Problemerne ved on-premises</a:t>
            </a:r>
          </a:p>
          <a:p>
            <a:endParaRPr lang="da-DK" sz="2000" noProof="1"/>
          </a:p>
          <a:p>
            <a:r>
              <a:rPr lang="da-DK" sz="2000" noProof="1"/>
              <a:t>Hvad er Cloud?</a:t>
            </a:r>
          </a:p>
          <a:p>
            <a:endParaRPr lang="da-DK" sz="2000" noProof="1"/>
          </a:p>
          <a:p>
            <a:r>
              <a:rPr lang="da-DK" sz="2000" noProof="1"/>
              <a:t>Hvad er Azure?</a:t>
            </a:r>
          </a:p>
          <a:p>
            <a:endParaRPr lang="da-DK" sz="2000" noProof="1"/>
          </a:p>
          <a:p>
            <a:r>
              <a:rPr lang="da-DK" sz="2000" noProof="1"/>
              <a:t>Hvordan er Azure organiseret?</a:t>
            </a:r>
          </a:p>
          <a:p>
            <a:endParaRPr lang="da-DK" sz="2000" noProof="1"/>
          </a:p>
          <a:p>
            <a:r>
              <a:rPr lang="da-DK" sz="2000" noProof="1"/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A287BDB-C8D5-CF48-8E69-F7E7FD0EF8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10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FE5879FF-DBC9-3F3B-61F4-3C895D598C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/>
              <a:t>02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9372E4-3A7C-AFDA-F6BB-8AA9AB48FAFB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F463EA-EF6B-6300-9E7F-56A7B9905185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296893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784B-34D8-C07B-25A9-BCB621FB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8F30E535-F673-BD29-4380-D442ACE763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B6CA3A5-C4D7-E59A-10C2-72C55B42DB8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7166CC7-E127-D9BF-F71C-F979A841BD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11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ADB6E0-4FEB-1A7F-7622-9F9CD86F1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Problemerne ved on-premises</a:t>
            </a:r>
          </a:p>
        </p:txBody>
      </p:sp>
    </p:spTree>
    <p:extLst>
      <p:ext uri="{BB962C8B-B14F-4D97-AF65-F5344CB8AC3E}">
        <p14:creationId xmlns:p14="http://schemas.microsoft.com/office/powerpoint/2010/main" val="1874396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E17D-F0D8-BBE0-6EAC-3D05D8EE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saster in Server Room or Data Center Storage Room on Fire Burning. Neural  Network Generated Art Stock Illustration - Illustration of technical,  burning: 269541060">
            <a:extLst>
              <a:ext uri="{FF2B5EF4-FFF2-40B4-BE49-F238E27FC236}">
                <a16:creationId xmlns:a16="http://schemas.microsoft.com/office/drawing/2014/main" id="{738D83B9-90AA-99A0-66FD-D72C1AD63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574" y="1058888"/>
            <a:ext cx="6840233" cy="4565856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669DF47-7ED2-4B85-01DA-9E3E7D08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1"/>
              <a:t>Virksomheden vokser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B1F2F68-2E8F-E8B5-7B28-1D7335A5D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73" y="1672854"/>
            <a:ext cx="4654551" cy="4181475"/>
          </a:xfrm>
        </p:spPr>
        <p:txBody>
          <a:bodyPr/>
          <a:lstStyle/>
          <a:p>
            <a:pPr marL="0" indent="0">
              <a:buNone/>
            </a:pPr>
            <a:r>
              <a:rPr lang="da-DK" noProof="1"/>
              <a:t>”Wolt er en forretning med 100 brugere. Wolt har én server. Alt går fint”</a:t>
            </a:r>
          </a:p>
          <a:p>
            <a:endParaRPr lang="da-DK" noProof="1"/>
          </a:p>
          <a:p>
            <a:pPr marL="0" indent="0">
              <a:buNone/>
            </a:pPr>
            <a:r>
              <a:rPr lang="da-DK" noProof="1"/>
              <a:t>”Wolt lancerer et nyt, banebrydende produkt, som bliver ekstremt populært. (Wolt Market?)”</a:t>
            </a:r>
          </a:p>
          <a:p>
            <a:endParaRPr lang="da-DK" noProof="1"/>
          </a:p>
          <a:p>
            <a:pPr marL="0" indent="0">
              <a:buNone/>
            </a:pPr>
            <a:r>
              <a:rPr lang="da-DK" noProof="1"/>
              <a:t>”Wolt’s popularitæt vokser og vokser”</a:t>
            </a:r>
          </a:p>
          <a:p>
            <a:endParaRPr lang="da-DK" noProof="1"/>
          </a:p>
          <a:p>
            <a:pPr marL="0" indent="0">
              <a:buNone/>
            </a:pPr>
            <a:r>
              <a:rPr lang="da-DK" noProof="1"/>
              <a:t>”1.000 brugere. 10.000 brugere. Flere kunder. Mere trafik. Mere data.”</a:t>
            </a:r>
          </a:p>
          <a:p>
            <a:endParaRPr lang="da-DK" noProof="1"/>
          </a:p>
          <a:p>
            <a:pPr marL="0" indent="0">
              <a:buNone/>
            </a:pPr>
            <a:r>
              <a:rPr lang="da-DK" noProof="1"/>
              <a:t>”🔥🔥🔥 Serveren i kælderrummet hos Wolt 🔥🔥🔥”</a:t>
            </a:r>
          </a:p>
          <a:p>
            <a:endParaRPr lang="da-DK" noProof="1"/>
          </a:p>
          <a:p>
            <a:pPr marL="0" indent="0">
              <a:buNone/>
            </a:pPr>
            <a:endParaRPr lang="da-DK" noProof="1"/>
          </a:p>
          <a:p>
            <a:pPr marL="0" indent="0">
              <a:buNone/>
            </a:pPr>
            <a:endParaRPr lang="da-DK" noProof="1"/>
          </a:p>
          <a:p>
            <a:pPr marL="0" indent="0">
              <a:buNone/>
            </a:pPr>
            <a:endParaRPr lang="da-DK" noProof="1"/>
          </a:p>
          <a:p>
            <a:endParaRPr lang="da-DK" noProof="1"/>
          </a:p>
          <a:p>
            <a:endParaRPr lang="da-DK" noProof="1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EA359FD-F2BE-DF39-0DB0-1D148B46F7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14747D9-59DE-32CC-D0EC-A1C8E0F4B0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04D25D9-81F7-F342-41E3-F239FFBAAE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12</a:t>
            </a:fld>
            <a:endParaRPr lang="da-DK" noProof="1"/>
          </a:p>
        </p:txBody>
      </p:sp>
    </p:spTree>
    <p:extLst>
      <p:ext uri="{BB962C8B-B14F-4D97-AF65-F5344CB8AC3E}">
        <p14:creationId xmlns:p14="http://schemas.microsoft.com/office/powerpoint/2010/main" val="393426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E517-CC86-0893-4B9A-A97BFE0C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F6A1E2E-84AB-32DA-E738-83C738B3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56" y="371950"/>
            <a:ext cx="5618162" cy="364320"/>
          </a:xfrm>
        </p:spPr>
        <p:txBody>
          <a:bodyPr/>
          <a:lstStyle/>
          <a:p>
            <a:r>
              <a:rPr lang="da-DK" noProof="1"/>
              <a:t>De største udfordringer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6640BEA-C6A6-8DBA-4AB3-2D9DCE4FBA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90BE29-00AE-A3DB-07E2-85CF461310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EB9F81A-488B-E5B8-974A-56D25A02BA8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13</a:t>
            </a:fld>
            <a:endParaRPr lang="da-DK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4962A8-5785-17CB-38AA-70C610BCBFAB}"/>
              </a:ext>
            </a:extLst>
          </p:cNvPr>
          <p:cNvSpPr/>
          <p:nvPr/>
        </p:nvSpPr>
        <p:spPr>
          <a:xfrm>
            <a:off x="380856" y="2013745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Skalering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56D8EF-5952-9FD6-278C-30852BDB469C}"/>
              </a:ext>
            </a:extLst>
          </p:cNvPr>
          <p:cNvSpPr/>
          <p:nvPr/>
        </p:nvSpPr>
        <p:spPr>
          <a:xfrm>
            <a:off x="4859194" y="2013745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Lange </a:t>
            </a:r>
            <a:r>
              <a:rPr lang="da-DK" dirty="0" err="1"/>
              <a:t>svartider</a:t>
            </a:r>
            <a:endParaRPr lang="da-DK" sz="1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7C6CBD-2ADD-43ED-9D08-8E4C33738D90}"/>
              </a:ext>
            </a:extLst>
          </p:cNvPr>
          <p:cNvSpPr/>
          <p:nvPr/>
        </p:nvSpPr>
        <p:spPr>
          <a:xfrm>
            <a:off x="9337532" y="2013745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Drift og vedligeholdelse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DA4874-A4D7-0480-3740-C5C2A7BC72DB}"/>
              </a:ext>
            </a:extLst>
          </p:cNvPr>
          <p:cNvSpPr/>
          <p:nvPr/>
        </p:nvSpPr>
        <p:spPr>
          <a:xfrm>
            <a:off x="380856" y="364685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Høj tilgængelighed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F0FFCC-6E5A-074C-4834-67992FF34B7D}"/>
              </a:ext>
            </a:extLst>
          </p:cNvPr>
          <p:cNvSpPr/>
          <p:nvPr/>
        </p:nvSpPr>
        <p:spPr>
          <a:xfrm>
            <a:off x="4859194" y="364685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Store investeringer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79C03B-E7F5-2832-2C7E-D33F86FDF001}"/>
              </a:ext>
            </a:extLst>
          </p:cNvPr>
          <p:cNvSpPr/>
          <p:nvPr/>
        </p:nvSpPr>
        <p:spPr>
          <a:xfrm>
            <a:off x="9337532" y="364685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Global tilgængelighed</a:t>
            </a:r>
          </a:p>
        </p:txBody>
      </p:sp>
    </p:spTree>
    <p:extLst>
      <p:ext uri="{BB962C8B-B14F-4D97-AF65-F5344CB8AC3E}">
        <p14:creationId xmlns:p14="http://schemas.microsoft.com/office/powerpoint/2010/main" val="242879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7CD4-A2C3-756B-1F6F-04E11BD3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600866E-1DE5-ECBA-D4F9-9882A9D0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12" y="418044"/>
            <a:ext cx="11572402" cy="447675"/>
          </a:xfrm>
        </p:spPr>
        <p:txBody>
          <a:bodyPr/>
          <a:lstStyle/>
          <a:p>
            <a:r>
              <a:rPr lang="da-DK" noProof="1"/>
              <a:t>Hvorfor blev on-premises en udfordring?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FFF19EA-1558-7E01-D3B4-1790CFF8AF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1EB9A25-48E7-E305-3EB7-021B8B38DD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71C0FC6-EDD0-D105-3E66-D8797F8F4F2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14</a:t>
            </a:fld>
            <a:endParaRPr lang="da-DK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EB288-DFAC-7D2F-11CC-539EA2763D92}"/>
              </a:ext>
            </a:extLst>
          </p:cNvPr>
          <p:cNvSpPr txBox="1"/>
          <p:nvPr/>
        </p:nvSpPr>
        <p:spPr>
          <a:xfrm>
            <a:off x="427514" y="2499439"/>
            <a:ext cx="9650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Skalering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F1282-8021-19A3-4FA6-CEE3AE883F41}"/>
              </a:ext>
            </a:extLst>
          </p:cNvPr>
          <p:cNvSpPr txBox="1"/>
          <p:nvPr/>
        </p:nvSpPr>
        <p:spPr>
          <a:xfrm>
            <a:off x="427514" y="2986960"/>
            <a:ext cx="10179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Hardware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DFD47-B5F5-F47C-4490-DE78CAADA1AF}"/>
              </a:ext>
            </a:extLst>
          </p:cNvPr>
          <p:cNvSpPr txBox="1"/>
          <p:nvPr/>
        </p:nvSpPr>
        <p:spPr>
          <a:xfrm>
            <a:off x="427514" y="3474481"/>
            <a:ext cx="479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Drift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1085E-9497-92B3-CD2E-2AB10B8F0F45}"/>
              </a:ext>
            </a:extLst>
          </p:cNvPr>
          <p:cNvSpPr txBox="1"/>
          <p:nvPr/>
        </p:nvSpPr>
        <p:spPr>
          <a:xfrm>
            <a:off x="427514" y="3962002"/>
            <a:ext cx="84318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Oppetid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7ADD05-2069-2D45-9011-670DC7BDCB53}"/>
              </a:ext>
            </a:extLst>
          </p:cNvPr>
          <p:cNvSpPr txBox="1"/>
          <p:nvPr/>
        </p:nvSpPr>
        <p:spPr>
          <a:xfrm>
            <a:off x="427513" y="4449523"/>
            <a:ext cx="7694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Backup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22A45E-47FC-0CDD-F872-12CC84EF79F2}"/>
              </a:ext>
            </a:extLst>
          </p:cNvPr>
          <p:cNvSpPr txBox="1"/>
          <p:nvPr/>
        </p:nvSpPr>
        <p:spPr>
          <a:xfrm>
            <a:off x="427512" y="4937044"/>
            <a:ext cx="11653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Global drift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2E8A46-DD45-507D-58EC-F379FE7634D8}"/>
              </a:ext>
            </a:extLst>
          </p:cNvPr>
          <p:cNvSpPr txBox="1"/>
          <p:nvPr/>
        </p:nvSpPr>
        <p:spPr>
          <a:xfrm>
            <a:off x="4226175" y="2499439"/>
            <a:ext cx="13914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Flere servere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6EDF77-4CEA-825F-EC28-59AD207FBAA8}"/>
              </a:ext>
            </a:extLst>
          </p:cNvPr>
          <p:cNvSpPr txBox="1"/>
          <p:nvPr/>
        </p:nvSpPr>
        <p:spPr>
          <a:xfrm>
            <a:off x="4226175" y="2986960"/>
            <a:ext cx="202459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Store investeringer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AAE08E-6C72-DA40-D506-BEBB83188530}"/>
              </a:ext>
            </a:extLst>
          </p:cNvPr>
          <p:cNvSpPr txBox="1"/>
          <p:nvPr/>
        </p:nvSpPr>
        <p:spPr>
          <a:xfrm>
            <a:off x="4226175" y="3474480"/>
            <a:ext cx="21079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Mere administration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20AB2-F400-DE31-EE20-A4549A288968}"/>
              </a:ext>
            </a:extLst>
          </p:cNvPr>
          <p:cNvSpPr txBox="1"/>
          <p:nvPr/>
        </p:nvSpPr>
        <p:spPr>
          <a:xfrm>
            <a:off x="4226175" y="3962002"/>
            <a:ext cx="218168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Kompleks redundans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C55E1A-F218-9F37-8928-8B1DBEF00151}"/>
              </a:ext>
            </a:extLst>
          </p:cNvPr>
          <p:cNvSpPr txBox="1"/>
          <p:nvPr/>
        </p:nvSpPr>
        <p:spPr>
          <a:xfrm>
            <a:off x="4226175" y="4449523"/>
            <a:ext cx="12551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Eget ansvar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A641F8-59D9-BFAE-CCFF-EBDFD1F93395}"/>
              </a:ext>
            </a:extLst>
          </p:cNvPr>
          <p:cNvSpPr txBox="1"/>
          <p:nvPr/>
        </p:nvSpPr>
        <p:spPr>
          <a:xfrm>
            <a:off x="4226175" y="4937044"/>
            <a:ext cx="25904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Kræver egne datacentre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D73DD-333F-498D-20F2-73E9C3D376BA}"/>
              </a:ext>
            </a:extLst>
          </p:cNvPr>
          <p:cNvSpPr/>
          <p:nvPr/>
        </p:nvSpPr>
        <p:spPr>
          <a:xfrm>
            <a:off x="427512" y="173809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Udfordring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437EA6-2456-5D49-3FDD-5732BCE81945}"/>
              </a:ext>
            </a:extLst>
          </p:cNvPr>
          <p:cNvSpPr/>
          <p:nvPr/>
        </p:nvSpPr>
        <p:spPr>
          <a:xfrm>
            <a:off x="4226175" y="173809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Konsekvens</a:t>
            </a:r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363019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9B47-E163-CAF3-E68C-9CEC8225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2414A0D-E97B-A70E-17E0-4F9138353EF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D2AF7C40-9993-91D2-C4E4-141E9E3108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5C91CB2-15BF-16C4-B8FC-0428E351E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/>
              <a:t>Hvad er Cloud?</a:t>
            </a:r>
          </a:p>
          <a:p>
            <a:endParaRPr lang="da-DK" sz="2000" noProof="1"/>
          </a:p>
          <a:p>
            <a:r>
              <a:rPr lang="da-DK" sz="2000" noProof="1"/>
              <a:t>Hvad er Azure?</a:t>
            </a:r>
          </a:p>
          <a:p>
            <a:endParaRPr lang="da-DK" sz="2000" noProof="1"/>
          </a:p>
          <a:p>
            <a:r>
              <a:rPr lang="da-DK" sz="2000" noProof="1"/>
              <a:t>Hvordan er Azure organiseret?</a:t>
            </a:r>
          </a:p>
          <a:p>
            <a:endParaRPr lang="da-DK" sz="2000" noProof="1"/>
          </a:p>
          <a:p>
            <a:r>
              <a:rPr lang="da-DK" sz="2000" noProof="1"/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3161C4A-42A1-6D22-C5CF-6299416800D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15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426457DA-3F44-F140-0DC3-279829E068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/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D6E9C7-A88C-CF22-0FC8-01EAD6ACC3ED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F6AA35-B2E9-FFA3-166F-984B820D47B6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4129369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8022-2086-E2E4-E7BC-594526D5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B7B2770C-342E-AA93-6727-804FABD26E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67F4D57-D5F9-EC61-218B-7603956753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68286A6-5EED-2992-E620-C745323F422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16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11CD492-BEE7-D3EE-F260-C0753AF91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Hvad er Cloud?</a:t>
            </a:r>
          </a:p>
        </p:txBody>
      </p:sp>
    </p:spTree>
    <p:extLst>
      <p:ext uri="{BB962C8B-B14F-4D97-AF65-F5344CB8AC3E}">
        <p14:creationId xmlns:p14="http://schemas.microsoft.com/office/powerpoint/2010/main" val="1656622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6" hidden="1">
            <a:extLst>
              <a:ext uri="{FF2B5EF4-FFF2-40B4-BE49-F238E27FC236}">
                <a16:creationId xmlns:a16="http://schemas.microsoft.com/office/drawing/2014/main" id="{F44BF0E7-42DC-AA2D-FA3B-83C73D72C1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046620" y="6463506"/>
            <a:ext cx="748506" cy="136869"/>
          </a:xfrm>
          <a:effectLst/>
        </p:spPr>
        <p:txBody>
          <a:bodyPr vert="horz" wrap="square" anchor="b">
            <a:noAutofit/>
          </a:bodyPr>
          <a:lstStyle>
            <a:lvl1pPr algn="r">
              <a:defRPr sz="800" b="0" i="0" u="none" strike="noStrike" baseline="0">
                <a:solidFill>
                  <a:schemeClr val="bg2"/>
                </a:solidFill>
                <a:latin typeface="Clever Sans OFFC" pitchFamily="34" charset="0"/>
              </a:defRPr>
            </a:lvl1pPr>
          </a:lstStyle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6E064D-67D4-C4C0-F127-8B8E1B45CF6A}"/>
              </a:ext>
            </a:extLst>
          </p:cNvPr>
          <p:cNvSpPr txBox="1"/>
          <p:nvPr/>
        </p:nvSpPr>
        <p:spPr>
          <a:xfrm>
            <a:off x="414335" y="1129224"/>
            <a:ext cx="495167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Cloud er levering </a:t>
            </a:r>
            <a:r>
              <a:rPr lang="en-US" dirty="0" err="1"/>
              <a:t>af</a:t>
            </a:r>
            <a:r>
              <a:rPr lang="en-US" dirty="0"/>
              <a:t> IT-</a:t>
            </a:r>
            <a:r>
              <a:rPr lang="en-US" dirty="0" err="1"/>
              <a:t>ressourcer</a:t>
            </a:r>
            <a:r>
              <a:rPr lang="en-US" dirty="0"/>
              <a:t> over</a:t>
            </a:r>
            <a:br>
              <a:rPr lang="en-US" dirty="0"/>
            </a:br>
            <a:r>
              <a:rPr lang="en-US" dirty="0" err="1"/>
              <a:t>internettet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stedet</a:t>
            </a:r>
            <a:r>
              <a:rPr lang="en-US" dirty="0"/>
              <a:t> for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virksomhedens</a:t>
            </a:r>
            <a:br>
              <a:rPr lang="en-US" dirty="0"/>
            </a:br>
            <a:r>
              <a:rPr lang="en-US" dirty="0" err="1"/>
              <a:t>egne</a:t>
            </a:r>
            <a:r>
              <a:rPr lang="en-US" dirty="0"/>
              <a:t> servere.</a:t>
            </a:r>
            <a:endParaRPr lang="da-DK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33801D-756A-04EC-1E4E-BC920C28E0FD}"/>
              </a:ext>
            </a:extLst>
          </p:cNvPr>
          <p:cNvSpPr/>
          <p:nvPr/>
        </p:nvSpPr>
        <p:spPr>
          <a:xfrm>
            <a:off x="2811995" y="3713075"/>
            <a:ext cx="2641603" cy="224155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12666-B4F9-940B-BFE2-F122C6754D82}"/>
              </a:ext>
            </a:extLst>
          </p:cNvPr>
          <p:cNvSpPr/>
          <p:nvPr/>
        </p:nvSpPr>
        <p:spPr>
          <a:xfrm>
            <a:off x="6634302" y="3713075"/>
            <a:ext cx="2641603" cy="224155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7F480-B384-9E99-7F97-922A45DA6794}"/>
              </a:ext>
            </a:extLst>
          </p:cNvPr>
          <p:cNvSpPr txBox="1"/>
          <p:nvPr/>
        </p:nvSpPr>
        <p:spPr>
          <a:xfrm>
            <a:off x="2896136" y="3776575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BA046-B8CA-A0EC-2A0C-8443A60AF096}"/>
              </a:ext>
            </a:extLst>
          </p:cNvPr>
          <p:cNvSpPr txBox="1"/>
          <p:nvPr/>
        </p:nvSpPr>
        <p:spPr>
          <a:xfrm>
            <a:off x="6691032" y="3760602"/>
            <a:ext cx="225061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Microsoft Datacenter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9662D0-B273-BAC7-2942-2843A97F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183" y="5207230"/>
            <a:ext cx="654050" cy="654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F2366A-6577-9DC3-536B-D5A303BB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183" y="4562878"/>
            <a:ext cx="654050" cy="6540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649745-C9E5-F7F0-D14E-4320A7E6E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83" y="5207230"/>
            <a:ext cx="654050" cy="6540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8AF61C-6C6A-672D-A3AB-D09B34BB2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83" y="4562878"/>
            <a:ext cx="654050" cy="6540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B81E08-CDCB-2547-A105-39F767BC5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983" y="5207230"/>
            <a:ext cx="654050" cy="6540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636EF0-EC94-8A11-0B21-839F188F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983" y="4562878"/>
            <a:ext cx="654050" cy="6540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325781-900B-A716-4F51-F3DDC922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80" y="5205630"/>
            <a:ext cx="654050" cy="6540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08EC82-F064-EC87-810C-8AA18238C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80" y="4561278"/>
            <a:ext cx="654050" cy="654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22A9CAF-6758-2E9C-E32B-90E9D6BD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580" y="5205630"/>
            <a:ext cx="654050" cy="6540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6C89310-7F75-59E4-E87D-0C5137B40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580" y="4561278"/>
            <a:ext cx="654050" cy="6540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1A90B2-2B94-6230-D2AD-7C6F79AE4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480" y="5205630"/>
            <a:ext cx="654050" cy="6540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85DFC6-D59B-DDD3-A086-0EA3B8872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480" y="4561278"/>
            <a:ext cx="654050" cy="6540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4F78C55-A9F3-DC13-AC49-55048C9D63E7}"/>
              </a:ext>
            </a:extLst>
          </p:cNvPr>
          <p:cNvSpPr txBox="1"/>
          <p:nvPr/>
        </p:nvSpPr>
        <p:spPr>
          <a:xfrm>
            <a:off x="3324509" y="2992179"/>
            <a:ext cx="16126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a-DK" sz="1600" dirty="0"/>
              <a:t>Din virksomhed</a:t>
            </a:r>
            <a:br>
              <a:rPr lang="da-DK" sz="1600" dirty="0"/>
            </a:br>
            <a:r>
              <a:rPr lang="da-DK" sz="1600" dirty="0"/>
              <a:t>ejer serverne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ED18DF-AC9E-E1F8-66B7-0F8FA5DEE4D6}"/>
              </a:ext>
            </a:extLst>
          </p:cNvPr>
          <p:cNvSpPr txBox="1"/>
          <p:nvPr/>
        </p:nvSpPr>
        <p:spPr>
          <a:xfrm>
            <a:off x="6885593" y="2992179"/>
            <a:ext cx="207268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a-DK" sz="1600" dirty="0"/>
              <a:t>Cloud-leverandøren</a:t>
            </a:r>
            <a:br>
              <a:rPr lang="da-DK" sz="1600" dirty="0"/>
            </a:br>
            <a:r>
              <a:rPr lang="da-DK" sz="1600" dirty="0"/>
              <a:t>ejer serverne</a:t>
            </a:r>
          </a:p>
        </p:txBody>
      </p:sp>
      <p:sp>
        <p:nvSpPr>
          <p:cNvPr id="38" name="Titel 2">
            <a:extLst>
              <a:ext uri="{FF2B5EF4-FFF2-40B4-BE49-F238E27FC236}">
                <a16:creationId xmlns:a16="http://schemas.microsoft.com/office/drawing/2014/main" id="{F0D2C31D-02B0-F43E-D719-9984BDF7751A}"/>
              </a:ext>
            </a:extLst>
          </p:cNvPr>
          <p:cNvSpPr txBox="1">
            <a:spLocks/>
          </p:cNvSpPr>
          <p:nvPr/>
        </p:nvSpPr>
        <p:spPr>
          <a:xfrm>
            <a:off x="396874" y="395288"/>
            <a:ext cx="4654551" cy="6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48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noProof="1"/>
              <a:t>Hvad er Cloud?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1E3432-9979-C788-95FB-DCAF193D630B}"/>
              </a:ext>
            </a:extLst>
          </p:cNvPr>
          <p:cNvSpPr/>
          <p:nvPr/>
        </p:nvSpPr>
        <p:spPr>
          <a:xfrm>
            <a:off x="2939144" y="236065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On-</a:t>
            </a:r>
            <a:r>
              <a:rPr lang="da-DK" dirty="0" err="1"/>
              <a:t>premises</a:t>
            </a:r>
            <a:endParaRPr lang="da-DK" sz="16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D7A2D2-49C7-7E86-3347-AA03524DA96B}"/>
              </a:ext>
            </a:extLst>
          </p:cNvPr>
          <p:cNvSpPr/>
          <p:nvPr/>
        </p:nvSpPr>
        <p:spPr>
          <a:xfrm>
            <a:off x="6737268" y="236065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Cloud</a:t>
            </a:r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54658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26" grpId="0"/>
      <p:bldP spid="27" grpId="0"/>
      <p:bldP spid="41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07F3E-0D94-CCC0-2089-C3EDFE42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0753BD8-0408-50B5-438C-E11410368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89" y="395289"/>
            <a:ext cx="5618162" cy="481011"/>
          </a:xfrm>
        </p:spPr>
        <p:txBody>
          <a:bodyPr/>
          <a:lstStyle/>
          <a:p>
            <a:pPr>
              <a:buNone/>
            </a:pPr>
            <a:r>
              <a:rPr lang="da-DK" sz="2400" noProof="1"/>
              <a:t>Hvad ændrer sig?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7B12E32-EE9D-F7BF-E49D-1C8F0D6BBC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18</a:t>
            </a:fld>
            <a:endParaRPr lang="da-DK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27306-2F2C-9214-9592-D1732C95105A}"/>
              </a:ext>
            </a:extLst>
          </p:cNvPr>
          <p:cNvSpPr txBox="1"/>
          <p:nvPr/>
        </p:nvSpPr>
        <p:spPr>
          <a:xfrm>
            <a:off x="2698944" y="2421405"/>
            <a:ext cx="30601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 ejer serverne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EEBA88-60DD-F3B4-418D-FA851121BFB9}"/>
              </a:ext>
            </a:extLst>
          </p:cNvPr>
          <p:cNvSpPr txBox="1"/>
          <p:nvPr/>
        </p:nvSpPr>
        <p:spPr>
          <a:xfrm>
            <a:off x="2698944" y="2918518"/>
            <a:ext cx="35939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 vedligeholder dem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E4F18F-A750-7B19-616F-24D515623422}"/>
              </a:ext>
            </a:extLst>
          </p:cNvPr>
          <p:cNvSpPr txBox="1"/>
          <p:nvPr/>
        </p:nvSpPr>
        <p:spPr>
          <a:xfrm>
            <a:off x="2698944" y="3413170"/>
            <a:ext cx="332943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 køber hardware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E93B3-7AE3-BE52-9CC5-8F59E29352D8}"/>
              </a:ext>
            </a:extLst>
          </p:cNvPr>
          <p:cNvSpPr txBox="1"/>
          <p:nvPr/>
        </p:nvSpPr>
        <p:spPr>
          <a:xfrm>
            <a:off x="2698944" y="3894142"/>
            <a:ext cx="214000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Lange leveringstider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927A9E-C9A2-2BE3-B7ED-4C1455EFDB3F}"/>
              </a:ext>
            </a:extLst>
          </p:cNvPr>
          <p:cNvSpPr txBox="1"/>
          <p:nvPr/>
        </p:nvSpPr>
        <p:spPr>
          <a:xfrm>
            <a:off x="2698944" y="4403484"/>
            <a:ext cx="337752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 skal selv skalere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AA9DF5-38E6-BB17-70E6-05F7ECD06105}"/>
              </a:ext>
            </a:extLst>
          </p:cNvPr>
          <p:cNvSpPr txBox="1"/>
          <p:nvPr/>
        </p:nvSpPr>
        <p:spPr>
          <a:xfrm>
            <a:off x="6711561" y="2419604"/>
            <a:ext cx="352019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Cloud-leverandøren ejer serverne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F6E9F1-8B47-0B20-1D7C-D52BC5315BAD}"/>
              </a:ext>
            </a:extLst>
          </p:cNvPr>
          <p:cNvSpPr txBox="1"/>
          <p:nvPr/>
        </p:nvSpPr>
        <p:spPr>
          <a:xfrm>
            <a:off x="6711561" y="2917703"/>
            <a:ext cx="40539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Cloud-leverandøren vedligeholder dem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C247E3-8D85-6D29-CA3E-9162B8A74FD3}"/>
              </a:ext>
            </a:extLst>
          </p:cNvPr>
          <p:cNvSpPr txBox="1"/>
          <p:nvPr/>
        </p:nvSpPr>
        <p:spPr>
          <a:xfrm>
            <a:off x="6711561" y="3419343"/>
            <a:ext cx="19700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Du lejer ressourcer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68D19E-5019-DD31-BC5A-1B72187E6ABF}"/>
              </a:ext>
            </a:extLst>
          </p:cNvPr>
          <p:cNvSpPr txBox="1"/>
          <p:nvPr/>
        </p:nvSpPr>
        <p:spPr>
          <a:xfrm>
            <a:off x="6711561" y="3891306"/>
            <a:ext cx="371255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Ressourcer oprettes på få minutter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326AB0-BFFA-E351-AEF2-551A3905FE2C}"/>
              </a:ext>
            </a:extLst>
          </p:cNvPr>
          <p:cNvSpPr txBox="1"/>
          <p:nvPr/>
        </p:nvSpPr>
        <p:spPr>
          <a:xfrm>
            <a:off x="6711561" y="4398947"/>
            <a:ext cx="29735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Skalering kan automatiseres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DD4700-A8E9-8B8B-D9D0-CDB0A89FFEC4}"/>
              </a:ext>
            </a:extLst>
          </p:cNvPr>
          <p:cNvSpPr txBox="1"/>
          <p:nvPr/>
        </p:nvSpPr>
        <p:spPr>
          <a:xfrm>
            <a:off x="2606007" y="5376272"/>
            <a:ext cx="750365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Cloud </a:t>
            </a:r>
            <a:r>
              <a:rPr lang="en-US" dirty="0" err="1"/>
              <a:t>ændrer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din </a:t>
            </a:r>
            <a:r>
              <a:rPr lang="en-US" dirty="0" err="1"/>
              <a:t>applikation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den </a:t>
            </a:r>
            <a:r>
              <a:rPr lang="en-US" dirty="0" err="1"/>
              <a:t>ændrer</a:t>
            </a:r>
            <a:r>
              <a:rPr lang="en-US" dirty="0"/>
              <a:t> </a:t>
            </a:r>
            <a:r>
              <a:rPr lang="en-US" dirty="0" err="1"/>
              <a:t>måden</a:t>
            </a:r>
            <a:r>
              <a:rPr lang="en-US" dirty="0"/>
              <a:t> </a:t>
            </a:r>
            <a:r>
              <a:rPr lang="en-US" dirty="0" err="1"/>
              <a:t>infrastrukturen</a:t>
            </a:r>
            <a:r>
              <a:rPr lang="en-US" dirty="0"/>
              <a:t> </a:t>
            </a:r>
            <a:r>
              <a:rPr lang="en-US" dirty="0" err="1"/>
              <a:t>leveres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administreres</a:t>
            </a:r>
            <a:r>
              <a:rPr lang="en-US" dirty="0"/>
              <a:t> </a:t>
            </a:r>
            <a:r>
              <a:rPr lang="en-US" dirty="0" err="1"/>
              <a:t>på</a:t>
            </a:r>
            <a:endParaRPr lang="da-DK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49443-E3F6-5D92-EB83-E8EFBB1EBBCF}"/>
              </a:ext>
            </a:extLst>
          </p:cNvPr>
          <p:cNvSpPr/>
          <p:nvPr/>
        </p:nvSpPr>
        <p:spPr>
          <a:xfrm>
            <a:off x="2698944" y="170698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On-</a:t>
            </a:r>
            <a:r>
              <a:rPr lang="da-DK" dirty="0" err="1"/>
              <a:t>premises</a:t>
            </a:r>
            <a:endParaRPr lang="da-DK" sz="1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0BE5A-1924-FFEB-2518-9430C9976B64}"/>
              </a:ext>
            </a:extLst>
          </p:cNvPr>
          <p:cNvSpPr/>
          <p:nvPr/>
        </p:nvSpPr>
        <p:spPr>
          <a:xfrm>
            <a:off x="6711561" y="170698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Cloud</a:t>
            </a:r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35875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7" grpId="0"/>
      <p:bldP spid="20" grpId="0"/>
      <p:bldP spid="21" grpId="0"/>
      <p:bldP spid="23" grpId="0"/>
      <p:bldP spid="24" grpId="0"/>
      <p:bldP spid="26" grpId="0"/>
      <p:bldP spid="33" grpId="0"/>
      <p:bldP spid="2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8DD6-74B4-E3D1-0EDB-C413EB58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8A92DBF-2DD9-20BA-5D59-F316A047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4" y="395288"/>
            <a:ext cx="7630208" cy="663600"/>
          </a:xfrm>
        </p:spPr>
        <p:txBody>
          <a:bodyPr/>
          <a:lstStyle/>
          <a:p>
            <a:r>
              <a:rPr lang="da-DK" noProof="1"/>
              <a:t>Hvad kan man leje hos en Cloud-leverandør?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35CEEB1-7BE7-DA7B-0A7A-17AE23E9931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609BE3C-A185-EC16-7231-71DE71741D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5579C02-20CF-CC56-91DE-98D1E5111E0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19</a:t>
            </a:fld>
            <a:endParaRPr lang="da-DK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4DCF98-2520-162D-856B-8DBF2AB8967F}"/>
              </a:ext>
            </a:extLst>
          </p:cNvPr>
          <p:cNvSpPr/>
          <p:nvPr/>
        </p:nvSpPr>
        <p:spPr>
          <a:xfrm>
            <a:off x="380856" y="2013745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Virtuelle maskiner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82963-A852-5D4E-5ABF-2BB192F48D09}"/>
              </a:ext>
            </a:extLst>
          </p:cNvPr>
          <p:cNvSpPr/>
          <p:nvPr/>
        </p:nvSpPr>
        <p:spPr>
          <a:xfrm>
            <a:off x="4911333" y="2013745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Databaser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4508E6-004F-F4F6-4556-1E4B9E38CC83}"/>
              </a:ext>
            </a:extLst>
          </p:cNvPr>
          <p:cNvSpPr/>
          <p:nvPr/>
        </p:nvSpPr>
        <p:spPr>
          <a:xfrm>
            <a:off x="9441811" y="2013745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 err="1"/>
              <a:t>Kubernetes</a:t>
            </a:r>
            <a:endParaRPr lang="da-DK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42FFB-2C65-DADE-609E-AB3E6A1777A6}"/>
              </a:ext>
            </a:extLst>
          </p:cNvPr>
          <p:cNvSpPr/>
          <p:nvPr/>
        </p:nvSpPr>
        <p:spPr>
          <a:xfrm>
            <a:off x="396874" y="3452687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AI-tjenester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A8631E-72DF-9DCC-605C-A7471F70A9CA}"/>
              </a:ext>
            </a:extLst>
          </p:cNvPr>
          <p:cNvSpPr/>
          <p:nvPr/>
        </p:nvSpPr>
        <p:spPr>
          <a:xfrm>
            <a:off x="4911332" y="3452687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Compute</a:t>
            </a:r>
            <a:endParaRPr lang="da-DK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5F2B19-ABEA-1485-51B1-CEDD16089EF8}"/>
              </a:ext>
            </a:extLst>
          </p:cNvPr>
          <p:cNvSpPr/>
          <p:nvPr/>
        </p:nvSpPr>
        <p:spPr>
          <a:xfrm>
            <a:off x="9441811" y="3452687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Storage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7E8CD2-0FFE-3D6F-FB2F-AB32CC8D0629}"/>
              </a:ext>
            </a:extLst>
          </p:cNvPr>
          <p:cNvSpPr/>
          <p:nvPr/>
        </p:nvSpPr>
        <p:spPr>
          <a:xfrm>
            <a:off x="396874" y="4891629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Netværk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A7F0F8-0E63-AEDA-C7FC-A4AD6F894567}"/>
              </a:ext>
            </a:extLst>
          </p:cNvPr>
          <p:cNvSpPr/>
          <p:nvPr/>
        </p:nvSpPr>
        <p:spPr>
          <a:xfrm>
            <a:off x="9425792" y="4891629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og mere...</a:t>
            </a:r>
            <a:endParaRPr lang="da-DK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21C1D-F03C-E4A7-B51F-D56B86B8B0AD}"/>
              </a:ext>
            </a:extLst>
          </p:cNvPr>
          <p:cNvSpPr/>
          <p:nvPr/>
        </p:nvSpPr>
        <p:spPr>
          <a:xfrm>
            <a:off x="4911332" y="4891629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Identitet</a:t>
            </a:r>
          </a:p>
        </p:txBody>
      </p:sp>
    </p:spTree>
    <p:extLst>
      <p:ext uri="{BB962C8B-B14F-4D97-AF65-F5344CB8AC3E}">
        <p14:creationId xmlns:p14="http://schemas.microsoft.com/office/powerpoint/2010/main" val="312750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25A7-BF8C-3216-672D-76C18CCE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053747A-9AF9-02B0-1126-DD904A51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Hvem har ansvaret?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8CA9E6C-B419-7000-6587-A2228BABDA6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F5C1432-4285-ED4B-9833-7BCFDA4F70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0A39CF0-CA58-40B3-D868-EFB1E349856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20</a:t>
            </a:fld>
            <a:endParaRPr lang="da-DK" noProof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461836-90CC-2F13-86E0-F8CF50161E76}"/>
              </a:ext>
            </a:extLst>
          </p:cNvPr>
          <p:cNvSpPr/>
          <p:nvPr/>
        </p:nvSpPr>
        <p:spPr>
          <a:xfrm>
            <a:off x="1196716" y="1671360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Opgave</a:t>
            </a:r>
            <a:endParaRPr lang="da-DK" sz="1600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CEF330-FD5C-9533-B207-BEAEA4622A02}"/>
              </a:ext>
            </a:extLst>
          </p:cNvPr>
          <p:cNvSpPr/>
          <p:nvPr/>
        </p:nvSpPr>
        <p:spPr>
          <a:xfrm>
            <a:off x="4911333" y="1671361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On-</a:t>
            </a:r>
            <a:r>
              <a:rPr lang="da-DK" dirty="0" err="1"/>
              <a:t>premises</a:t>
            </a:r>
            <a:endParaRPr lang="da-DK" sz="1600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503827-C3A0-CCE1-B1A3-9BC2C3C45FAC}"/>
              </a:ext>
            </a:extLst>
          </p:cNvPr>
          <p:cNvSpPr/>
          <p:nvPr/>
        </p:nvSpPr>
        <p:spPr>
          <a:xfrm>
            <a:off x="8625951" y="167135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Cloud</a:t>
            </a:r>
            <a:endParaRPr lang="da-DK" sz="16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C5B864-4525-D072-FC70-E9E3528F31EF}"/>
              </a:ext>
            </a:extLst>
          </p:cNvPr>
          <p:cNvSpPr txBox="1"/>
          <p:nvPr/>
        </p:nvSpPr>
        <p:spPr>
          <a:xfrm>
            <a:off x="1196716" y="2502814"/>
            <a:ext cx="10179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Hardware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DAEDF1-020E-F1CC-E6E9-05735B7867AD}"/>
              </a:ext>
            </a:extLst>
          </p:cNvPr>
          <p:cNvSpPr txBox="1"/>
          <p:nvPr/>
        </p:nvSpPr>
        <p:spPr>
          <a:xfrm>
            <a:off x="1196716" y="2990335"/>
            <a:ext cx="16559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Strøm og køling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1AB17-0374-5395-2BD9-1A2F82EF26A7}"/>
              </a:ext>
            </a:extLst>
          </p:cNvPr>
          <p:cNvSpPr txBox="1"/>
          <p:nvPr/>
        </p:nvSpPr>
        <p:spPr>
          <a:xfrm>
            <a:off x="1196716" y="3477856"/>
            <a:ext cx="92813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Netværk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73E72B-8B1E-AAF0-54FC-6DC433CEE87D}"/>
              </a:ext>
            </a:extLst>
          </p:cNvPr>
          <p:cNvSpPr txBox="1"/>
          <p:nvPr/>
        </p:nvSpPr>
        <p:spPr>
          <a:xfrm>
            <a:off x="1196716" y="3965377"/>
            <a:ext cx="146033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Defekte diske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838984-C2A1-8B5E-8D53-6DF8B3982AAA}"/>
              </a:ext>
            </a:extLst>
          </p:cNvPr>
          <p:cNvSpPr txBox="1"/>
          <p:nvPr/>
        </p:nvSpPr>
        <p:spPr>
          <a:xfrm>
            <a:off x="1196715" y="4452898"/>
            <a:ext cx="142186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Applikationen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78F52F-00CF-1A89-CEA3-E4B099D8FB73}"/>
              </a:ext>
            </a:extLst>
          </p:cNvPr>
          <p:cNvSpPr txBox="1"/>
          <p:nvPr/>
        </p:nvSpPr>
        <p:spPr>
          <a:xfrm>
            <a:off x="1196714" y="4940419"/>
            <a:ext cx="54181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Kode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DF7D4E-CBE9-4FF9-D286-2DBBDFBA88C6}"/>
              </a:ext>
            </a:extLst>
          </p:cNvPr>
          <p:cNvSpPr txBox="1"/>
          <p:nvPr/>
        </p:nvSpPr>
        <p:spPr>
          <a:xfrm>
            <a:off x="4911333" y="2502814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Din virksomhed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9E0218-F6CD-7182-ECD9-D4E6A829CC14}"/>
              </a:ext>
            </a:extLst>
          </p:cNvPr>
          <p:cNvSpPr txBox="1"/>
          <p:nvPr/>
        </p:nvSpPr>
        <p:spPr>
          <a:xfrm>
            <a:off x="4911333" y="2990335"/>
            <a:ext cx="16126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3FA1FD-A022-23D8-B344-82388FC7C243}"/>
              </a:ext>
            </a:extLst>
          </p:cNvPr>
          <p:cNvSpPr txBox="1"/>
          <p:nvPr/>
        </p:nvSpPr>
        <p:spPr>
          <a:xfrm>
            <a:off x="4911333" y="3477855"/>
            <a:ext cx="16126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  <a:p>
            <a:pPr algn="l"/>
            <a:endParaRPr lang="da-DK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341611-5213-7F55-D3DE-A387DDEFCABA}"/>
              </a:ext>
            </a:extLst>
          </p:cNvPr>
          <p:cNvSpPr txBox="1"/>
          <p:nvPr/>
        </p:nvSpPr>
        <p:spPr>
          <a:xfrm>
            <a:off x="4911333" y="3965377"/>
            <a:ext cx="16126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  <a:p>
            <a:pPr algn="l"/>
            <a:endParaRPr lang="da-DK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C8BC01-DC28-D515-3EEE-C69535CE8AC3}"/>
              </a:ext>
            </a:extLst>
          </p:cNvPr>
          <p:cNvSpPr txBox="1"/>
          <p:nvPr/>
        </p:nvSpPr>
        <p:spPr>
          <a:xfrm>
            <a:off x="4911333" y="4452898"/>
            <a:ext cx="16126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  <a:p>
            <a:pPr algn="l"/>
            <a:endParaRPr lang="da-DK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A393F3-CB69-5476-569B-2804FFED5906}"/>
              </a:ext>
            </a:extLst>
          </p:cNvPr>
          <p:cNvSpPr txBox="1"/>
          <p:nvPr/>
        </p:nvSpPr>
        <p:spPr>
          <a:xfrm>
            <a:off x="4911333" y="4940419"/>
            <a:ext cx="16126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  <a:p>
            <a:pPr algn="l"/>
            <a:endParaRPr lang="da-DK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3B04CD-9878-8307-42E1-3450D4ED0F1B}"/>
              </a:ext>
            </a:extLst>
          </p:cNvPr>
          <p:cNvSpPr txBox="1"/>
          <p:nvPr/>
        </p:nvSpPr>
        <p:spPr>
          <a:xfrm>
            <a:off x="8625952" y="2497892"/>
            <a:ext cx="18162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Cloud-leverandør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856DB8-01DB-5EF0-EF04-8BCE94F78805}"/>
              </a:ext>
            </a:extLst>
          </p:cNvPr>
          <p:cNvSpPr txBox="1"/>
          <p:nvPr/>
        </p:nvSpPr>
        <p:spPr>
          <a:xfrm>
            <a:off x="8625952" y="2985413"/>
            <a:ext cx="18162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Cloud-leverandør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2A34E3-F57F-FB5B-88FD-1F92F0E9E173}"/>
              </a:ext>
            </a:extLst>
          </p:cNvPr>
          <p:cNvSpPr txBox="1"/>
          <p:nvPr/>
        </p:nvSpPr>
        <p:spPr>
          <a:xfrm>
            <a:off x="8625952" y="3472933"/>
            <a:ext cx="18162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Cloud-leverandør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6377E1-3DAE-E3EB-ECB9-E5FFF93136D0}"/>
              </a:ext>
            </a:extLst>
          </p:cNvPr>
          <p:cNvSpPr txBox="1"/>
          <p:nvPr/>
        </p:nvSpPr>
        <p:spPr>
          <a:xfrm>
            <a:off x="8625952" y="3960455"/>
            <a:ext cx="18162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Cloud-leverandør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46952B-B6F8-F97B-5487-C4175D231EE2}"/>
              </a:ext>
            </a:extLst>
          </p:cNvPr>
          <p:cNvSpPr txBox="1"/>
          <p:nvPr/>
        </p:nvSpPr>
        <p:spPr>
          <a:xfrm>
            <a:off x="8625952" y="4447976"/>
            <a:ext cx="1612621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  <a:p>
            <a:endParaRPr lang="da-DK" sz="1600" dirty="0"/>
          </a:p>
          <a:p>
            <a:endParaRPr lang="da-DK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A7D40B-4768-3FAD-6BAE-A0AEB7272F68}"/>
              </a:ext>
            </a:extLst>
          </p:cNvPr>
          <p:cNvSpPr txBox="1"/>
          <p:nvPr/>
        </p:nvSpPr>
        <p:spPr>
          <a:xfrm>
            <a:off x="8625951" y="4935497"/>
            <a:ext cx="161262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Din virksomhed</a:t>
            </a:r>
          </a:p>
          <a:p>
            <a:endParaRPr lang="da-DK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59EDC-81D7-82FC-9AFF-D1D1587C91FA}"/>
              </a:ext>
            </a:extLst>
          </p:cNvPr>
          <p:cNvSpPr/>
          <p:nvPr/>
        </p:nvSpPr>
        <p:spPr>
          <a:xfrm>
            <a:off x="8524159" y="4360108"/>
            <a:ext cx="1816203" cy="9144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700A58-38F6-631C-C7F8-AD4650375C49}"/>
              </a:ext>
            </a:extLst>
          </p:cNvPr>
          <p:cNvSpPr/>
          <p:nvPr/>
        </p:nvSpPr>
        <p:spPr>
          <a:xfrm>
            <a:off x="4846351" y="2450660"/>
            <a:ext cx="1720704" cy="2780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399012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 animBg="1"/>
      <p:bldP spid="5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DB73F-562B-50BC-C37F-877016AD4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BD34-DD59-49E1-9776-D67684F06344}" type="datetime4">
              <a:rPr lang="da-DK" smtClean="0"/>
              <a:pPr/>
              <a:t>26-09-22</a:t>
            </a:fld>
            <a:endParaRPr lang="da-D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21144-C5A2-A8E4-847E-F5A8ADE5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08CF2-750B-AE07-6B12-9CA57F80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a-DK" smtClean="0"/>
              <a:pPr/>
              <a:t>21</a:t>
            </a:fld>
            <a:endParaRPr lang="da-DK" dirty="0"/>
          </a:p>
        </p:txBody>
      </p:sp>
      <p:pic>
        <p:nvPicPr>
          <p:cNvPr id="1026" name="Picture 2" descr="Microsoft Danmark: Datacenterregion – Microsoft Pulse">
            <a:extLst>
              <a:ext uri="{FF2B5EF4-FFF2-40B4-BE49-F238E27FC236}">
                <a16:creationId xmlns:a16="http://schemas.microsoft.com/office/drawing/2014/main" id="{4BD44329-EB1D-E210-4DD1-B46650AAA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3" y="397423"/>
            <a:ext cx="10831354" cy="598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EB717-94D4-C57F-E9AE-702B0CFA5955}"/>
              </a:ext>
            </a:extLst>
          </p:cNvPr>
          <p:cNvSpPr txBox="1"/>
          <p:nvPr/>
        </p:nvSpPr>
        <p:spPr>
          <a:xfrm>
            <a:off x="6207182" y="6460577"/>
            <a:ext cx="53604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100" dirty="0" err="1"/>
              <a:t>https</a:t>
            </a:r>
            <a:r>
              <a:rPr lang="da-DK" sz="1100" dirty="0"/>
              <a:t>://</a:t>
            </a:r>
            <a:r>
              <a:rPr lang="da-DK" sz="1100" dirty="0" err="1"/>
              <a:t>pulse.microsoft.com</a:t>
            </a:r>
            <a:r>
              <a:rPr lang="da-DK" sz="1100" dirty="0"/>
              <a:t>/da-dk/</a:t>
            </a:r>
            <a:r>
              <a:rPr lang="da-DK" sz="1100" dirty="0" err="1"/>
              <a:t>microsoft</a:t>
            </a:r>
            <a:r>
              <a:rPr lang="da-DK" sz="1100" dirty="0"/>
              <a:t>-</a:t>
            </a:r>
            <a:r>
              <a:rPr lang="da-DK" sz="1100" dirty="0" err="1"/>
              <a:t>danmark</a:t>
            </a:r>
            <a:r>
              <a:rPr lang="da-DK" sz="1100" dirty="0"/>
              <a:t>-datacenterregion/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7E05B521-36BF-8220-B1D0-E24673BF40F3}"/>
              </a:ext>
            </a:extLst>
          </p:cNvPr>
          <p:cNvSpPr txBox="1">
            <a:spLocks/>
          </p:cNvSpPr>
          <p:nvPr/>
        </p:nvSpPr>
        <p:spPr>
          <a:xfrm>
            <a:off x="0" y="62778"/>
            <a:ext cx="5618162" cy="334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24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noProof="1"/>
              <a:t>Hvordan ser et data center ud?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8A9E2-D910-047B-9104-D72F19B6E220}"/>
              </a:ext>
            </a:extLst>
          </p:cNvPr>
          <p:cNvSpPr txBox="1"/>
          <p:nvPr/>
        </p:nvSpPr>
        <p:spPr>
          <a:xfrm>
            <a:off x="680323" y="6444919"/>
            <a:ext cx="257602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100" dirty="0"/>
              <a:t>Roskilde, Køge og Høje Taastrup (?)</a:t>
            </a:r>
          </a:p>
        </p:txBody>
      </p:sp>
    </p:spTree>
    <p:extLst>
      <p:ext uri="{BB962C8B-B14F-4D97-AF65-F5344CB8AC3E}">
        <p14:creationId xmlns:p14="http://schemas.microsoft.com/office/powerpoint/2010/main" val="268195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E557-1411-BE48-0939-0340F4B8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F76788B-9AA1-A2E6-12B8-DDE305E86E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F9003BE-04C7-A886-66CD-740CEEBB554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E725D68-6B46-001A-DB8C-A1D2198879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/>
              <a:t>Hvad er Azure?</a:t>
            </a:r>
          </a:p>
          <a:p>
            <a:endParaRPr lang="da-DK" sz="2000" noProof="1"/>
          </a:p>
          <a:p>
            <a:r>
              <a:rPr lang="da-DK" sz="2000" noProof="1"/>
              <a:t>Hvordan er Azure organiseret?</a:t>
            </a:r>
          </a:p>
          <a:p>
            <a:endParaRPr lang="da-DK" sz="2000" noProof="1"/>
          </a:p>
          <a:p>
            <a:r>
              <a:rPr lang="da-DK" sz="2000" noProof="1"/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27A4678-7930-AE29-7C69-27CAC8DAAC2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22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D4F8E917-E65C-FF16-9F7E-98E2F06639F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78FF5B-6EE8-2A04-ADFF-2EF99F73E0BC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3765C7-B1A5-83ED-DC61-47A917E88A63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234367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C580-A71B-CC2D-289C-06BF0704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FD95840C-8BF4-8EC5-C414-6601AD9976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27302EF-ABC9-1906-7659-EC40F8AEC37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C6334C7-EF53-C32A-3039-ABE8E23D97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23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28D6316-8222-B6ED-DA37-F3126344C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Hvad er Azure?</a:t>
            </a:r>
          </a:p>
        </p:txBody>
      </p:sp>
    </p:spTree>
    <p:extLst>
      <p:ext uri="{BB962C8B-B14F-4D97-AF65-F5344CB8AC3E}">
        <p14:creationId xmlns:p14="http://schemas.microsoft.com/office/powerpoint/2010/main" val="3757403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AA03D-EB52-5465-E10D-14AFC493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6" hidden="1">
            <a:extLst>
              <a:ext uri="{FF2B5EF4-FFF2-40B4-BE49-F238E27FC236}">
                <a16:creationId xmlns:a16="http://schemas.microsoft.com/office/drawing/2014/main" id="{B400E2C8-9A62-8A73-3571-6E073D3FDFC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046620" y="6463506"/>
            <a:ext cx="748506" cy="136869"/>
          </a:xfrm>
          <a:effectLst/>
        </p:spPr>
        <p:txBody>
          <a:bodyPr vert="horz" wrap="square" anchor="b">
            <a:noAutofit/>
          </a:bodyPr>
          <a:lstStyle>
            <a:lvl1pPr algn="r">
              <a:defRPr sz="800" b="0" i="0" u="none" strike="noStrike" baseline="0">
                <a:solidFill>
                  <a:schemeClr val="bg2"/>
                </a:solidFill>
                <a:latin typeface="Clever Sans OFFC" pitchFamily="34" charset="0"/>
              </a:defRPr>
            </a:lvl1pPr>
          </a:lstStyle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38" name="Titel 2">
            <a:extLst>
              <a:ext uri="{FF2B5EF4-FFF2-40B4-BE49-F238E27FC236}">
                <a16:creationId xmlns:a16="http://schemas.microsoft.com/office/drawing/2014/main" id="{3F70A1D7-9DE7-5459-EAEB-6D1F59E36CD7}"/>
              </a:ext>
            </a:extLst>
          </p:cNvPr>
          <p:cNvSpPr txBox="1">
            <a:spLocks/>
          </p:cNvSpPr>
          <p:nvPr/>
        </p:nvSpPr>
        <p:spPr>
          <a:xfrm>
            <a:off x="396874" y="395288"/>
            <a:ext cx="4654551" cy="6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48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noProof="1"/>
              <a:t>Hvad er Azure?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FD420-EB6B-38FF-BCE5-D32B0BA98800}"/>
              </a:ext>
            </a:extLst>
          </p:cNvPr>
          <p:cNvSpPr txBox="1"/>
          <p:nvPr/>
        </p:nvSpPr>
        <p:spPr>
          <a:xfrm>
            <a:off x="396874" y="1058888"/>
            <a:ext cx="504304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Azure er </a:t>
            </a:r>
            <a:r>
              <a:rPr lang="en-US" dirty="0" err="1"/>
              <a:t>Microsofts</a:t>
            </a:r>
            <a:r>
              <a:rPr lang="en-US" dirty="0"/>
              <a:t> cloud-platform,</a:t>
            </a:r>
            <a:br>
              <a:rPr lang="en-US" dirty="0"/>
            </a:br>
            <a:r>
              <a:rPr lang="en-US" dirty="0" err="1"/>
              <a:t>som</a:t>
            </a:r>
            <a:r>
              <a:rPr lang="en-US" dirty="0"/>
              <a:t> giver </a:t>
            </a:r>
            <a:r>
              <a:rPr lang="en-US" dirty="0" err="1"/>
              <a:t>adgang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IT-</a:t>
            </a:r>
            <a:r>
              <a:rPr lang="en-US" dirty="0" err="1"/>
              <a:t>ressourcer</a:t>
            </a:r>
            <a:r>
              <a:rPr lang="en-US" dirty="0"/>
              <a:t> </a:t>
            </a:r>
            <a:r>
              <a:rPr lang="en-US" dirty="0" err="1"/>
              <a:t>og</a:t>
            </a:r>
            <a:br>
              <a:rPr lang="en-US" dirty="0"/>
            </a:br>
            <a:r>
              <a:rPr lang="en-US" dirty="0"/>
              <a:t>services via </a:t>
            </a:r>
            <a:r>
              <a:rPr lang="en-US" dirty="0" err="1"/>
              <a:t>Microsofts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datacentre</a:t>
            </a:r>
            <a:r>
              <a:rPr lang="en-US" dirty="0"/>
              <a:t>.</a:t>
            </a:r>
            <a:endParaRPr lang="da-DK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69104-F9AC-842B-B6D9-1DD8B4ED408F}"/>
              </a:ext>
            </a:extLst>
          </p:cNvPr>
          <p:cNvSpPr/>
          <p:nvPr/>
        </p:nvSpPr>
        <p:spPr>
          <a:xfrm>
            <a:off x="3580328" y="2796498"/>
            <a:ext cx="5272644" cy="255826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F82F8-E01D-FE3E-FB47-177EAC12E0BA}"/>
              </a:ext>
            </a:extLst>
          </p:cNvPr>
          <p:cNvSpPr txBox="1"/>
          <p:nvPr/>
        </p:nvSpPr>
        <p:spPr>
          <a:xfrm>
            <a:off x="3677188" y="2869337"/>
            <a:ext cx="16767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Microsoft Azure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356C51-9F85-D441-A6D9-FB7094AC76DB}"/>
              </a:ext>
            </a:extLst>
          </p:cNvPr>
          <p:cNvSpPr/>
          <p:nvPr/>
        </p:nvSpPr>
        <p:spPr>
          <a:xfrm>
            <a:off x="3772432" y="3329522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Compute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9D9469-4C75-335D-C1EE-4370DD820C2C}"/>
              </a:ext>
            </a:extLst>
          </p:cNvPr>
          <p:cNvSpPr/>
          <p:nvPr/>
        </p:nvSpPr>
        <p:spPr>
          <a:xfrm>
            <a:off x="6333868" y="3329522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Storage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499CDA-C21F-062B-E21B-032C68B4E59A}"/>
              </a:ext>
            </a:extLst>
          </p:cNvPr>
          <p:cNvSpPr/>
          <p:nvPr/>
        </p:nvSpPr>
        <p:spPr>
          <a:xfrm>
            <a:off x="3772432" y="3992170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Databaser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F5641D-EB72-5B17-2B21-10969697BDA0}"/>
              </a:ext>
            </a:extLst>
          </p:cNvPr>
          <p:cNvSpPr/>
          <p:nvPr/>
        </p:nvSpPr>
        <p:spPr>
          <a:xfrm>
            <a:off x="6333868" y="3992170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Netværk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D10475-4D43-E37C-78BD-2F57F8B69F6B}"/>
              </a:ext>
            </a:extLst>
          </p:cNvPr>
          <p:cNvSpPr/>
          <p:nvPr/>
        </p:nvSpPr>
        <p:spPr>
          <a:xfrm>
            <a:off x="3772431" y="4680272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Identitet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4BDB27-4C5C-73DA-13AA-01659EF948E3}"/>
              </a:ext>
            </a:extLst>
          </p:cNvPr>
          <p:cNvSpPr/>
          <p:nvPr/>
        </p:nvSpPr>
        <p:spPr>
          <a:xfrm>
            <a:off x="6333868" y="4680273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AI-tjenester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28E726-9AF9-6EC7-2702-A3B88EA5C289}"/>
              </a:ext>
            </a:extLst>
          </p:cNvPr>
          <p:cNvSpPr/>
          <p:nvPr/>
        </p:nvSpPr>
        <p:spPr>
          <a:xfrm>
            <a:off x="298306" y="2942900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Din virksomhed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A999FA-8814-F32B-DD59-8FD0A5F03BD5}"/>
              </a:ext>
            </a:extLst>
          </p:cNvPr>
          <p:cNvSpPr/>
          <p:nvPr/>
        </p:nvSpPr>
        <p:spPr>
          <a:xfrm>
            <a:off x="298306" y="4276400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Azure Portal</a:t>
            </a:r>
            <a:endParaRPr lang="da-DK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9FAA03-0456-54C3-5A67-B443F208E824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1482973" y="3761670"/>
            <a:ext cx="0" cy="51473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6540D1A-93EF-08D0-370C-17B47FFE5E47}"/>
              </a:ext>
            </a:extLst>
          </p:cNvPr>
          <p:cNvCxnSpPr>
            <a:cxnSpLocks/>
            <a:stCxn id="32" idx="3"/>
            <a:endCxn id="4" idx="1"/>
          </p:cNvCxnSpPr>
          <p:nvPr/>
        </p:nvCxnSpPr>
        <p:spPr>
          <a:xfrm flipV="1">
            <a:off x="2667639" y="4075631"/>
            <a:ext cx="912689" cy="61015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D2462AC-AC32-E827-D2E5-05468DFE12BF}"/>
              </a:ext>
            </a:extLst>
          </p:cNvPr>
          <p:cNvSpPr/>
          <p:nvPr/>
        </p:nvSpPr>
        <p:spPr>
          <a:xfrm>
            <a:off x="9765659" y="4276400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Microsoft datacentre</a:t>
            </a:r>
            <a:endParaRPr lang="da-DK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E59E3D-F307-9E3B-C6CA-C3D047F03669}"/>
              </a:ext>
            </a:extLst>
          </p:cNvPr>
          <p:cNvSpPr/>
          <p:nvPr/>
        </p:nvSpPr>
        <p:spPr>
          <a:xfrm>
            <a:off x="9765658" y="2947463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Fysiske servere</a:t>
            </a:r>
            <a:endParaRPr lang="da-DK" noProof="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19C08A1-E0D2-D9CB-F037-5DA76411B3CE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>
            <a:off x="8852972" y="4075631"/>
            <a:ext cx="912687" cy="61015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62755E-535C-0F18-0DA2-7888C0A45056}"/>
              </a:ext>
            </a:extLst>
          </p:cNvPr>
          <p:cNvCxnSpPr>
            <a:cxnSpLocks/>
            <a:stCxn id="43" idx="0"/>
            <a:endCxn id="47" idx="2"/>
          </p:cNvCxnSpPr>
          <p:nvPr/>
        </p:nvCxnSpPr>
        <p:spPr>
          <a:xfrm flipH="1" flipV="1">
            <a:off x="10950325" y="3766233"/>
            <a:ext cx="1" cy="51016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loud 56">
            <a:extLst>
              <a:ext uri="{FF2B5EF4-FFF2-40B4-BE49-F238E27FC236}">
                <a16:creationId xmlns:a16="http://schemas.microsoft.com/office/drawing/2014/main" id="{FDE2EF0F-7A83-6F34-A3D3-9F8DBF69E42D}"/>
              </a:ext>
            </a:extLst>
          </p:cNvPr>
          <p:cNvSpPr/>
          <p:nvPr/>
        </p:nvSpPr>
        <p:spPr>
          <a:xfrm>
            <a:off x="457200" y="5588647"/>
            <a:ext cx="6076950" cy="717537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Aya, Rasmus, Thomas, Matthias, Christian, Daniel</a:t>
            </a:r>
            <a:endParaRPr lang="da-DK" sz="1600" noProof="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8676CF9-BDE2-9348-7765-1622A30555E7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1482973" y="5095170"/>
            <a:ext cx="256927" cy="55633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45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/>
      <p:bldP spid="7" grpId="0" animBg="1"/>
      <p:bldP spid="8" grpId="0" animBg="1"/>
      <p:bldP spid="9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43" grpId="0" animBg="1"/>
      <p:bldP spid="47" grpId="0" animBg="1"/>
      <p:bldP spid="5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20B9-4D98-F171-5813-61B9BF44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F0BD761-5370-DEB5-760E-96668F0A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4" y="395288"/>
            <a:ext cx="5984876" cy="663600"/>
          </a:xfrm>
        </p:spPr>
        <p:txBody>
          <a:bodyPr/>
          <a:lstStyle/>
          <a:p>
            <a:r>
              <a:rPr lang="da-DK" noProof="1"/>
              <a:t>Microsofts globale datacentre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DBDA171-8485-9472-BF16-84CF1F451CE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679A091-E1AC-3A96-AEDD-6FB9FF309AB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5505419-E4D8-18DE-E946-71A98E6F74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25</a:t>
            </a:fld>
            <a:endParaRPr lang="da-DK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FC4DE1-7311-AC2C-005D-CF8BBEF35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254" y="977900"/>
            <a:ext cx="7026845" cy="50010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747416-D3C8-26C9-3F78-B3A902872A86}"/>
              </a:ext>
            </a:extLst>
          </p:cNvPr>
          <p:cNvSpPr txBox="1"/>
          <p:nvPr/>
        </p:nvSpPr>
        <p:spPr>
          <a:xfrm>
            <a:off x="4949254" y="6050740"/>
            <a:ext cx="356187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100" dirty="0" err="1"/>
              <a:t>https</a:t>
            </a:r>
            <a:r>
              <a:rPr lang="da-DK" sz="1100" dirty="0"/>
              <a:t>://</a:t>
            </a:r>
            <a:r>
              <a:rPr lang="da-DK" sz="1100" dirty="0" err="1"/>
              <a:t>datacenters.microsoft.com</a:t>
            </a:r>
            <a:r>
              <a:rPr lang="da-DK" sz="1100" dirty="0"/>
              <a:t>/globe/</a:t>
            </a:r>
            <a:r>
              <a:rPr lang="da-DK" sz="1100" dirty="0" err="1"/>
              <a:t>explore</a:t>
            </a:r>
            <a:endParaRPr lang="da-DK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F8CF42-135D-7410-B82B-F15291D8CDAD}"/>
              </a:ext>
            </a:extLst>
          </p:cNvPr>
          <p:cNvSpPr txBox="1"/>
          <p:nvPr/>
        </p:nvSpPr>
        <p:spPr>
          <a:xfrm>
            <a:off x="495300" y="1392078"/>
            <a:ext cx="376224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Ressource kan oprettes i forskellige</a:t>
            </a:r>
            <a:br>
              <a:rPr lang="da-DK" sz="1600" dirty="0"/>
            </a:br>
            <a:r>
              <a:rPr lang="da-DK" sz="1600" dirty="0"/>
              <a:t>Azure regioner (datacentre)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47492-59DB-FA7C-2D5B-DB96A48B4750}"/>
              </a:ext>
            </a:extLst>
          </p:cNvPr>
          <p:cNvSpPr txBox="1"/>
          <p:nvPr/>
        </p:nvSpPr>
        <p:spPr>
          <a:xfrm>
            <a:off x="614307" y="2345398"/>
            <a:ext cx="16623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Sweden</a:t>
            </a:r>
            <a:r>
              <a:rPr lang="da-DK" sz="1600" dirty="0"/>
              <a:t> Central</a:t>
            </a:r>
          </a:p>
          <a:p>
            <a:pPr algn="l"/>
            <a:endParaRPr lang="da-DK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451856-0D72-3DEF-BFDE-B2A37C016860}"/>
              </a:ext>
            </a:extLst>
          </p:cNvPr>
          <p:cNvCxnSpPr>
            <a:cxnSpLocks/>
          </p:cNvCxnSpPr>
          <p:nvPr/>
        </p:nvCxnSpPr>
        <p:spPr>
          <a:xfrm>
            <a:off x="2241550" y="2965053"/>
            <a:ext cx="6013450" cy="14644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DDD197-B5BC-B963-6FA6-2C115AD9E870}"/>
              </a:ext>
            </a:extLst>
          </p:cNvPr>
          <p:cNvCxnSpPr>
            <a:cxnSpLocks/>
          </p:cNvCxnSpPr>
          <p:nvPr/>
        </p:nvCxnSpPr>
        <p:spPr>
          <a:xfrm flipV="1">
            <a:off x="2446155" y="2172328"/>
            <a:ext cx="6989945" cy="29480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F2189A-8A16-7555-5B52-7E2781CE0A69}"/>
              </a:ext>
            </a:extLst>
          </p:cNvPr>
          <p:cNvCxnSpPr>
            <a:cxnSpLocks/>
          </p:cNvCxnSpPr>
          <p:nvPr/>
        </p:nvCxnSpPr>
        <p:spPr>
          <a:xfrm>
            <a:off x="2298700" y="2730020"/>
            <a:ext cx="6591300" cy="2492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D63A72-4482-F278-622D-60353341BEFF}"/>
              </a:ext>
            </a:extLst>
          </p:cNvPr>
          <p:cNvCxnSpPr>
            <a:cxnSpLocks/>
          </p:cNvCxnSpPr>
          <p:nvPr/>
        </p:nvCxnSpPr>
        <p:spPr>
          <a:xfrm>
            <a:off x="2241550" y="3206159"/>
            <a:ext cx="420370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itel 2">
            <a:extLst>
              <a:ext uri="{FF2B5EF4-FFF2-40B4-BE49-F238E27FC236}">
                <a16:creationId xmlns:a16="http://schemas.microsoft.com/office/drawing/2014/main" id="{0CC72407-C6F0-1271-954A-5A76974FE49E}"/>
              </a:ext>
            </a:extLst>
          </p:cNvPr>
          <p:cNvSpPr txBox="1">
            <a:spLocks/>
          </p:cNvSpPr>
          <p:nvPr/>
        </p:nvSpPr>
        <p:spPr>
          <a:xfrm>
            <a:off x="7917392" y="620318"/>
            <a:ext cx="1187470" cy="3346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24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noProof="1"/>
              <a:t>Europa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94F3824-EED2-0A4B-E0F3-EC439BFEB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830" y="3235711"/>
            <a:ext cx="1494424" cy="2743200"/>
          </a:xfrm>
          <a:prstGeom prst="rect">
            <a:avLst/>
          </a:prstGeom>
        </p:spPr>
      </p:pic>
      <p:sp>
        <p:nvSpPr>
          <p:cNvPr id="11" name="Can 10">
            <a:extLst>
              <a:ext uri="{FF2B5EF4-FFF2-40B4-BE49-F238E27FC236}">
                <a16:creationId xmlns:a16="http://schemas.microsoft.com/office/drawing/2014/main" id="{34C72C18-FBB9-2EBB-E49B-95105E19964C}"/>
              </a:ext>
            </a:extLst>
          </p:cNvPr>
          <p:cNvSpPr/>
          <p:nvPr/>
        </p:nvSpPr>
        <p:spPr>
          <a:xfrm>
            <a:off x="6096000" y="3235711"/>
            <a:ext cx="854636" cy="579687"/>
          </a:xfrm>
          <a:prstGeom prst="can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CRM</a:t>
            </a:r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247FF9D1-6C9A-F74C-1F13-616CD7332F54}"/>
              </a:ext>
            </a:extLst>
          </p:cNvPr>
          <p:cNvSpPr/>
          <p:nvPr/>
        </p:nvSpPr>
        <p:spPr>
          <a:xfrm>
            <a:off x="8581464" y="1555228"/>
            <a:ext cx="854636" cy="579687"/>
          </a:xfrm>
          <a:prstGeom prst="can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200" noProof="0" dirty="0"/>
              <a:t>Raito</a:t>
            </a:r>
            <a:endParaRPr lang="da-DK" sz="1600" noProof="0" dirty="0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037F3288-2F2F-7D72-615D-65C7CA24C5F1}"/>
              </a:ext>
            </a:extLst>
          </p:cNvPr>
          <p:cNvSpPr/>
          <p:nvPr/>
        </p:nvSpPr>
        <p:spPr>
          <a:xfrm>
            <a:off x="9654239" y="1555227"/>
            <a:ext cx="953995" cy="579687"/>
          </a:xfrm>
          <a:prstGeom prst="can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200" noProof="0" dirty="0"/>
              <a:t>Order</a:t>
            </a:r>
            <a:br>
              <a:rPr lang="da-DK" sz="1200" noProof="0" dirty="0"/>
            </a:br>
            <a:r>
              <a:rPr lang="da-DK" sz="1200" noProof="0" dirty="0"/>
              <a:t>API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C0F828C-80ED-6FD8-6D22-F73D0A63FB89}"/>
              </a:ext>
            </a:extLst>
          </p:cNvPr>
          <p:cNvCxnSpPr>
            <a:cxnSpLocks/>
          </p:cNvCxnSpPr>
          <p:nvPr/>
        </p:nvCxnSpPr>
        <p:spPr>
          <a:xfrm flipH="1">
            <a:off x="6950636" y="2134914"/>
            <a:ext cx="2569882" cy="1294086"/>
          </a:xfrm>
          <a:prstGeom prst="straightConnector1">
            <a:avLst/>
          </a:prstGeom>
          <a:ln w="1016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A51115-CB97-F416-FEF7-D75E8248EE45}"/>
              </a:ext>
            </a:extLst>
          </p:cNvPr>
          <p:cNvCxnSpPr>
            <a:cxnSpLocks/>
          </p:cNvCxnSpPr>
          <p:nvPr/>
        </p:nvCxnSpPr>
        <p:spPr>
          <a:xfrm flipV="1">
            <a:off x="8255000" y="2247153"/>
            <a:ext cx="1181100" cy="86434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026BC3-CEBB-3C56-C5EC-9F17C60EFB90}"/>
              </a:ext>
            </a:extLst>
          </p:cNvPr>
          <p:cNvSpPr txBox="1"/>
          <p:nvPr/>
        </p:nvSpPr>
        <p:spPr>
          <a:xfrm>
            <a:off x="614306" y="2613775"/>
            <a:ext cx="147957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Denmark East</a:t>
            </a:r>
          </a:p>
          <a:p>
            <a:pPr algn="l"/>
            <a:endParaRPr lang="da-DK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2F07BC-1829-8BB6-BC9F-3641A85C828D}"/>
              </a:ext>
            </a:extLst>
          </p:cNvPr>
          <p:cNvSpPr txBox="1"/>
          <p:nvPr/>
        </p:nvSpPr>
        <p:spPr>
          <a:xfrm>
            <a:off x="621406" y="2886610"/>
            <a:ext cx="13641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West Europe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E5CFA-2840-A573-9C80-4093CAC017F5}"/>
              </a:ext>
            </a:extLst>
          </p:cNvPr>
          <p:cNvSpPr txBox="1"/>
          <p:nvPr/>
        </p:nvSpPr>
        <p:spPr>
          <a:xfrm>
            <a:off x="628257" y="3135768"/>
            <a:ext cx="14090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North Europe</a:t>
            </a:r>
          </a:p>
        </p:txBody>
      </p:sp>
    </p:spTree>
    <p:extLst>
      <p:ext uri="{BB962C8B-B14F-4D97-AF65-F5344CB8AC3E}">
        <p14:creationId xmlns:p14="http://schemas.microsoft.com/office/powerpoint/2010/main" val="25159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39" grpId="0"/>
      <p:bldP spid="11" grpId="0" animBg="1"/>
      <p:bldP spid="17" grpId="0" animBg="1"/>
      <p:bldP spid="18" grpId="0" animBg="1"/>
      <p:bldP spid="10" grpId="0"/>
      <p:bldP spid="16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8E51-A43B-2C80-FC7F-28DC71A7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4EC449C-3C8A-748D-CC09-5BC4ABA8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Hvad tilbyder Azure?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46441D9-A79F-2861-6B2B-4730705C4B9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D834D5F-F8B9-917E-0B35-96C45E33DB5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5E1DBD9-C6D7-23A1-0758-40BBD52E4D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26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05D785-F4D1-3869-2DAF-67DBE17D5F14}"/>
              </a:ext>
            </a:extLst>
          </p:cNvPr>
          <p:cNvSpPr/>
          <p:nvPr/>
        </p:nvSpPr>
        <p:spPr>
          <a:xfrm>
            <a:off x="2698944" y="170698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Område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71940-BF29-9797-EB0D-A634DDFB7223}"/>
              </a:ext>
            </a:extLst>
          </p:cNvPr>
          <p:cNvSpPr/>
          <p:nvPr/>
        </p:nvSpPr>
        <p:spPr>
          <a:xfrm>
            <a:off x="6711561" y="170698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Eksempler</a:t>
            </a:r>
            <a:endParaRPr lang="da-DK" sz="1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3B41D-D7CB-B438-DD7A-43F2187BE022}"/>
              </a:ext>
            </a:extLst>
          </p:cNvPr>
          <p:cNvSpPr txBox="1"/>
          <p:nvPr/>
        </p:nvSpPr>
        <p:spPr>
          <a:xfrm>
            <a:off x="2698944" y="2421405"/>
            <a:ext cx="95859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Compute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34C7D-C05E-818B-B319-9BCD5BD5B851}"/>
              </a:ext>
            </a:extLst>
          </p:cNvPr>
          <p:cNvSpPr txBox="1"/>
          <p:nvPr/>
        </p:nvSpPr>
        <p:spPr>
          <a:xfrm>
            <a:off x="2698944" y="2918518"/>
            <a:ext cx="8367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Storage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B44F5-7F4D-D409-C03B-A4DBE5635B34}"/>
              </a:ext>
            </a:extLst>
          </p:cNvPr>
          <p:cNvSpPr txBox="1"/>
          <p:nvPr/>
        </p:nvSpPr>
        <p:spPr>
          <a:xfrm>
            <a:off x="2698944" y="3413170"/>
            <a:ext cx="10820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Databaser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79AF91-F731-6577-0DF2-D5D26A17C112}"/>
              </a:ext>
            </a:extLst>
          </p:cNvPr>
          <p:cNvSpPr txBox="1"/>
          <p:nvPr/>
        </p:nvSpPr>
        <p:spPr>
          <a:xfrm>
            <a:off x="2698944" y="3894142"/>
            <a:ext cx="92813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Netværk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4D255-0225-377C-42DD-7BD31397E319}"/>
              </a:ext>
            </a:extLst>
          </p:cNvPr>
          <p:cNvSpPr txBox="1"/>
          <p:nvPr/>
        </p:nvSpPr>
        <p:spPr>
          <a:xfrm>
            <a:off x="2698944" y="4403484"/>
            <a:ext cx="11477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Integration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1C219E-FDA4-2C13-297D-48DDA70536DD}"/>
              </a:ext>
            </a:extLst>
          </p:cNvPr>
          <p:cNvSpPr txBox="1"/>
          <p:nvPr/>
        </p:nvSpPr>
        <p:spPr>
          <a:xfrm>
            <a:off x="6711561" y="2419604"/>
            <a:ext cx="42447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 Service, Virtual Machines, </a:t>
            </a:r>
            <a:r>
              <a:rPr lang="da-DK" sz="1600" dirty="0" err="1"/>
              <a:t>Functions</a:t>
            </a:r>
            <a:endParaRPr lang="da-DK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CBB5B2-5371-50CF-A1B7-796E24E6D874}"/>
              </a:ext>
            </a:extLst>
          </p:cNvPr>
          <p:cNvSpPr txBox="1"/>
          <p:nvPr/>
        </p:nvSpPr>
        <p:spPr>
          <a:xfrm>
            <a:off x="6711561" y="2917703"/>
            <a:ext cx="13641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Blob</a:t>
            </a:r>
            <a:r>
              <a:rPr lang="da-DK" sz="1600" dirty="0"/>
              <a:t> Storage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F8F9F-12E3-BC0D-08F9-AE8591DC3D70}"/>
              </a:ext>
            </a:extLst>
          </p:cNvPr>
          <p:cNvSpPr txBox="1"/>
          <p:nvPr/>
        </p:nvSpPr>
        <p:spPr>
          <a:xfrm>
            <a:off x="6711561" y="3419343"/>
            <a:ext cx="245259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SQL, Cosmos 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209EE-20C9-11DD-F736-E77010B40A96}"/>
              </a:ext>
            </a:extLst>
          </p:cNvPr>
          <p:cNvSpPr txBox="1"/>
          <p:nvPr/>
        </p:nvSpPr>
        <p:spPr>
          <a:xfrm>
            <a:off x="6711561" y="3891306"/>
            <a:ext cx="39145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Virtual Network, Application Gateway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102D0E-60ED-0118-1D97-785AE6BA9AE3}"/>
              </a:ext>
            </a:extLst>
          </p:cNvPr>
          <p:cNvSpPr txBox="1"/>
          <p:nvPr/>
        </p:nvSpPr>
        <p:spPr>
          <a:xfrm>
            <a:off x="6711561" y="4398947"/>
            <a:ext cx="1226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Service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3AF12-CAC6-AC3F-A6DC-EA12052C9385}"/>
              </a:ext>
            </a:extLst>
          </p:cNvPr>
          <p:cNvSpPr txBox="1"/>
          <p:nvPr/>
        </p:nvSpPr>
        <p:spPr>
          <a:xfrm>
            <a:off x="2698944" y="4911125"/>
            <a:ext cx="89768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Identitet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0BCFF2-1716-0518-B887-48644206230A}"/>
              </a:ext>
            </a:extLst>
          </p:cNvPr>
          <p:cNvSpPr txBox="1"/>
          <p:nvPr/>
        </p:nvSpPr>
        <p:spPr>
          <a:xfrm>
            <a:off x="6711561" y="4906588"/>
            <a:ext cx="8479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Entra 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5A1E5-2949-D356-756F-8C7329B315B2}"/>
              </a:ext>
            </a:extLst>
          </p:cNvPr>
          <p:cNvSpPr txBox="1"/>
          <p:nvPr/>
        </p:nvSpPr>
        <p:spPr>
          <a:xfrm>
            <a:off x="2698944" y="5418766"/>
            <a:ext cx="13304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Overvågning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8D35C-D541-630F-9F54-7C1FA40593B5}"/>
              </a:ext>
            </a:extLst>
          </p:cNvPr>
          <p:cNvSpPr txBox="1"/>
          <p:nvPr/>
        </p:nvSpPr>
        <p:spPr>
          <a:xfrm>
            <a:off x="6711561" y="5414229"/>
            <a:ext cx="20326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Application </a:t>
            </a:r>
            <a:r>
              <a:rPr lang="da-DK" sz="1600" dirty="0" err="1"/>
              <a:t>Insights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351495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0FD38-ED6A-EC3D-93A8-98BBFB92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08BA8CC-7E77-D50D-02B6-28C1421E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Azure er legoklodser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9EC8C68-C0D4-F231-E032-E057134C48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B6A35A8-1A4D-BF98-041F-12F00F7F28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FB96911-DEEF-CB05-9ADB-2925664712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27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4699D2-AA21-7203-EC7B-D1C8932E8BB2}"/>
              </a:ext>
            </a:extLst>
          </p:cNvPr>
          <p:cNvSpPr/>
          <p:nvPr/>
        </p:nvSpPr>
        <p:spPr>
          <a:xfrm>
            <a:off x="7525274" y="113811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Compute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584AAD-BF9A-42F0-8F26-67C530F43D0E}"/>
              </a:ext>
            </a:extLst>
          </p:cNvPr>
          <p:cNvSpPr/>
          <p:nvPr/>
        </p:nvSpPr>
        <p:spPr>
          <a:xfrm>
            <a:off x="7525275" y="1802771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Storage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E88D34-E34E-A218-A704-622521958FA3}"/>
              </a:ext>
            </a:extLst>
          </p:cNvPr>
          <p:cNvSpPr/>
          <p:nvPr/>
        </p:nvSpPr>
        <p:spPr>
          <a:xfrm>
            <a:off x="7525275" y="2467423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Databaser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3A7C7B-6657-9EEC-2F00-ABAFF1BBBEB6}"/>
              </a:ext>
            </a:extLst>
          </p:cNvPr>
          <p:cNvSpPr/>
          <p:nvPr/>
        </p:nvSpPr>
        <p:spPr>
          <a:xfrm>
            <a:off x="7525275" y="313207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Netværk</a:t>
            </a:r>
            <a:endParaRPr lang="da-DK" sz="1600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176B69-3464-767A-BB34-E3466F03820E}"/>
              </a:ext>
            </a:extLst>
          </p:cNvPr>
          <p:cNvSpPr/>
          <p:nvPr/>
        </p:nvSpPr>
        <p:spPr>
          <a:xfrm>
            <a:off x="7525275" y="379672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Integration</a:t>
            </a:r>
            <a:endParaRPr lang="da-DK" sz="1600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40EF33-34D0-9C0B-8C07-06FAA591C89D}"/>
              </a:ext>
            </a:extLst>
          </p:cNvPr>
          <p:cNvSpPr/>
          <p:nvPr/>
        </p:nvSpPr>
        <p:spPr>
          <a:xfrm>
            <a:off x="7525275" y="446137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Identitet</a:t>
            </a:r>
            <a:endParaRPr lang="da-DK" sz="1600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761570-9C17-2636-8D3A-C841669610DF}"/>
              </a:ext>
            </a:extLst>
          </p:cNvPr>
          <p:cNvSpPr/>
          <p:nvPr/>
        </p:nvSpPr>
        <p:spPr>
          <a:xfrm>
            <a:off x="7525274" y="5126031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Overvågning</a:t>
            </a:r>
            <a:endParaRPr lang="da-DK" sz="1600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0C981E-0091-FEC4-BC6A-401D7B226E81}"/>
              </a:ext>
            </a:extLst>
          </p:cNvPr>
          <p:cNvSpPr/>
          <p:nvPr/>
        </p:nvSpPr>
        <p:spPr>
          <a:xfrm>
            <a:off x="2446448" y="2046128"/>
            <a:ext cx="2369333" cy="49959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Application Gateway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C9A3C3-E703-46D1-4982-22351BE99412}"/>
              </a:ext>
            </a:extLst>
          </p:cNvPr>
          <p:cNvSpPr/>
          <p:nvPr/>
        </p:nvSpPr>
        <p:spPr>
          <a:xfrm>
            <a:off x="2446447" y="2545723"/>
            <a:ext cx="2369333" cy="4995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Order API</a:t>
            </a:r>
            <a:endParaRPr lang="da-DK" sz="1600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86E142-377E-3F1A-F25F-0BC6CDCA39DE}"/>
              </a:ext>
            </a:extLst>
          </p:cNvPr>
          <p:cNvSpPr/>
          <p:nvPr/>
        </p:nvSpPr>
        <p:spPr>
          <a:xfrm>
            <a:off x="2446446" y="3045318"/>
            <a:ext cx="2369333" cy="4995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Raito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16A145-4BE8-8A7A-AD7C-ECFFFF83B899}"/>
              </a:ext>
            </a:extLst>
          </p:cNvPr>
          <p:cNvSpPr txBox="1"/>
          <p:nvPr/>
        </p:nvSpPr>
        <p:spPr>
          <a:xfrm>
            <a:off x="7975764" y="741808"/>
            <a:ext cx="146835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område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800B85-F280-1C08-FB13-ABCAEF3DE43C}"/>
              </a:ext>
            </a:extLst>
          </p:cNvPr>
          <p:cNvSpPr/>
          <p:nvPr/>
        </p:nvSpPr>
        <p:spPr>
          <a:xfrm>
            <a:off x="2446446" y="3546929"/>
            <a:ext cx="2369333" cy="499595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Entra ID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CB0EC4-ADBB-F88E-9607-13BD834B255F}"/>
              </a:ext>
            </a:extLst>
          </p:cNvPr>
          <p:cNvSpPr/>
          <p:nvPr/>
        </p:nvSpPr>
        <p:spPr>
          <a:xfrm>
            <a:off x="2446446" y="4046524"/>
            <a:ext cx="2369333" cy="499595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Application </a:t>
            </a:r>
            <a:r>
              <a:rPr lang="da-DK" sz="1600" noProof="0" dirty="0" err="1"/>
              <a:t>Insights</a:t>
            </a:r>
            <a:endParaRPr lang="da-DK" sz="1600" noProof="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D70089-2449-68F2-639A-A48617B83D52}"/>
              </a:ext>
            </a:extLst>
          </p:cNvPr>
          <p:cNvCxnSpPr>
            <a:cxnSpLocks/>
          </p:cNvCxnSpPr>
          <p:nvPr/>
        </p:nvCxnSpPr>
        <p:spPr>
          <a:xfrm flipH="1" flipV="1">
            <a:off x="4876795" y="2302366"/>
            <a:ext cx="2543442" cy="1079506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BE002E-E023-88A0-116F-9BCCAC8AC195}"/>
              </a:ext>
            </a:extLst>
          </p:cNvPr>
          <p:cNvCxnSpPr>
            <a:cxnSpLocks/>
          </p:cNvCxnSpPr>
          <p:nvPr/>
        </p:nvCxnSpPr>
        <p:spPr>
          <a:xfrm flipH="1">
            <a:off x="4876797" y="1387916"/>
            <a:ext cx="2499424" cy="1407604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76826C-943B-070E-FFE7-C6F504846957}"/>
              </a:ext>
            </a:extLst>
          </p:cNvPr>
          <p:cNvCxnSpPr>
            <a:cxnSpLocks/>
          </p:cNvCxnSpPr>
          <p:nvPr/>
        </p:nvCxnSpPr>
        <p:spPr>
          <a:xfrm flipH="1">
            <a:off x="4876797" y="2717220"/>
            <a:ext cx="2573951" cy="577895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59E46B6-E9DC-A0DE-F2CF-BF4D0984C836}"/>
              </a:ext>
            </a:extLst>
          </p:cNvPr>
          <p:cNvCxnSpPr>
            <a:cxnSpLocks/>
          </p:cNvCxnSpPr>
          <p:nvPr/>
        </p:nvCxnSpPr>
        <p:spPr>
          <a:xfrm flipH="1" flipV="1">
            <a:off x="4876795" y="3848847"/>
            <a:ext cx="2543442" cy="862329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6F1207A-A510-5D29-5EC4-5481E88592BF}"/>
              </a:ext>
            </a:extLst>
          </p:cNvPr>
          <p:cNvCxnSpPr>
            <a:cxnSpLocks/>
          </p:cNvCxnSpPr>
          <p:nvPr/>
        </p:nvCxnSpPr>
        <p:spPr>
          <a:xfrm flipH="1" flipV="1">
            <a:off x="4876795" y="4356078"/>
            <a:ext cx="2543442" cy="101975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256B24E-B95B-A261-DB50-FE15DE25573F}"/>
              </a:ext>
            </a:extLst>
          </p:cNvPr>
          <p:cNvSpPr txBox="1"/>
          <p:nvPr/>
        </p:nvSpPr>
        <p:spPr>
          <a:xfrm>
            <a:off x="3817331" y="6034040"/>
            <a:ext cx="42014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Man bygger løsninger af Azure-klodser </a:t>
            </a:r>
          </a:p>
        </p:txBody>
      </p:sp>
    </p:spTree>
    <p:extLst>
      <p:ext uri="{BB962C8B-B14F-4D97-AF65-F5344CB8AC3E}">
        <p14:creationId xmlns:p14="http://schemas.microsoft.com/office/powerpoint/2010/main" val="27916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2" grpId="0" animBg="1"/>
      <p:bldP spid="33" grpId="0" animBg="1"/>
      <p:bldP spid="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9711-29BE-1724-1276-DF894E90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352CDD2-F135-AB8C-A5E1-B816C137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Hvorfor Azure?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4C6CF05-F8AB-DFDD-A0B1-F9054B1252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F71D562-E7B3-AD8C-8013-F3C35CA513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B927674-C99C-F291-2355-0DF62263C3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28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22217-5A17-DAC1-E19B-8E0234F67AE9}"/>
              </a:ext>
            </a:extLst>
          </p:cNvPr>
          <p:cNvSpPr/>
          <p:nvPr/>
        </p:nvSpPr>
        <p:spPr>
          <a:xfrm>
            <a:off x="4995264" y="1651190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Cloud udbydere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84DCEF-86FE-217E-5E68-B11965733397}"/>
              </a:ext>
            </a:extLst>
          </p:cNvPr>
          <p:cNvSpPr/>
          <p:nvPr/>
        </p:nvSpPr>
        <p:spPr>
          <a:xfrm>
            <a:off x="2186183" y="3221321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Azure (Microsoft)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5F1D4-6614-C9FE-532F-9421A9271FBD}"/>
              </a:ext>
            </a:extLst>
          </p:cNvPr>
          <p:cNvSpPr/>
          <p:nvPr/>
        </p:nvSpPr>
        <p:spPr>
          <a:xfrm>
            <a:off x="4995264" y="3221321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Amazon Web Services (Amazon)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FB2EC-0996-3A6D-1927-25C06FCF96FD}"/>
              </a:ext>
            </a:extLst>
          </p:cNvPr>
          <p:cNvSpPr/>
          <p:nvPr/>
        </p:nvSpPr>
        <p:spPr>
          <a:xfrm>
            <a:off x="7804345" y="3221321"/>
            <a:ext cx="2369333" cy="8187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Google Cloud Platform (Google)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3DCC22-DFD5-9DF4-BCE7-9C7D190483CA}"/>
              </a:ext>
            </a:extLst>
          </p:cNvPr>
          <p:cNvCxnSpPr>
            <a:cxnSpLocks/>
            <a:stCxn id="8" idx="0"/>
            <a:endCxn id="2" idx="2"/>
          </p:cNvCxnSpPr>
          <p:nvPr/>
        </p:nvCxnSpPr>
        <p:spPr>
          <a:xfrm flipV="1">
            <a:off x="3370850" y="2150785"/>
            <a:ext cx="2809081" cy="1070536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CA2FDB-DAB6-6818-3B30-A239F6E1ADFF}"/>
              </a:ext>
            </a:extLst>
          </p:cNvPr>
          <p:cNvCxnSpPr>
            <a:cxnSpLocks/>
            <a:stCxn id="9" idx="0"/>
            <a:endCxn id="2" idx="2"/>
          </p:cNvCxnSpPr>
          <p:nvPr/>
        </p:nvCxnSpPr>
        <p:spPr>
          <a:xfrm flipV="1">
            <a:off x="6179931" y="2150785"/>
            <a:ext cx="0" cy="1070536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37D3A2-6BB6-BDE0-0CFC-373E58F50ACE}"/>
              </a:ext>
            </a:extLst>
          </p:cNvPr>
          <p:cNvCxnSpPr>
            <a:cxnSpLocks/>
            <a:stCxn id="10" idx="0"/>
            <a:endCxn id="2" idx="2"/>
          </p:cNvCxnSpPr>
          <p:nvPr/>
        </p:nvCxnSpPr>
        <p:spPr>
          <a:xfrm flipH="1" flipV="1">
            <a:off x="6179931" y="2150785"/>
            <a:ext cx="2809081" cy="1070536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4AC834-085A-8910-FE3B-E91418810576}"/>
              </a:ext>
            </a:extLst>
          </p:cNvPr>
          <p:cNvSpPr txBox="1"/>
          <p:nvPr/>
        </p:nvSpPr>
        <p:spPr>
          <a:xfrm>
            <a:off x="2368791" y="5298142"/>
            <a:ext cx="762227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latin typeface="Clever Sans OFFC" pitchFamily="34" charset="0"/>
              </a:rPr>
              <a:t>Cloud er et </a:t>
            </a:r>
            <a:r>
              <a:rPr lang="en-US" sz="1600" dirty="0" err="1">
                <a:latin typeface="Clever Sans OFFC" pitchFamily="34" charset="0"/>
              </a:rPr>
              <a:t>koncept</a:t>
            </a:r>
            <a:r>
              <a:rPr lang="en-US" sz="1600" dirty="0">
                <a:latin typeface="Clever Sans OFFC" pitchFamily="34" charset="0"/>
              </a:rPr>
              <a:t>. Azure er </a:t>
            </a:r>
            <a:r>
              <a:rPr lang="en-US" sz="1600" dirty="0" err="1">
                <a:latin typeface="Clever Sans OFFC" pitchFamily="34" charset="0"/>
              </a:rPr>
              <a:t>Microsofts</a:t>
            </a:r>
            <a:r>
              <a:rPr lang="en-US" sz="1600" dirty="0">
                <a:latin typeface="Clever Sans OFFC" pitchFamily="34" charset="0"/>
              </a:rPr>
              <a:t> </a:t>
            </a:r>
            <a:r>
              <a:rPr lang="en-US" sz="1600" dirty="0" err="1">
                <a:latin typeface="Clever Sans OFFC" pitchFamily="34" charset="0"/>
              </a:rPr>
              <a:t>implementering</a:t>
            </a:r>
            <a:r>
              <a:rPr lang="en-US" sz="1600" dirty="0">
                <a:latin typeface="Clever Sans OFFC" pitchFamily="34" charset="0"/>
              </a:rPr>
              <a:t> </a:t>
            </a:r>
            <a:r>
              <a:rPr lang="en-US" sz="1600" dirty="0" err="1">
                <a:latin typeface="Clever Sans OFFC" pitchFamily="34" charset="0"/>
              </a:rPr>
              <a:t>af</a:t>
            </a:r>
            <a:r>
              <a:rPr lang="en-US" sz="1600" dirty="0">
                <a:latin typeface="Clever Sans OFFC" pitchFamily="34" charset="0"/>
              </a:rPr>
              <a:t> det </a:t>
            </a:r>
            <a:r>
              <a:rPr lang="en-US" sz="1600" dirty="0" err="1">
                <a:latin typeface="Clever Sans OFFC" pitchFamily="34" charset="0"/>
              </a:rPr>
              <a:t>koncept</a:t>
            </a:r>
            <a:r>
              <a:rPr lang="en-US" sz="1600" dirty="0">
                <a:latin typeface="Clever Sans OFFC" pitchFamily="34" charset="0"/>
              </a:rPr>
              <a:t>.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160323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1EE4-4AEE-AFAB-F4B5-13987B53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B60125D-F625-C362-BF11-91F4725CA4E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9DCB677-9F8F-FE68-BA99-5DB731BE99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863588C-19AC-ED02-42D0-EFE76CC15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/>
              <a:t>Hvordan er Azure organiseret?</a:t>
            </a:r>
          </a:p>
          <a:p>
            <a:endParaRPr lang="da-DK" sz="2000" noProof="1"/>
          </a:p>
          <a:p>
            <a:r>
              <a:rPr lang="da-DK" sz="2000" noProof="1"/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59399F3-1F4D-1687-030B-47B478FF19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29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B03010EA-4343-60C7-EE9E-2B2E2C88AC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328FA7-0245-9240-CF5E-2ECAB4AF7865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1411B6-332C-B378-A0E7-D5FE74B24663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3443210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11A7-DA49-1C5A-E29F-B7F1C0BC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FC4F37FD-0829-86A5-41EA-F77445FADE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7E84A8E-FC87-48CE-072B-0F57C32421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81E69D5-0D83-2AC7-627B-96A45D5C8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30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0A3B0E9-8C8A-C741-4989-C394F5710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Hvordan er Azure organiseret?</a:t>
            </a:r>
          </a:p>
        </p:txBody>
      </p:sp>
    </p:spTree>
    <p:extLst>
      <p:ext uri="{BB962C8B-B14F-4D97-AF65-F5344CB8AC3E}">
        <p14:creationId xmlns:p14="http://schemas.microsoft.com/office/powerpoint/2010/main" val="1802732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7E99-6E30-B043-65DE-F78EB1C05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F11A3DA-2E7C-7A42-2967-78FB1DAE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Hierarkiet i Azure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8D28F03-B4B4-0598-0FDB-C56F15B323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3493FDC-891D-FEC5-3E4E-AC8D746221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89B8D30-6938-8DCF-E2AA-0E625687727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31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588AC-972E-3649-8985-46FB5FA6A1B5}"/>
              </a:ext>
            </a:extLst>
          </p:cNvPr>
          <p:cNvSpPr/>
          <p:nvPr/>
        </p:nvSpPr>
        <p:spPr>
          <a:xfrm>
            <a:off x="682792" y="999008"/>
            <a:ext cx="2369333" cy="3346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 err="1"/>
              <a:t>Tenant</a:t>
            </a:r>
            <a:endParaRPr lang="da-DK" sz="16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2554E2-E344-12E0-D7CC-6815FB40CDB0}"/>
              </a:ext>
            </a:extLst>
          </p:cNvPr>
          <p:cNvCxnSpPr>
            <a:cxnSpLocks/>
          </p:cNvCxnSpPr>
          <p:nvPr/>
        </p:nvCxnSpPr>
        <p:spPr>
          <a:xfrm flipV="1">
            <a:off x="669344" y="1333653"/>
            <a:ext cx="32792" cy="4764588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70EFED-044E-6ABA-0FA5-52A53CEE2732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02136" y="1785070"/>
            <a:ext cx="413678" cy="0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FB0AF7-359F-1695-66E8-C3A45DDA6C8A}"/>
              </a:ext>
            </a:extLst>
          </p:cNvPr>
          <p:cNvCxnSpPr>
            <a:cxnSpLocks/>
          </p:cNvCxnSpPr>
          <p:nvPr/>
        </p:nvCxnSpPr>
        <p:spPr>
          <a:xfrm>
            <a:off x="672356" y="6072439"/>
            <a:ext cx="511111" cy="0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85A12E-9CC0-B33C-35B4-96A515278F95}"/>
              </a:ext>
            </a:extLst>
          </p:cNvPr>
          <p:cNvCxnSpPr>
            <a:cxnSpLocks/>
          </p:cNvCxnSpPr>
          <p:nvPr/>
        </p:nvCxnSpPr>
        <p:spPr>
          <a:xfrm flipV="1">
            <a:off x="1141469" y="1810200"/>
            <a:ext cx="0" cy="2884091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7AFC43-D9D9-5472-F25A-5A2D0101BF0E}"/>
              </a:ext>
            </a:extLst>
          </p:cNvPr>
          <p:cNvCxnSpPr>
            <a:cxnSpLocks/>
          </p:cNvCxnSpPr>
          <p:nvPr/>
        </p:nvCxnSpPr>
        <p:spPr>
          <a:xfrm>
            <a:off x="1115814" y="4694291"/>
            <a:ext cx="744919" cy="0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755CD4C-4602-5679-C391-FFA9DAD2A781}"/>
              </a:ext>
            </a:extLst>
          </p:cNvPr>
          <p:cNvCxnSpPr>
            <a:cxnSpLocks/>
          </p:cNvCxnSpPr>
          <p:nvPr/>
        </p:nvCxnSpPr>
        <p:spPr>
          <a:xfrm>
            <a:off x="1141469" y="2409558"/>
            <a:ext cx="744919" cy="0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744DF0-8918-33F7-B319-6FBE1F214F1C}"/>
              </a:ext>
            </a:extLst>
          </p:cNvPr>
          <p:cNvCxnSpPr>
            <a:cxnSpLocks/>
          </p:cNvCxnSpPr>
          <p:nvPr/>
        </p:nvCxnSpPr>
        <p:spPr>
          <a:xfrm flipV="1">
            <a:off x="1886388" y="2470276"/>
            <a:ext cx="0" cy="1510052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096EA6-4038-AEBC-98D3-3F56E08B1293}"/>
              </a:ext>
            </a:extLst>
          </p:cNvPr>
          <p:cNvCxnSpPr>
            <a:cxnSpLocks/>
          </p:cNvCxnSpPr>
          <p:nvPr/>
        </p:nvCxnSpPr>
        <p:spPr>
          <a:xfrm flipH="1">
            <a:off x="1908958" y="2911434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5C13184-B636-7117-8C49-9AD772BFCC66}"/>
              </a:ext>
            </a:extLst>
          </p:cNvPr>
          <p:cNvSpPr/>
          <p:nvPr/>
        </p:nvSpPr>
        <p:spPr>
          <a:xfrm>
            <a:off x="2316325" y="2743582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Service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071EA49-2483-C6AA-A49F-4E69998AD88A}"/>
              </a:ext>
            </a:extLst>
          </p:cNvPr>
          <p:cNvCxnSpPr>
            <a:cxnSpLocks/>
          </p:cNvCxnSpPr>
          <p:nvPr/>
        </p:nvCxnSpPr>
        <p:spPr>
          <a:xfrm flipH="1">
            <a:off x="1908958" y="3429300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693EC8A-C87E-476D-C70E-F1A8D42AD978}"/>
              </a:ext>
            </a:extLst>
          </p:cNvPr>
          <p:cNvSpPr/>
          <p:nvPr/>
        </p:nvSpPr>
        <p:spPr>
          <a:xfrm>
            <a:off x="2316325" y="3261448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SQL Server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A87DBB3-4126-1505-29D1-FA0000A1D520}"/>
              </a:ext>
            </a:extLst>
          </p:cNvPr>
          <p:cNvCxnSpPr>
            <a:cxnSpLocks/>
          </p:cNvCxnSpPr>
          <p:nvPr/>
        </p:nvCxnSpPr>
        <p:spPr>
          <a:xfrm flipH="1">
            <a:off x="1899837" y="3954419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0890865-632B-7FA7-46A7-5BF4350510BE}"/>
              </a:ext>
            </a:extLst>
          </p:cNvPr>
          <p:cNvSpPr/>
          <p:nvPr/>
        </p:nvSpPr>
        <p:spPr>
          <a:xfrm>
            <a:off x="2307204" y="3779843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6DD355-0A6C-8966-B39D-13C34E2446CB}"/>
              </a:ext>
            </a:extLst>
          </p:cNvPr>
          <p:cNvSpPr/>
          <p:nvPr/>
        </p:nvSpPr>
        <p:spPr>
          <a:xfrm>
            <a:off x="1115814" y="1617747"/>
            <a:ext cx="2369333" cy="3346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Subscription A</a:t>
            </a:r>
            <a:endParaRPr lang="da-DK" sz="1600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E660D-E07B-1B18-9DEB-B6F87DA226F8}"/>
              </a:ext>
            </a:extLst>
          </p:cNvPr>
          <p:cNvSpPr/>
          <p:nvPr/>
        </p:nvSpPr>
        <p:spPr>
          <a:xfrm>
            <a:off x="1122539" y="5875808"/>
            <a:ext cx="2369333" cy="3346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Subscription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9B2A43-AF1E-4762-C8A2-13482493AEB0}"/>
              </a:ext>
            </a:extLst>
          </p:cNvPr>
          <p:cNvSpPr/>
          <p:nvPr/>
        </p:nvSpPr>
        <p:spPr>
          <a:xfrm>
            <a:off x="1860734" y="2236486"/>
            <a:ext cx="2369333" cy="3346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Resource Group A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4193AFF-A943-58C2-F345-C2EE5E97543C}"/>
              </a:ext>
            </a:extLst>
          </p:cNvPr>
          <p:cNvCxnSpPr>
            <a:cxnSpLocks/>
          </p:cNvCxnSpPr>
          <p:nvPr/>
        </p:nvCxnSpPr>
        <p:spPr>
          <a:xfrm flipH="1">
            <a:off x="1908958" y="5186994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154ECBA1-7F7E-0662-9E4A-EE5C9707B3D8}"/>
              </a:ext>
            </a:extLst>
          </p:cNvPr>
          <p:cNvSpPr/>
          <p:nvPr/>
        </p:nvSpPr>
        <p:spPr>
          <a:xfrm>
            <a:off x="2316325" y="5019142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Function App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F48C705-F533-6BFE-5A32-24540B03EF06}"/>
              </a:ext>
            </a:extLst>
          </p:cNvPr>
          <p:cNvCxnSpPr>
            <a:cxnSpLocks/>
          </p:cNvCxnSpPr>
          <p:nvPr/>
        </p:nvCxnSpPr>
        <p:spPr>
          <a:xfrm flipV="1">
            <a:off x="1891362" y="4743752"/>
            <a:ext cx="1" cy="466273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C436B-B014-432B-DEEF-782FE0337803}"/>
              </a:ext>
            </a:extLst>
          </p:cNvPr>
          <p:cNvSpPr/>
          <p:nvPr/>
        </p:nvSpPr>
        <p:spPr>
          <a:xfrm>
            <a:off x="1860733" y="4526969"/>
            <a:ext cx="2369333" cy="3346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Resource Group B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6BA382E-A4ED-15C0-63AD-EDB9FD360D82}"/>
              </a:ext>
            </a:extLst>
          </p:cNvPr>
          <p:cNvCxnSpPr>
            <a:cxnSpLocks/>
          </p:cNvCxnSpPr>
          <p:nvPr/>
        </p:nvCxnSpPr>
        <p:spPr>
          <a:xfrm flipH="1">
            <a:off x="3124845" y="1025902"/>
            <a:ext cx="3027184" cy="168234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AAECA2E-006D-103B-B19B-BC8FC577A2EC}"/>
              </a:ext>
            </a:extLst>
          </p:cNvPr>
          <p:cNvSpPr txBox="1"/>
          <p:nvPr/>
        </p:nvSpPr>
        <p:spPr>
          <a:xfrm>
            <a:off x="6299947" y="897286"/>
            <a:ext cx="124232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Virksomhed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1725B25-6B26-0DB9-F1DB-28AF21D8D68F}"/>
              </a:ext>
            </a:extLst>
          </p:cNvPr>
          <p:cNvCxnSpPr>
            <a:cxnSpLocks/>
          </p:cNvCxnSpPr>
          <p:nvPr/>
        </p:nvCxnSpPr>
        <p:spPr>
          <a:xfrm flipH="1">
            <a:off x="3552910" y="1751034"/>
            <a:ext cx="3365602" cy="44065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13B9F79-8FA6-D422-AC60-DFA4ADC775B8}"/>
              </a:ext>
            </a:extLst>
          </p:cNvPr>
          <p:cNvSpPr txBox="1"/>
          <p:nvPr/>
        </p:nvSpPr>
        <p:spPr>
          <a:xfrm>
            <a:off x="7039535" y="1617747"/>
            <a:ext cx="2584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Team, afdeling eller miljø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6122998-790F-622A-1960-CC4FD4FFBF70}"/>
              </a:ext>
            </a:extLst>
          </p:cNvPr>
          <p:cNvCxnSpPr>
            <a:cxnSpLocks/>
          </p:cNvCxnSpPr>
          <p:nvPr/>
        </p:nvCxnSpPr>
        <p:spPr>
          <a:xfrm flipH="1" flipV="1">
            <a:off x="4309782" y="2409558"/>
            <a:ext cx="2870947" cy="5045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A6EA2A42-9170-3AF0-9A9C-742737620596}"/>
              </a:ext>
            </a:extLst>
          </p:cNvPr>
          <p:cNvSpPr txBox="1"/>
          <p:nvPr/>
        </p:nvSpPr>
        <p:spPr>
          <a:xfrm>
            <a:off x="7308476" y="2298329"/>
            <a:ext cx="328455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Logisk container for ressourcer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D2D9D7D-F381-844E-99AB-2E59034D7DC7}"/>
              </a:ext>
            </a:extLst>
          </p:cNvPr>
          <p:cNvCxnSpPr>
            <a:cxnSpLocks/>
          </p:cNvCxnSpPr>
          <p:nvPr/>
        </p:nvCxnSpPr>
        <p:spPr>
          <a:xfrm flipH="1" flipV="1">
            <a:off x="4760259" y="2937805"/>
            <a:ext cx="2942665" cy="705686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89F1B9C-9C0E-7F57-9A6D-AE8FFDCFD693}"/>
              </a:ext>
            </a:extLst>
          </p:cNvPr>
          <p:cNvSpPr txBox="1"/>
          <p:nvPr/>
        </p:nvSpPr>
        <p:spPr>
          <a:xfrm>
            <a:off x="7866529" y="3520380"/>
            <a:ext cx="26706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Azure-service (legoklods)</a:t>
            </a:r>
          </a:p>
        </p:txBody>
      </p:sp>
    </p:spTree>
    <p:extLst>
      <p:ext uri="{BB962C8B-B14F-4D97-AF65-F5344CB8AC3E}">
        <p14:creationId xmlns:p14="http://schemas.microsoft.com/office/powerpoint/2010/main" val="39521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1" grpId="0" animBg="1"/>
      <p:bldP spid="43" grpId="0" animBg="1"/>
      <p:bldP spid="46" grpId="0" animBg="1"/>
      <p:bldP spid="12" grpId="0" animBg="1"/>
      <p:bldP spid="13" grpId="0" animBg="1"/>
      <p:bldP spid="15" grpId="0" animBg="1"/>
      <p:bldP spid="60" grpId="0" animBg="1"/>
      <p:bldP spid="16" grpId="0" animBg="1"/>
      <p:bldP spid="73" grpId="0"/>
      <p:bldP spid="76" grpId="0"/>
      <p:bldP spid="80" grpId="0"/>
      <p:bldP spid="8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3FAD-F947-910E-FD46-7AEEF5F1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A082CC-5E9B-161B-C3A7-330929FD8A55}"/>
              </a:ext>
            </a:extLst>
          </p:cNvPr>
          <p:cNvCxnSpPr>
            <a:cxnSpLocks/>
          </p:cNvCxnSpPr>
          <p:nvPr/>
        </p:nvCxnSpPr>
        <p:spPr>
          <a:xfrm flipV="1">
            <a:off x="1153675" y="4403795"/>
            <a:ext cx="0" cy="599358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7088732-013B-1AA0-1B9C-2D91F9ACA141}"/>
              </a:ext>
            </a:extLst>
          </p:cNvPr>
          <p:cNvCxnSpPr>
            <a:cxnSpLocks/>
          </p:cNvCxnSpPr>
          <p:nvPr/>
        </p:nvCxnSpPr>
        <p:spPr>
          <a:xfrm>
            <a:off x="1129262" y="5003153"/>
            <a:ext cx="782780" cy="0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AF849DA-AB76-9A17-7F63-540E640123C9}"/>
              </a:ext>
            </a:extLst>
          </p:cNvPr>
          <p:cNvCxnSpPr>
            <a:cxnSpLocks/>
          </p:cNvCxnSpPr>
          <p:nvPr/>
        </p:nvCxnSpPr>
        <p:spPr>
          <a:xfrm flipV="1">
            <a:off x="1912042" y="5063871"/>
            <a:ext cx="0" cy="1510052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8D34188-696A-A94C-FA13-33F02068EB1D}"/>
              </a:ext>
            </a:extLst>
          </p:cNvPr>
          <p:cNvCxnSpPr>
            <a:cxnSpLocks/>
          </p:cNvCxnSpPr>
          <p:nvPr/>
        </p:nvCxnSpPr>
        <p:spPr>
          <a:xfrm flipH="1">
            <a:off x="1934612" y="5505029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1208C6C-D61B-F1D5-D404-D69900EC837E}"/>
              </a:ext>
            </a:extLst>
          </p:cNvPr>
          <p:cNvSpPr/>
          <p:nvPr/>
        </p:nvSpPr>
        <p:spPr>
          <a:xfrm>
            <a:off x="2341979" y="5337177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Function App</a:t>
            </a:r>
            <a:endParaRPr lang="da-DK" sz="1600" noProof="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D8FF0E0-7662-67C3-CD7E-58DE991BA7BF}"/>
              </a:ext>
            </a:extLst>
          </p:cNvPr>
          <p:cNvCxnSpPr>
            <a:cxnSpLocks/>
          </p:cNvCxnSpPr>
          <p:nvPr/>
        </p:nvCxnSpPr>
        <p:spPr>
          <a:xfrm flipH="1">
            <a:off x="1934612" y="6022895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5EFBF799-CFC0-77A7-5B76-B73F7CC3705E}"/>
              </a:ext>
            </a:extLst>
          </p:cNvPr>
          <p:cNvSpPr/>
          <p:nvPr/>
        </p:nvSpPr>
        <p:spPr>
          <a:xfrm>
            <a:off x="2341979" y="5855043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Service plan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5F31C39-847F-ECF4-FCBE-045A1C00D155}"/>
              </a:ext>
            </a:extLst>
          </p:cNvPr>
          <p:cNvCxnSpPr>
            <a:cxnSpLocks/>
          </p:cNvCxnSpPr>
          <p:nvPr/>
        </p:nvCxnSpPr>
        <p:spPr>
          <a:xfrm flipH="1">
            <a:off x="1925491" y="6548014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E7204AE-3E87-BE1F-49FE-A031CCF41AA8}"/>
              </a:ext>
            </a:extLst>
          </p:cNvPr>
          <p:cNvSpPr/>
          <p:nvPr/>
        </p:nvSpPr>
        <p:spPr>
          <a:xfrm>
            <a:off x="2332858" y="6373438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Key vault</a:t>
            </a:r>
            <a:endParaRPr lang="da-DK" sz="1600" noProof="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72C67E-F47F-40CA-43E3-3ACC6F0BF515}"/>
              </a:ext>
            </a:extLst>
          </p:cNvPr>
          <p:cNvSpPr/>
          <p:nvPr/>
        </p:nvSpPr>
        <p:spPr>
          <a:xfrm>
            <a:off x="1886388" y="4830081"/>
            <a:ext cx="3800478" cy="3346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CRM-DEV-</a:t>
            </a:r>
            <a:r>
              <a:rPr lang="da-DK" sz="1600" noProof="0" dirty="0" err="1"/>
              <a:t>OrderProcessing</a:t>
            </a:r>
            <a:r>
              <a:rPr lang="da-DK" sz="1600" noProof="0" dirty="0"/>
              <a:t>-SE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C557C06-52D4-0601-FE0D-4F762FE8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12A961A-1AF4-514F-2FF6-9DAD5511A9A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F7147D5-3AC7-E527-1891-892CDAC780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58981E2-074A-437A-C151-9DC9F03842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32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FACECF-BBC0-A7CA-A7A7-52C5908EB97C}"/>
              </a:ext>
            </a:extLst>
          </p:cNvPr>
          <p:cNvSpPr/>
          <p:nvPr/>
        </p:nvSpPr>
        <p:spPr>
          <a:xfrm>
            <a:off x="682792" y="999008"/>
            <a:ext cx="2369333" cy="3346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Clever</a:t>
            </a:r>
            <a:endParaRPr lang="da-DK" sz="1600" noProof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11C4F1-059C-C214-5853-77391199CC00}"/>
              </a:ext>
            </a:extLst>
          </p:cNvPr>
          <p:cNvCxnSpPr>
            <a:cxnSpLocks/>
          </p:cNvCxnSpPr>
          <p:nvPr/>
        </p:nvCxnSpPr>
        <p:spPr>
          <a:xfrm flipV="1">
            <a:off x="702136" y="1300033"/>
            <a:ext cx="0" cy="3292135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799B73-1BCE-FD83-92ED-DC32494C676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02136" y="1785070"/>
            <a:ext cx="413678" cy="0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7A75AE-6498-3160-1FE5-F7D68A649302}"/>
              </a:ext>
            </a:extLst>
          </p:cNvPr>
          <p:cNvCxnSpPr>
            <a:cxnSpLocks/>
          </p:cNvCxnSpPr>
          <p:nvPr/>
        </p:nvCxnSpPr>
        <p:spPr>
          <a:xfrm>
            <a:off x="672356" y="4566363"/>
            <a:ext cx="511111" cy="0"/>
          </a:xfrm>
          <a:prstGeom prst="straightConnector1">
            <a:avLst/>
          </a:prstGeom>
          <a:ln w="5080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99A8BD-62D7-9D7A-C1BA-EFD0CEA6A46A}"/>
              </a:ext>
            </a:extLst>
          </p:cNvPr>
          <p:cNvCxnSpPr>
            <a:cxnSpLocks/>
          </p:cNvCxnSpPr>
          <p:nvPr/>
        </p:nvCxnSpPr>
        <p:spPr>
          <a:xfrm flipV="1">
            <a:off x="1141469" y="1810200"/>
            <a:ext cx="0" cy="599358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9D44E7-ECA2-5F0E-CA37-82E0898BAF2D}"/>
              </a:ext>
            </a:extLst>
          </p:cNvPr>
          <p:cNvCxnSpPr>
            <a:cxnSpLocks/>
          </p:cNvCxnSpPr>
          <p:nvPr/>
        </p:nvCxnSpPr>
        <p:spPr>
          <a:xfrm>
            <a:off x="1128021" y="2409558"/>
            <a:ext cx="744919" cy="0"/>
          </a:xfrm>
          <a:prstGeom prst="straightConnector1">
            <a:avLst/>
          </a:prstGeom>
          <a:ln w="50800">
            <a:solidFill>
              <a:srgbClr val="FBBA16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4EFED7-965B-9B9D-9C2A-12A2213121A3}"/>
              </a:ext>
            </a:extLst>
          </p:cNvPr>
          <p:cNvCxnSpPr>
            <a:cxnSpLocks/>
          </p:cNvCxnSpPr>
          <p:nvPr/>
        </p:nvCxnSpPr>
        <p:spPr>
          <a:xfrm flipV="1">
            <a:off x="1886388" y="2470276"/>
            <a:ext cx="0" cy="1510052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1C9B24-330E-D243-810A-95BBB79AD9B0}"/>
              </a:ext>
            </a:extLst>
          </p:cNvPr>
          <p:cNvCxnSpPr>
            <a:cxnSpLocks/>
          </p:cNvCxnSpPr>
          <p:nvPr/>
        </p:nvCxnSpPr>
        <p:spPr>
          <a:xfrm flipH="1">
            <a:off x="1908958" y="2911434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8184A54-1835-C345-B243-F413C531D06B}"/>
              </a:ext>
            </a:extLst>
          </p:cNvPr>
          <p:cNvSpPr/>
          <p:nvPr/>
        </p:nvSpPr>
        <p:spPr>
          <a:xfrm>
            <a:off x="2316325" y="2743582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Function App</a:t>
            </a:r>
            <a:endParaRPr lang="da-DK" sz="1600" noProof="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ED0112-E3EC-0089-8352-E4C0973B19C2}"/>
              </a:ext>
            </a:extLst>
          </p:cNvPr>
          <p:cNvCxnSpPr>
            <a:cxnSpLocks/>
          </p:cNvCxnSpPr>
          <p:nvPr/>
        </p:nvCxnSpPr>
        <p:spPr>
          <a:xfrm flipH="1">
            <a:off x="1908958" y="3429300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28FABD6-E92D-B8EB-C30C-B0888F31C8D6}"/>
              </a:ext>
            </a:extLst>
          </p:cNvPr>
          <p:cNvSpPr/>
          <p:nvPr/>
        </p:nvSpPr>
        <p:spPr>
          <a:xfrm>
            <a:off x="2316325" y="3261448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Service plan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217F90-2E08-EE3B-79D1-1FACE583834B}"/>
              </a:ext>
            </a:extLst>
          </p:cNvPr>
          <p:cNvCxnSpPr>
            <a:cxnSpLocks/>
          </p:cNvCxnSpPr>
          <p:nvPr/>
        </p:nvCxnSpPr>
        <p:spPr>
          <a:xfrm flipH="1">
            <a:off x="1899837" y="3954419"/>
            <a:ext cx="411694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EB8F5B0-76DB-4594-6C3B-B5AFB71AC808}"/>
              </a:ext>
            </a:extLst>
          </p:cNvPr>
          <p:cNvSpPr/>
          <p:nvPr/>
        </p:nvSpPr>
        <p:spPr>
          <a:xfrm>
            <a:off x="2307204" y="3779843"/>
            <a:ext cx="2369333" cy="334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Key vault</a:t>
            </a:r>
            <a:endParaRPr lang="da-DK" sz="1600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089F78-BF76-4A02-EBD7-D360A3558FB2}"/>
              </a:ext>
            </a:extLst>
          </p:cNvPr>
          <p:cNvSpPr/>
          <p:nvPr/>
        </p:nvSpPr>
        <p:spPr>
          <a:xfrm>
            <a:off x="1115814" y="1617747"/>
            <a:ext cx="2369333" cy="3346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crm-</a:t>
            </a:r>
            <a:r>
              <a:rPr lang="da-DK" sz="1600" dirty="0" err="1"/>
              <a:t>production</a:t>
            </a:r>
            <a:endParaRPr lang="da-DK" sz="16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6787CD-FCBC-A28B-DF0F-26D7AA963785}"/>
              </a:ext>
            </a:extLst>
          </p:cNvPr>
          <p:cNvSpPr/>
          <p:nvPr/>
        </p:nvSpPr>
        <p:spPr>
          <a:xfrm>
            <a:off x="1122539" y="4369732"/>
            <a:ext cx="2369333" cy="3346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c</a:t>
            </a:r>
            <a:r>
              <a:rPr lang="da-DK" sz="1600" noProof="0" dirty="0" err="1"/>
              <a:t>rm</a:t>
            </a:r>
            <a:r>
              <a:rPr lang="da-DK" sz="1600" noProof="0" dirty="0"/>
              <a:t>-non-</a:t>
            </a:r>
            <a:r>
              <a:rPr lang="da-DK" sz="1600" noProof="0" dirty="0" err="1"/>
              <a:t>production</a:t>
            </a:r>
            <a:endParaRPr lang="da-DK" sz="1600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C9E3DC-CD48-3BD3-7DC4-0773AF4A98E4}"/>
              </a:ext>
            </a:extLst>
          </p:cNvPr>
          <p:cNvSpPr/>
          <p:nvPr/>
        </p:nvSpPr>
        <p:spPr>
          <a:xfrm>
            <a:off x="1860734" y="2236486"/>
            <a:ext cx="3800478" cy="3346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CRM-PROD-</a:t>
            </a:r>
            <a:r>
              <a:rPr lang="da-DK" sz="1600" noProof="0" dirty="0" err="1"/>
              <a:t>OrderProcessing</a:t>
            </a:r>
            <a:r>
              <a:rPr lang="da-DK" sz="1600" noProof="0" dirty="0"/>
              <a:t>-SE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6CDC973-DB7E-01D1-8E0F-7EC54B175AB0}"/>
              </a:ext>
            </a:extLst>
          </p:cNvPr>
          <p:cNvCxnSpPr>
            <a:cxnSpLocks/>
          </p:cNvCxnSpPr>
          <p:nvPr/>
        </p:nvCxnSpPr>
        <p:spPr>
          <a:xfrm flipH="1">
            <a:off x="3526645" y="1142432"/>
            <a:ext cx="2995179" cy="64263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533A3B9-C2CD-2297-6F3E-13A590750730}"/>
              </a:ext>
            </a:extLst>
          </p:cNvPr>
          <p:cNvSpPr txBox="1"/>
          <p:nvPr/>
        </p:nvSpPr>
        <p:spPr>
          <a:xfrm>
            <a:off x="6642847" y="1019321"/>
            <a:ext cx="42014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CRM-teamet, alle systemer i produktion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4ACADA6-7940-2A0F-BA87-240954C3C3C5}"/>
              </a:ext>
            </a:extLst>
          </p:cNvPr>
          <p:cNvCxnSpPr>
            <a:cxnSpLocks/>
          </p:cNvCxnSpPr>
          <p:nvPr/>
        </p:nvCxnSpPr>
        <p:spPr>
          <a:xfrm flipH="1">
            <a:off x="3537053" y="3935443"/>
            <a:ext cx="2995179" cy="64263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911894E-D6E7-35B0-E42F-DFB57AD6C205}"/>
              </a:ext>
            </a:extLst>
          </p:cNvPr>
          <p:cNvSpPr txBox="1"/>
          <p:nvPr/>
        </p:nvSpPr>
        <p:spPr>
          <a:xfrm>
            <a:off x="6642847" y="3812332"/>
            <a:ext cx="443390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CRM-teamet, alle systemer i </a:t>
            </a:r>
            <a:r>
              <a:rPr lang="da-DK" sz="1600" dirty="0" err="1"/>
              <a:t>development</a:t>
            </a:r>
            <a:endParaRPr lang="da-DK" sz="1600" dirty="0"/>
          </a:p>
          <a:p>
            <a:pPr algn="l"/>
            <a:r>
              <a:rPr lang="da-DK" sz="1600" dirty="0"/>
              <a:t>og </a:t>
            </a:r>
            <a:r>
              <a:rPr lang="da-DK" sz="1600" dirty="0" err="1"/>
              <a:t>staging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311777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60" grpId="0" animBg="1"/>
      <p:bldP spid="61" grpId="0" animBg="1"/>
      <p:bldP spid="4" grpId="0" animBg="1"/>
      <p:bldP spid="23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66" grpId="0"/>
      <p:bldP spid="6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A4CA-4319-D318-E337-C76A833D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C7B778E2-9B16-C891-F730-4791BE8B53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F4944AF-C977-9075-C7AF-F2B5312FDF6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20B345D-F09E-F4FE-F9D9-095E1BA99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er Azure organiseret?</a:t>
            </a:r>
          </a:p>
          <a:p>
            <a:endParaRPr lang="da-DK" sz="2000" noProof="1"/>
          </a:p>
          <a:p>
            <a:r>
              <a:rPr lang="da-DK" sz="2000" noProof="1"/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8A61542-B80A-FA49-5EA7-331C096D26D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33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B5945063-B1FF-3835-57C4-580FF1B091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506C5B-B33F-A322-D9E9-88F611A4DF3C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18705FC-8935-2404-8B1A-A778BA11BB7E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767074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6960-74AF-FECA-73BD-9E8AD54C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01EDF7FF-FA86-B887-78B1-66555C2EDC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EE7FD9B-149A-735C-16D4-17A0A6262E1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C36464D-9707-E267-499A-3ECC06376AC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34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BCB03B-6FF2-8B22-16EC-A605C4494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 fontScale="90000"/>
          </a:bodyPr>
          <a:lstStyle/>
          <a:p>
            <a:r>
              <a:rPr lang="da-DK" noProof="1"/>
              <a:t>De vigtigste Azure-byggeklodser</a:t>
            </a:r>
          </a:p>
        </p:txBody>
      </p:sp>
    </p:spTree>
    <p:extLst>
      <p:ext uri="{BB962C8B-B14F-4D97-AF65-F5344CB8AC3E}">
        <p14:creationId xmlns:p14="http://schemas.microsoft.com/office/powerpoint/2010/main" val="1858648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7C7E-A2FB-85E3-339B-CA42AD1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3ECB12D-DC4D-03E2-ED2E-B0D93472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Azure består af legoklodser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79E8D5A-8197-C8BF-4572-FFA83DCC467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A55C8D5-4C60-744E-1928-3B782A1F7F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BDAB94-13CA-58A2-1B82-2B5F5AF170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35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45CCA7-056B-D9BC-973C-121666861868}"/>
              </a:ext>
            </a:extLst>
          </p:cNvPr>
          <p:cNvSpPr/>
          <p:nvPr/>
        </p:nvSpPr>
        <p:spPr>
          <a:xfrm>
            <a:off x="4772337" y="2064539"/>
            <a:ext cx="2369333" cy="49959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Compute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19240-60FB-E9F4-3CC6-749DC9AFB579}"/>
              </a:ext>
            </a:extLst>
          </p:cNvPr>
          <p:cNvSpPr/>
          <p:nvPr/>
        </p:nvSpPr>
        <p:spPr>
          <a:xfrm>
            <a:off x="4772336" y="2564134"/>
            <a:ext cx="2369333" cy="4995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Storage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215BE4-AD83-94C7-918B-02E329E04F93}"/>
              </a:ext>
            </a:extLst>
          </p:cNvPr>
          <p:cNvSpPr/>
          <p:nvPr/>
        </p:nvSpPr>
        <p:spPr>
          <a:xfrm>
            <a:off x="4772335" y="3063729"/>
            <a:ext cx="2369333" cy="4995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Networking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140526-5CBC-29DA-536E-F878D86C1EEC}"/>
              </a:ext>
            </a:extLst>
          </p:cNvPr>
          <p:cNvSpPr/>
          <p:nvPr/>
        </p:nvSpPr>
        <p:spPr>
          <a:xfrm>
            <a:off x="4772335" y="3565340"/>
            <a:ext cx="2369333" cy="499595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D9B10-4264-FA9E-C5AD-72CB8F3B5578}"/>
              </a:ext>
            </a:extLst>
          </p:cNvPr>
          <p:cNvSpPr/>
          <p:nvPr/>
        </p:nvSpPr>
        <p:spPr>
          <a:xfrm>
            <a:off x="4772335" y="4064935"/>
            <a:ext cx="2369333" cy="499595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Identity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E581-6941-46A1-5EE7-CED2FFE40095}"/>
              </a:ext>
            </a:extLst>
          </p:cNvPr>
          <p:cNvSpPr/>
          <p:nvPr/>
        </p:nvSpPr>
        <p:spPr>
          <a:xfrm>
            <a:off x="4772335" y="4564530"/>
            <a:ext cx="2369333" cy="49959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20664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3C85-2386-8EAF-C43C-ABE93D73D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59584BB-F914-AB8F-9D04-88BC5CD2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79" y="407163"/>
            <a:ext cx="7396305" cy="334645"/>
          </a:xfrm>
        </p:spPr>
        <p:txBody>
          <a:bodyPr/>
          <a:lstStyle/>
          <a:p>
            <a:r>
              <a:rPr lang="da-DK" noProof="1"/>
              <a:t>Compute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073B39C-F87D-AAFB-88F4-26DD1C4E90F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C4339AC-EB96-B332-8C37-04218576C8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D3BFD27-7D7C-549B-39F9-8F0174B68DC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36</a:t>
            </a:fld>
            <a:endParaRPr lang="da-DK" noProof="1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524BE78-10BE-F0D2-1997-E75B25176E90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Formål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33DABE-CE41-930C-EA98-B4B9A7055F42}"/>
              </a:ext>
            </a:extLst>
          </p:cNvPr>
          <p:cNvSpPr txBox="1"/>
          <p:nvPr/>
        </p:nvSpPr>
        <p:spPr>
          <a:xfrm>
            <a:off x="393679" y="1854657"/>
            <a:ext cx="107721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Køre kode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B87E21-D803-B61C-C1CC-C4325AB24971}"/>
              </a:ext>
            </a:extLst>
          </p:cNvPr>
          <p:cNvSpPr/>
          <p:nvPr/>
        </p:nvSpPr>
        <p:spPr>
          <a:xfrm>
            <a:off x="3491797" y="113330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0BDEC1-7F4A-A9B9-7794-E51201A24DF1}"/>
              </a:ext>
            </a:extLst>
          </p:cNvPr>
          <p:cNvSpPr txBox="1"/>
          <p:nvPr/>
        </p:nvSpPr>
        <p:spPr>
          <a:xfrm>
            <a:off x="3491797" y="1854657"/>
            <a:ext cx="12551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 Service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755EEB-684E-6527-B2AF-04B7593C3041}"/>
              </a:ext>
            </a:extLst>
          </p:cNvPr>
          <p:cNvSpPr txBox="1"/>
          <p:nvPr/>
        </p:nvSpPr>
        <p:spPr>
          <a:xfrm>
            <a:off x="3491797" y="2351770"/>
            <a:ext cx="15805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Function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3711EE-9FCC-A60F-3F1D-89EA68DCAA9E}"/>
              </a:ext>
            </a:extLst>
          </p:cNvPr>
          <p:cNvSpPr txBox="1"/>
          <p:nvPr/>
        </p:nvSpPr>
        <p:spPr>
          <a:xfrm>
            <a:off x="3491797" y="2846422"/>
            <a:ext cx="17360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Virtuel Machines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E11AD8-3BCF-13E8-1C63-DE7C74ACD54E}"/>
              </a:ext>
            </a:extLst>
          </p:cNvPr>
          <p:cNvSpPr txBox="1"/>
          <p:nvPr/>
        </p:nvSpPr>
        <p:spPr>
          <a:xfrm>
            <a:off x="3491797" y="3327394"/>
            <a:ext cx="33951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</a:t>
            </a:r>
            <a:r>
              <a:rPr lang="da-DK" sz="1600" dirty="0" err="1"/>
              <a:t>Kubernetes</a:t>
            </a:r>
            <a:r>
              <a:rPr lang="da-DK" sz="1600" dirty="0"/>
              <a:t> Service (AKS)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3EF71C2-89CC-B770-3A90-3C50B6C58B4D}"/>
              </a:ext>
            </a:extLst>
          </p:cNvPr>
          <p:cNvCxnSpPr>
            <a:cxnSpLocks/>
          </p:cNvCxnSpPr>
          <p:nvPr/>
        </p:nvCxnSpPr>
        <p:spPr>
          <a:xfrm flipH="1">
            <a:off x="4823613" y="1746850"/>
            <a:ext cx="2966371" cy="22901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01A33EC-90E8-22FA-8DC9-2E0F4253A881}"/>
              </a:ext>
            </a:extLst>
          </p:cNvPr>
          <p:cNvSpPr txBox="1"/>
          <p:nvPr/>
        </p:nvSpPr>
        <p:spPr>
          <a:xfrm>
            <a:off x="7866648" y="1608436"/>
            <a:ext cx="226023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Typisk brugt til </a:t>
            </a:r>
            <a:r>
              <a:rPr lang="da-DK" sz="1600" dirty="0" err="1"/>
              <a:t>API’er</a:t>
            </a:r>
            <a:endParaRPr lang="da-DK" sz="16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25F42E1-F8B4-C1F9-FFDD-AF433AB7B81E}"/>
              </a:ext>
            </a:extLst>
          </p:cNvPr>
          <p:cNvCxnSpPr>
            <a:cxnSpLocks/>
          </p:cNvCxnSpPr>
          <p:nvPr/>
        </p:nvCxnSpPr>
        <p:spPr>
          <a:xfrm flipH="1">
            <a:off x="5189377" y="2274142"/>
            <a:ext cx="2966371" cy="22901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A39B7E0-5E3F-EE55-F263-D3F6FF88DDD7}"/>
              </a:ext>
            </a:extLst>
          </p:cNvPr>
          <p:cNvSpPr txBox="1"/>
          <p:nvPr/>
        </p:nvSpPr>
        <p:spPr>
          <a:xfrm>
            <a:off x="8272767" y="2142426"/>
            <a:ext cx="263854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Typisk brugt til ”triggers”</a:t>
            </a:r>
          </a:p>
        </p:txBody>
      </p:sp>
    </p:spTree>
    <p:extLst>
      <p:ext uri="{BB962C8B-B14F-4D97-AF65-F5344CB8AC3E}">
        <p14:creationId xmlns:p14="http://schemas.microsoft.com/office/powerpoint/2010/main" val="126420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7" grpId="0"/>
      <p:bldP spid="68" grpId="0" animBg="1"/>
      <p:bldP spid="69" grpId="0"/>
      <p:bldP spid="70" grpId="0"/>
      <p:bldP spid="71" grpId="0"/>
      <p:bldP spid="72" grpId="0"/>
      <p:bldP spid="83" grpId="0"/>
      <p:bldP spid="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9996-671D-8C14-2628-FEAB5D70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F17428E-04F5-F603-CB29-2D2656D4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Storage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2A0777A-84D7-7494-69FB-AAEB3A362B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EC71429-DC78-E885-3AB7-02A9016BFE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533748E-7BDA-2EDC-9E39-376B5EE1BD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37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8883C-CBB2-B4D0-16FF-E8601FC432BE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Formål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1027F-A47E-8F99-844B-62804466F678}"/>
              </a:ext>
            </a:extLst>
          </p:cNvPr>
          <p:cNvSpPr txBox="1"/>
          <p:nvPr/>
        </p:nvSpPr>
        <p:spPr>
          <a:xfrm>
            <a:off x="393679" y="1854657"/>
            <a:ext cx="13513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Gemme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3563C-CD6D-DF84-C633-519C1FE571CA}"/>
              </a:ext>
            </a:extLst>
          </p:cNvPr>
          <p:cNvSpPr/>
          <p:nvPr/>
        </p:nvSpPr>
        <p:spPr>
          <a:xfrm>
            <a:off x="3491797" y="113330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9CB81-A979-8360-30F3-5D50C4AD139C}"/>
              </a:ext>
            </a:extLst>
          </p:cNvPr>
          <p:cNvSpPr txBox="1"/>
          <p:nvPr/>
        </p:nvSpPr>
        <p:spPr>
          <a:xfrm>
            <a:off x="3491797" y="1854657"/>
            <a:ext cx="13641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Blob</a:t>
            </a:r>
            <a:r>
              <a:rPr lang="da-DK" sz="1600" dirty="0"/>
              <a:t> Storage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EE3C3-FE97-8BEB-438D-1CBBC883FFA4}"/>
              </a:ext>
            </a:extLst>
          </p:cNvPr>
          <p:cNvSpPr txBox="1"/>
          <p:nvPr/>
        </p:nvSpPr>
        <p:spPr>
          <a:xfrm>
            <a:off x="3491797" y="2351770"/>
            <a:ext cx="479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D0D12-8149-D22B-6C3A-9639B66F9A9E}"/>
              </a:ext>
            </a:extLst>
          </p:cNvPr>
          <p:cNvSpPr txBox="1"/>
          <p:nvPr/>
        </p:nvSpPr>
        <p:spPr>
          <a:xfrm>
            <a:off x="3491797" y="2846422"/>
            <a:ext cx="158857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Managed Disks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0C4324-3F07-8069-8061-070966540C7E}"/>
              </a:ext>
            </a:extLst>
          </p:cNvPr>
          <p:cNvCxnSpPr>
            <a:cxnSpLocks/>
          </p:cNvCxnSpPr>
          <p:nvPr/>
        </p:nvCxnSpPr>
        <p:spPr>
          <a:xfrm flipH="1">
            <a:off x="4823613" y="1746850"/>
            <a:ext cx="2966371" cy="22901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D99C524-7AA6-C1C2-7E17-A00CB8F610B1}"/>
              </a:ext>
            </a:extLst>
          </p:cNvPr>
          <p:cNvSpPr txBox="1"/>
          <p:nvPr/>
        </p:nvSpPr>
        <p:spPr>
          <a:xfrm>
            <a:off x="7866648" y="1608436"/>
            <a:ext cx="400590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Typisk brugt til lagring af dokumenter,</a:t>
            </a:r>
            <a:br>
              <a:rPr lang="da-DK" sz="1600" dirty="0"/>
            </a:br>
            <a:r>
              <a:rPr lang="da-DK" sz="1600" dirty="0"/>
              <a:t>billeder, mv. </a:t>
            </a:r>
          </a:p>
        </p:txBody>
      </p:sp>
    </p:spTree>
    <p:extLst>
      <p:ext uri="{BB962C8B-B14F-4D97-AF65-F5344CB8AC3E}">
        <p14:creationId xmlns:p14="http://schemas.microsoft.com/office/powerpoint/2010/main" val="245347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0" grpId="0"/>
      <p:bldP spid="11" grpId="0"/>
      <p:bldP spid="12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B700-3D46-FE5C-4C8A-3EA9C84C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B415C45-CF6B-664D-794A-3F20899C8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Networking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E39D9C8-47AB-1285-B4CD-7CAD681BDCE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8ECB159-36AF-0B40-737E-BC79E5F1F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FAC6677-E84B-AEA9-62BD-53BF3E9CFE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38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5CA756-D946-904B-21D8-75D178D141FC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Formål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AF9C0-9D47-314E-6D6C-FE5153AC2C2C}"/>
              </a:ext>
            </a:extLst>
          </p:cNvPr>
          <p:cNvSpPr txBox="1"/>
          <p:nvPr/>
        </p:nvSpPr>
        <p:spPr>
          <a:xfrm>
            <a:off x="393679" y="1854657"/>
            <a:ext cx="275556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Forbinde systemer sikkert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4E28E-1E81-FCF3-4A4E-B335A05ABAE7}"/>
              </a:ext>
            </a:extLst>
          </p:cNvPr>
          <p:cNvSpPr/>
          <p:nvPr/>
        </p:nvSpPr>
        <p:spPr>
          <a:xfrm>
            <a:off x="3491797" y="113330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C20C0-7FB0-1ABE-FBEE-D3EBFDCF2553}"/>
              </a:ext>
            </a:extLst>
          </p:cNvPr>
          <p:cNvSpPr txBox="1"/>
          <p:nvPr/>
        </p:nvSpPr>
        <p:spPr>
          <a:xfrm>
            <a:off x="3491797" y="1854657"/>
            <a:ext cx="16462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Virtual Network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A6E59-1112-4692-C386-598D70A6A040}"/>
              </a:ext>
            </a:extLst>
          </p:cNvPr>
          <p:cNvSpPr txBox="1"/>
          <p:nvPr/>
        </p:nvSpPr>
        <p:spPr>
          <a:xfrm>
            <a:off x="3491797" y="2351770"/>
            <a:ext cx="2149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Application Gateway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52C0B-F97E-A895-0428-4CA466FCE6C1}"/>
              </a:ext>
            </a:extLst>
          </p:cNvPr>
          <p:cNvSpPr txBox="1"/>
          <p:nvPr/>
        </p:nvSpPr>
        <p:spPr>
          <a:xfrm>
            <a:off x="3491797" y="2846422"/>
            <a:ext cx="148919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Load Balancer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92B928-640E-3F3A-88C3-70C634FB0FAB}"/>
              </a:ext>
            </a:extLst>
          </p:cNvPr>
          <p:cNvCxnSpPr>
            <a:cxnSpLocks/>
          </p:cNvCxnSpPr>
          <p:nvPr/>
        </p:nvCxnSpPr>
        <p:spPr>
          <a:xfrm flipH="1">
            <a:off x="5768698" y="1773568"/>
            <a:ext cx="1939264" cy="701312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14DA580-739D-E21A-0667-3EEDD3F0B83B}"/>
              </a:ext>
            </a:extLst>
          </p:cNvPr>
          <p:cNvSpPr txBox="1"/>
          <p:nvPr/>
        </p:nvSpPr>
        <p:spPr>
          <a:xfrm>
            <a:off x="7866648" y="1608436"/>
            <a:ext cx="36949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Typisk brugt til at styre flere </a:t>
            </a:r>
            <a:r>
              <a:rPr lang="da-DK" sz="1600" dirty="0" err="1"/>
              <a:t>API’er</a:t>
            </a:r>
            <a:endParaRPr lang="da-DK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CB0772-681E-A613-B4E8-0DB0543E0344}"/>
              </a:ext>
            </a:extLst>
          </p:cNvPr>
          <p:cNvSpPr txBox="1"/>
          <p:nvPr/>
        </p:nvSpPr>
        <p:spPr>
          <a:xfrm>
            <a:off x="3491797" y="3341074"/>
            <a:ext cx="11509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Front </a:t>
            </a:r>
            <a:r>
              <a:rPr lang="da-DK" sz="1600" dirty="0" err="1"/>
              <a:t>Door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162460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0" grpId="0"/>
      <p:bldP spid="11" grpId="0"/>
      <p:bldP spid="12" grpId="0"/>
      <p:bldP spid="15" grpId="0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262E-AE31-2542-D55B-8EF6DCD8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0E23F97-8B1C-22C5-118E-8E8FFA9A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Integration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E1D5EC7-6EFC-2908-B974-B124B41232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05B7316-545D-B1B9-7FCA-E3BE2EBE3A6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8B471D2-9B88-22C6-3C18-98506DE0F4E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39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37A75-40FB-F6FB-74DE-CB2A3C3576AE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Formål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A9410-DAE1-CF16-65AC-A2ECE46B902E}"/>
              </a:ext>
            </a:extLst>
          </p:cNvPr>
          <p:cNvSpPr txBox="1"/>
          <p:nvPr/>
        </p:nvSpPr>
        <p:spPr>
          <a:xfrm>
            <a:off x="393679" y="1854657"/>
            <a:ext cx="1428276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Lad systemer</a:t>
            </a:r>
            <a:br>
              <a:rPr lang="da-DK" sz="1600" dirty="0"/>
            </a:br>
            <a:r>
              <a:rPr lang="da-DK" sz="1600" dirty="0"/>
              <a:t>kommunikere</a:t>
            </a:r>
          </a:p>
          <a:p>
            <a:pPr algn="l"/>
            <a:r>
              <a:rPr lang="da-DK" sz="1600" dirty="0"/>
              <a:t>asynkront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48626-7261-8B55-543D-96709665478E}"/>
              </a:ext>
            </a:extLst>
          </p:cNvPr>
          <p:cNvSpPr/>
          <p:nvPr/>
        </p:nvSpPr>
        <p:spPr>
          <a:xfrm>
            <a:off x="3491797" y="113330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857CF-B2D3-7E16-40F9-5D6C1A8B9B5C}"/>
              </a:ext>
            </a:extLst>
          </p:cNvPr>
          <p:cNvSpPr txBox="1"/>
          <p:nvPr/>
        </p:nvSpPr>
        <p:spPr>
          <a:xfrm>
            <a:off x="3491797" y="1854657"/>
            <a:ext cx="1226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Service Bus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51B73-BEFE-59EC-CF56-3D4E16FCC889}"/>
              </a:ext>
            </a:extLst>
          </p:cNvPr>
          <p:cNvSpPr txBox="1"/>
          <p:nvPr/>
        </p:nvSpPr>
        <p:spPr>
          <a:xfrm>
            <a:off x="3491797" y="2351770"/>
            <a:ext cx="11124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Event Grid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6E7439-D640-C7AD-9A95-5A9CEA493F4E}"/>
              </a:ext>
            </a:extLst>
          </p:cNvPr>
          <p:cNvSpPr txBox="1"/>
          <p:nvPr/>
        </p:nvSpPr>
        <p:spPr>
          <a:xfrm>
            <a:off x="3491797" y="2846422"/>
            <a:ext cx="10916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Event Hub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12682-61BB-EEE0-FCEA-126F49073041}"/>
              </a:ext>
            </a:extLst>
          </p:cNvPr>
          <p:cNvCxnSpPr>
            <a:cxnSpLocks/>
          </p:cNvCxnSpPr>
          <p:nvPr/>
        </p:nvCxnSpPr>
        <p:spPr>
          <a:xfrm flipH="1">
            <a:off x="4989310" y="1773568"/>
            <a:ext cx="2718652" cy="214792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F27688-2A92-5C4C-C2E1-AA0FDFF10E35}"/>
              </a:ext>
            </a:extLst>
          </p:cNvPr>
          <p:cNvSpPr txBox="1"/>
          <p:nvPr/>
        </p:nvSpPr>
        <p:spPr>
          <a:xfrm>
            <a:off x="7866648" y="1608436"/>
            <a:ext cx="3582712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Typisk brugt til at sende beskeder</a:t>
            </a:r>
            <a:br>
              <a:rPr lang="da-DK" sz="1600" dirty="0"/>
            </a:br>
            <a:r>
              <a:rPr lang="da-DK" sz="1600" dirty="0"/>
              <a:t>asynkront mellem </a:t>
            </a:r>
            <a:r>
              <a:rPr lang="da-DK" sz="1600" dirty="0" err="1"/>
              <a:t>API’er</a:t>
            </a:r>
            <a:br>
              <a:rPr lang="da-DK" sz="1600" dirty="0"/>
            </a:br>
            <a:r>
              <a:rPr lang="da-DK" sz="1600" dirty="0"/>
              <a:t>(via Azure Function App triggers)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818EA7-2579-7ADC-A582-EDBD9BA46348}"/>
              </a:ext>
            </a:extLst>
          </p:cNvPr>
          <p:cNvSpPr txBox="1"/>
          <p:nvPr/>
        </p:nvSpPr>
        <p:spPr>
          <a:xfrm>
            <a:off x="3491797" y="3341074"/>
            <a:ext cx="169437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Storage Queues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A12922-BC32-BC3E-ED69-03C9594F12FF}"/>
              </a:ext>
            </a:extLst>
          </p:cNvPr>
          <p:cNvSpPr/>
          <p:nvPr/>
        </p:nvSpPr>
        <p:spPr>
          <a:xfrm>
            <a:off x="176843" y="5059906"/>
            <a:ext cx="1584452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Dynamics</a:t>
            </a:r>
            <a:endParaRPr lang="da-DK" sz="1600" noProof="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D11DBB-E662-15BE-81EE-C36FA1660330}"/>
              </a:ext>
            </a:extLst>
          </p:cNvPr>
          <p:cNvCxnSpPr>
            <a:cxnSpLocks/>
          </p:cNvCxnSpPr>
          <p:nvPr/>
        </p:nvCxnSpPr>
        <p:spPr>
          <a:xfrm>
            <a:off x="1761295" y="5323250"/>
            <a:ext cx="1501864" cy="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FD5669-8478-277A-87D4-035D9E0EC02B}"/>
              </a:ext>
            </a:extLst>
          </p:cNvPr>
          <p:cNvCxnSpPr>
            <a:cxnSpLocks/>
          </p:cNvCxnSpPr>
          <p:nvPr/>
        </p:nvCxnSpPr>
        <p:spPr>
          <a:xfrm>
            <a:off x="4846772" y="5310976"/>
            <a:ext cx="1501864" cy="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FFD7FB8-07F1-58E6-8D54-CB0D81BDBA56}"/>
              </a:ext>
            </a:extLst>
          </p:cNvPr>
          <p:cNvSpPr/>
          <p:nvPr/>
        </p:nvSpPr>
        <p:spPr>
          <a:xfrm>
            <a:off x="3263159" y="5073452"/>
            <a:ext cx="1584452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Service Bus</a:t>
            </a:r>
            <a:endParaRPr lang="da-DK" sz="1600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3CA746-4F0B-F7BC-C356-9666E977DB93}"/>
              </a:ext>
            </a:extLst>
          </p:cNvPr>
          <p:cNvSpPr/>
          <p:nvPr/>
        </p:nvSpPr>
        <p:spPr>
          <a:xfrm>
            <a:off x="6334784" y="5073451"/>
            <a:ext cx="1584452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Function App</a:t>
            </a:r>
            <a:endParaRPr lang="da-DK" sz="1600" noProof="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975B33-CAA3-942A-3A4D-ECF92DF77BC4}"/>
              </a:ext>
            </a:extLst>
          </p:cNvPr>
          <p:cNvCxnSpPr>
            <a:cxnSpLocks/>
          </p:cNvCxnSpPr>
          <p:nvPr/>
        </p:nvCxnSpPr>
        <p:spPr>
          <a:xfrm>
            <a:off x="7919236" y="5323248"/>
            <a:ext cx="1501864" cy="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46FA0C4-FB15-C607-BEA4-E74D6D724351}"/>
              </a:ext>
            </a:extLst>
          </p:cNvPr>
          <p:cNvSpPr/>
          <p:nvPr/>
        </p:nvSpPr>
        <p:spPr>
          <a:xfrm>
            <a:off x="9421100" y="5073451"/>
            <a:ext cx="1584452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Eksternt system</a:t>
            </a:r>
            <a:endParaRPr lang="da-DK" sz="1600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DD283-50C8-19C5-A6EE-55A7ABD12C79}"/>
              </a:ext>
            </a:extLst>
          </p:cNvPr>
          <p:cNvSpPr txBox="1"/>
          <p:nvPr/>
        </p:nvSpPr>
        <p:spPr>
          <a:xfrm>
            <a:off x="1689714" y="4027118"/>
            <a:ext cx="164502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Sender besked ud på Service Bus </a:t>
            </a:r>
            <a:r>
              <a:rPr lang="da-DK" sz="1600" b="1" dirty="0"/>
              <a:t>(modtaget bestilling)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5D4FB4-A140-C920-BD22-DBC8831853B3}"/>
              </a:ext>
            </a:extLst>
          </p:cNvPr>
          <p:cNvSpPr txBox="1"/>
          <p:nvPr/>
        </p:nvSpPr>
        <p:spPr>
          <a:xfrm>
            <a:off x="4846772" y="3607014"/>
            <a:ext cx="164502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Function App lytter på Service Bus og registrer ny besked </a:t>
            </a:r>
            <a:r>
              <a:rPr lang="da-DK" sz="1600" b="1" dirty="0"/>
              <a:t>(berig bestilling)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E33AF2-739F-FC0C-D3A9-0A849CCBFA9F}"/>
              </a:ext>
            </a:extLst>
          </p:cNvPr>
          <p:cNvSpPr txBox="1"/>
          <p:nvPr/>
        </p:nvSpPr>
        <p:spPr>
          <a:xfrm>
            <a:off x="8003830" y="3587295"/>
            <a:ext cx="181523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Function App kører og kalder eksternt system </a:t>
            </a:r>
            <a:br>
              <a:rPr lang="da-DK" sz="1600" dirty="0"/>
            </a:br>
            <a:r>
              <a:rPr lang="da-DK" sz="1600" b="1" dirty="0"/>
              <a:t>(notificér partner)</a:t>
            </a:r>
          </a:p>
        </p:txBody>
      </p:sp>
    </p:spTree>
    <p:extLst>
      <p:ext uri="{BB962C8B-B14F-4D97-AF65-F5344CB8AC3E}">
        <p14:creationId xmlns:p14="http://schemas.microsoft.com/office/powerpoint/2010/main" val="105754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0" grpId="0"/>
      <p:bldP spid="11" grpId="0"/>
      <p:bldP spid="12" grpId="0"/>
      <p:bldP spid="15" grpId="0"/>
      <p:bldP spid="2" grpId="0"/>
      <p:bldP spid="17" grpId="0" animBg="1"/>
      <p:bldP spid="26" grpId="0" animBg="1"/>
      <p:bldP spid="27" grpId="0" animBg="1"/>
      <p:bldP spid="29" grpId="0" animBg="1"/>
      <p:bldP spid="30" grpId="0"/>
      <p:bldP spid="31" grpId="0"/>
      <p:bldP spid="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CB7EF-1B22-61CD-5CD5-66594E79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154C9B7-AF25-2544-6850-5DC6FEDC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Identity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F5F211C-E506-7507-9E3B-85C28C1FC4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B9C58E9-B06A-B76F-386A-AEA0841A48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C22C114-5B52-55CA-9427-17A35E3385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40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8AE0D-A315-F1CB-441A-AC92D25CDDD9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Formål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BDE1C-06CD-51CB-7BE4-0FBA9A553BDD}"/>
              </a:ext>
            </a:extLst>
          </p:cNvPr>
          <p:cNvSpPr txBox="1"/>
          <p:nvPr/>
        </p:nvSpPr>
        <p:spPr>
          <a:xfrm>
            <a:off x="393679" y="1854657"/>
            <a:ext cx="133209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Hvem er du?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C6A76-6070-AE70-9BF5-CC7703843D10}"/>
              </a:ext>
            </a:extLst>
          </p:cNvPr>
          <p:cNvSpPr/>
          <p:nvPr/>
        </p:nvSpPr>
        <p:spPr>
          <a:xfrm>
            <a:off x="3491797" y="113330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B279E-4680-A602-CB2F-07F8EAE72C6C}"/>
              </a:ext>
            </a:extLst>
          </p:cNvPr>
          <p:cNvSpPr txBox="1"/>
          <p:nvPr/>
        </p:nvSpPr>
        <p:spPr>
          <a:xfrm>
            <a:off x="3491797" y="1854657"/>
            <a:ext cx="19187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Microsoft Entra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ACE06-2A9B-615A-E50E-DD5CD72374FC}"/>
              </a:ext>
            </a:extLst>
          </p:cNvPr>
          <p:cNvSpPr txBox="1"/>
          <p:nvPr/>
        </p:nvSpPr>
        <p:spPr>
          <a:xfrm>
            <a:off x="3491797" y="2351770"/>
            <a:ext cx="18258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Managed Identity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DCBA4-CFDC-01A8-D4D8-7C7305BE3D50}"/>
              </a:ext>
            </a:extLst>
          </p:cNvPr>
          <p:cNvSpPr txBox="1"/>
          <p:nvPr/>
        </p:nvSpPr>
        <p:spPr>
          <a:xfrm>
            <a:off x="3491797" y="2846422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RBAC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EF1892-1CB5-D6E8-06D2-3B4A111B70C5}"/>
              </a:ext>
            </a:extLst>
          </p:cNvPr>
          <p:cNvCxnSpPr>
            <a:cxnSpLocks/>
          </p:cNvCxnSpPr>
          <p:nvPr/>
        </p:nvCxnSpPr>
        <p:spPr>
          <a:xfrm flipH="1">
            <a:off x="5410592" y="1773568"/>
            <a:ext cx="2297370" cy="699608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F9FB1FD-7AB2-7B3E-6759-1A6CD90D55DD}"/>
              </a:ext>
            </a:extLst>
          </p:cNvPr>
          <p:cNvSpPr txBox="1"/>
          <p:nvPr/>
        </p:nvSpPr>
        <p:spPr>
          <a:xfrm>
            <a:off x="7866648" y="1608436"/>
            <a:ext cx="423353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Typisk brugt til at styre adgange mellem</a:t>
            </a:r>
            <a:br>
              <a:rPr lang="da-DK" sz="1600" dirty="0"/>
            </a:br>
            <a:r>
              <a:rPr lang="da-DK" sz="1600" dirty="0"/>
              <a:t>Azure Services</a:t>
            </a:r>
          </a:p>
        </p:txBody>
      </p:sp>
    </p:spTree>
    <p:extLst>
      <p:ext uri="{BB962C8B-B14F-4D97-AF65-F5344CB8AC3E}">
        <p14:creationId xmlns:p14="http://schemas.microsoft.com/office/powerpoint/2010/main" val="339258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0" grpId="0"/>
      <p:bldP spid="11" grpId="0"/>
      <p:bldP spid="12" grpId="0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5924-7D0D-B958-E495-8752D7388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09AB873-F356-AA08-3425-08A81E99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Monitoring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59EBF68-8A60-73F4-0BF0-0B05E9976F0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04F8C06-8E81-8F02-F370-DB1BA5D67A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F9BC972-4591-9847-A040-F50865B569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41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694DB-B197-EBDD-DB86-540B43A92E1F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Formål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B8F2C-0712-FD9C-F0DC-15D6471E6730}"/>
              </a:ext>
            </a:extLst>
          </p:cNvPr>
          <p:cNvSpPr txBox="1"/>
          <p:nvPr/>
        </p:nvSpPr>
        <p:spPr>
          <a:xfrm>
            <a:off x="393679" y="1854657"/>
            <a:ext cx="195726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Hvordan ved vi om</a:t>
            </a:r>
            <a:br>
              <a:rPr lang="da-DK" sz="1600" dirty="0"/>
            </a:br>
            <a:r>
              <a:rPr lang="da-DK" sz="1600" dirty="0"/>
              <a:t>systemet virker?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89814-73D0-D3B3-EB9B-E2827AB53C46}"/>
              </a:ext>
            </a:extLst>
          </p:cNvPr>
          <p:cNvSpPr/>
          <p:nvPr/>
        </p:nvSpPr>
        <p:spPr>
          <a:xfrm>
            <a:off x="3491797" y="113330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C1BA2-606D-AA4D-06D4-4A460C01C3E3}"/>
              </a:ext>
            </a:extLst>
          </p:cNvPr>
          <p:cNvSpPr txBox="1"/>
          <p:nvPr/>
        </p:nvSpPr>
        <p:spPr>
          <a:xfrm>
            <a:off x="3491797" y="1854657"/>
            <a:ext cx="20326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Application </a:t>
            </a:r>
            <a:r>
              <a:rPr lang="da-DK" sz="1600" dirty="0" err="1"/>
              <a:t>Insights</a:t>
            </a:r>
            <a:endParaRPr lang="da-DK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23968-D4D9-5BC5-D097-3D57708F598F}"/>
              </a:ext>
            </a:extLst>
          </p:cNvPr>
          <p:cNvSpPr txBox="1"/>
          <p:nvPr/>
        </p:nvSpPr>
        <p:spPr>
          <a:xfrm>
            <a:off x="3491797" y="2351770"/>
            <a:ext cx="148919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Monitor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2B1F07-EE23-C755-EADF-C392C31C8278}"/>
              </a:ext>
            </a:extLst>
          </p:cNvPr>
          <p:cNvSpPr txBox="1"/>
          <p:nvPr/>
        </p:nvSpPr>
        <p:spPr>
          <a:xfrm>
            <a:off x="3491797" y="2846422"/>
            <a:ext cx="140423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Log Analytics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396AC6-4B24-DCA1-33F6-A572CCE7C892}"/>
              </a:ext>
            </a:extLst>
          </p:cNvPr>
          <p:cNvCxnSpPr>
            <a:cxnSpLocks/>
          </p:cNvCxnSpPr>
          <p:nvPr/>
        </p:nvCxnSpPr>
        <p:spPr>
          <a:xfrm flipH="1">
            <a:off x="5621412" y="1773568"/>
            <a:ext cx="2086550" cy="208655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827B92-D337-76D7-4689-1FFF64424D34}"/>
              </a:ext>
            </a:extLst>
          </p:cNvPr>
          <p:cNvSpPr txBox="1"/>
          <p:nvPr/>
        </p:nvSpPr>
        <p:spPr>
          <a:xfrm>
            <a:off x="7866648" y="1608436"/>
            <a:ext cx="352660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Viser alle API-kald om de er en </a:t>
            </a:r>
            <a:br>
              <a:rPr lang="da-DK" sz="1600" dirty="0"/>
            </a:br>
            <a:r>
              <a:rPr lang="da-DK" sz="1600" dirty="0"/>
              <a:t>succes eller ej, fejl-beskeder, mv.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4F5AFE-F7B3-9447-5CDA-ECB5EEB8F3E3}"/>
              </a:ext>
            </a:extLst>
          </p:cNvPr>
          <p:cNvCxnSpPr>
            <a:cxnSpLocks/>
          </p:cNvCxnSpPr>
          <p:nvPr/>
        </p:nvCxnSpPr>
        <p:spPr>
          <a:xfrm flipH="1" flipV="1">
            <a:off x="5215353" y="2474880"/>
            <a:ext cx="2155079" cy="12311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813C5D-560B-CFFC-0C24-2F5EC3FDA2DB}"/>
              </a:ext>
            </a:extLst>
          </p:cNvPr>
          <p:cNvSpPr txBox="1"/>
          <p:nvPr/>
        </p:nvSpPr>
        <p:spPr>
          <a:xfrm>
            <a:off x="7604798" y="2347100"/>
            <a:ext cx="284372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Custom </a:t>
            </a:r>
            <a:r>
              <a:rPr lang="da-DK" sz="1600" dirty="0" err="1"/>
              <a:t>dashboard</a:t>
            </a:r>
            <a:r>
              <a:rPr lang="da-DK" sz="1600" dirty="0"/>
              <a:t> i Azure</a:t>
            </a:r>
            <a:br>
              <a:rPr lang="da-DK" sz="1600" dirty="0"/>
            </a:br>
            <a:r>
              <a:rPr lang="da-DK" sz="1600" dirty="0"/>
              <a:t>(CRM Platformens skærm)</a:t>
            </a:r>
          </a:p>
        </p:txBody>
      </p:sp>
    </p:spTree>
    <p:extLst>
      <p:ext uri="{BB962C8B-B14F-4D97-AF65-F5344CB8AC3E}">
        <p14:creationId xmlns:p14="http://schemas.microsoft.com/office/powerpoint/2010/main" val="371837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0" grpId="0"/>
      <p:bldP spid="11" grpId="0"/>
      <p:bldP spid="12" grpId="0"/>
      <p:bldP spid="15" grpId="0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9D42-30A0-BAF7-16BC-6A40830C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1EBA550-A2AA-04B0-5C99-FE21A826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Samlet overblik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2D3F334-0408-6F35-91FE-1EA7787923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B0B7520-6324-DB25-B4AE-8D124605293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87DFA42-B673-55A4-D129-D815BB654C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42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636C7-5134-09BD-AA0A-72A22BB3C1AA}"/>
              </a:ext>
            </a:extLst>
          </p:cNvPr>
          <p:cNvSpPr/>
          <p:nvPr/>
        </p:nvSpPr>
        <p:spPr>
          <a:xfrm>
            <a:off x="39367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Byggeklods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B34A9-8744-909E-2796-6AAEA7F4F1BE}"/>
              </a:ext>
            </a:extLst>
          </p:cNvPr>
          <p:cNvSpPr/>
          <p:nvPr/>
        </p:nvSpPr>
        <p:spPr>
          <a:xfrm>
            <a:off x="4309674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Hvad gør den?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AB715-B4BE-149C-E587-725B72C135D1}"/>
              </a:ext>
            </a:extLst>
          </p:cNvPr>
          <p:cNvSpPr/>
          <p:nvPr/>
        </p:nvSpPr>
        <p:spPr>
          <a:xfrm>
            <a:off x="8225669" y="113330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CB6FD-EDBC-4259-4991-78195906CC1A}"/>
              </a:ext>
            </a:extLst>
          </p:cNvPr>
          <p:cNvSpPr txBox="1"/>
          <p:nvPr/>
        </p:nvSpPr>
        <p:spPr>
          <a:xfrm>
            <a:off x="393679" y="1901288"/>
            <a:ext cx="95859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Compute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5639F-3A16-0F0A-3EB4-10B07011C1BC}"/>
              </a:ext>
            </a:extLst>
          </p:cNvPr>
          <p:cNvSpPr txBox="1"/>
          <p:nvPr/>
        </p:nvSpPr>
        <p:spPr>
          <a:xfrm>
            <a:off x="393679" y="2398401"/>
            <a:ext cx="8367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Storage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814B21-A3F2-454A-B7F5-9F4209F65638}"/>
              </a:ext>
            </a:extLst>
          </p:cNvPr>
          <p:cNvSpPr txBox="1"/>
          <p:nvPr/>
        </p:nvSpPr>
        <p:spPr>
          <a:xfrm>
            <a:off x="393679" y="2893053"/>
            <a:ext cx="121187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Networking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F6E5A5-EC2B-800D-8D67-D576B28CEE2D}"/>
              </a:ext>
            </a:extLst>
          </p:cNvPr>
          <p:cNvSpPr txBox="1"/>
          <p:nvPr/>
        </p:nvSpPr>
        <p:spPr>
          <a:xfrm>
            <a:off x="393679" y="3374025"/>
            <a:ext cx="11477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Integration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3C3CFF-099D-6FDA-63E4-160E88B78D49}"/>
              </a:ext>
            </a:extLst>
          </p:cNvPr>
          <p:cNvSpPr txBox="1"/>
          <p:nvPr/>
        </p:nvSpPr>
        <p:spPr>
          <a:xfrm>
            <a:off x="393679" y="3854997"/>
            <a:ext cx="7950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Identity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4D4FFB-FA08-646E-E117-BC8D305E147E}"/>
              </a:ext>
            </a:extLst>
          </p:cNvPr>
          <p:cNvSpPr txBox="1"/>
          <p:nvPr/>
        </p:nvSpPr>
        <p:spPr>
          <a:xfrm>
            <a:off x="393679" y="4335969"/>
            <a:ext cx="113011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Monitoring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E3D98-DAB1-D3F3-1CBA-E365DCA7C908}"/>
              </a:ext>
            </a:extLst>
          </p:cNvPr>
          <p:cNvSpPr txBox="1"/>
          <p:nvPr/>
        </p:nvSpPr>
        <p:spPr>
          <a:xfrm>
            <a:off x="4309674" y="1901288"/>
            <a:ext cx="11653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Kører kode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B400C-8C81-AFCF-2443-D83901426921}"/>
              </a:ext>
            </a:extLst>
          </p:cNvPr>
          <p:cNvSpPr txBox="1"/>
          <p:nvPr/>
        </p:nvSpPr>
        <p:spPr>
          <a:xfrm>
            <a:off x="4309674" y="2398401"/>
            <a:ext cx="143949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Gemmer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16A56A-6B43-E5BD-620D-96A7720A5AB6}"/>
              </a:ext>
            </a:extLst>
          </p:cNvPr>
          <p:cNvSpPr txBox="1"/>
          <p:nvPr/>
        </p:nvSpPr>
        <p:spPr>
          <a:xfrm>
            <a:off x="4309674" y="2893053"/>
            <a:ext cx="20582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Forbinder systemer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1A1CFD-C11F-6862-E38D-708D3CBB40C0}"/>
              </a:ext>
            </a:extLst>
          </p:cNvPr>
          <p:cNvSpPr txBox="1"/>
          <p:nvPr/>
        </p:nvSpPr>
        <p:spPr>
          <a:xfrm>
            <a:off x="4309674" y="3374025"/>
            <a:ext cx="178253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Sender beskeder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21A00F-879A-248D-C315-44EA12A1820E}"/>
              </a:ext>
            </a:extLst>
          </p:cNvPr>
          <p:cNvSpPr txBox="1"/>
          <p:nvPr/>
        </p:nvSpPr>
        <p:spPr>
          <a:xfrm>
            <a:off x="4309674" y="3854997"/>
            <a:ext cx="20646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Identitet og adgang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6C489F-FB49-CAC7-22C6-2118F1C80B29}"/>
              </a:ext>
            </a:extLst>
          </p:cNvPr>
          <p:cNvSpPr txBox="1"/>
          <p:nvPr/>
        </p:nvSpPr>
        <p:spPr>
          <a:xfrm>
            <a:off x="4309674" y="4335969"/>
            <a:ext cx="168475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Logs og </a:t>
            </a:r>
            <a:r>
              <a:rPr lang="da-DK" sz="1600" dirty="0" err="1"/>
              <a:t>metrics</a:t>
            </a:r>
            <a:endParaRPr lang="da-DK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73AB57-D2EA-34B5-E7C4-FF73DE1E6781}"/>
              </a:ext>
            </a:extLst>
          </p:cNvPr>
          <p:cNvSpPr txBox="1"/>
          <p:nvPr/>
        </p:nvSpPr>
        <p:spPr>
          <a:xfrm>
            <a:off x="8225669" y="1901288"/>
            <a:ext cx="276518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 Service, Function App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9BFBFA-8C08-C761-97AF-05C0582AAED4}"/>
              </a:ext>
            </a:extLst>
          </p:cNvPr>
          <p:cNvSpPr txBox="1"/>
          <p:nvPr/>
        </p:nvSpPr>
        <p:spPr>
          <a:xfrm>
            <a:off x="8225669" y="2398401"/>
            <a:ext cx="13641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Blob</a:t>
            </a:r>
            <a:r>
              <a:rPr lang="da-DK" sz="1600" dirty="0"/>
              <a:t> Storage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55DD7E-40A1-0ECF-87B5-047ED7B03983}"/>
              </a:ext>
            </a:extLst>
          </p:cNvPr>
          <p:cNvSpPr txBox="1"/>
          <p:nvPr/>
        </p:nvSpPr>
        <p:spPr>
          <a:xfrm>
            <a:off x="8225669" y="2893053"/>
            <a:ext cx="21496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Application Gateway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4295EE-BD78-0D10-A3F1-C428F9256CF2}"/>
              </a:ext>
            </a:extLst>
          </p:cNvPr>
          <p:cNvSpPr txBox="1"/>
          <p:nvPr/>
        </p:nvSpPr>
        <p:spPr>
          <a:xfrm>
            <a:off x="8225669" y="3374025"/>
            <a:ext cx="1226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Service Bus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60879A-5018-084E-9B0E-FBFED4A78AE9}"/>
              </a:ext>
            </a:extLst>
          </p:cNvPr>
          <p:cNvSpPr txBox="1"/>
          <p:nvPr/>
        </p:nvSpPr>
        <p:spPr>
          <a:xfrm>
            <a:off x="8225669" y="3854997"/>
            <a:ext cx="8479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Entra ID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D1C033-1CC7-D226-5C4A-640C93998BA0}"/>
              </a:ext>
            </a:extLst>
          </p:cNvPr>
          <p:cNvSpPr txBox="1"/>
          <p:nvPr/>
        </p:nvSpPr>
        <p:spPr>
          <a:xfrm>
            <a:off x="8225669" y="4335969"/>
            <a:ext cx="20326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Application </a:t>
            </a:r>
            <a:r>
              <a:rPr lang="da-DK" sz="1600" dirty="0" err="1"/>
              <a:t>Insights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82224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E4CB9-E738-500A-0F51-FF95D8BC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F9EF71E5-FB22-5BB9-0D3B-F6A1F611F7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D052E146-0F62-2914-68C6-5275AB5BB0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EA945B9-5DAD-FEB3-4E7F-1C74CF1A05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er Azure organiseret?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/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85DC7BF-C13C-E072-7D81-29966AFD7B8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43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FC23E35A-3DDD-2F8A-A61A-3B0B5133CE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07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58AAFA-DBC5-DF96-EBA9-7BE308DE045B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21228B-1F21-9688-486E-5D0AAD8A94F0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42218205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94CE-C9D5-7817-0AC5-D6AF27CA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D71D49AA-820E-1F0E-0906-3D4B8A0C7A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806E12D-40E3-3D6D-5C9F-0AC0376113B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81F2B2F-E3F7-23FB-EE47-1B4295FA3A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44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206B6E5-E4D2-F4A9-ACA5-F94939076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 fontScale="90000"/>
          </a:bodyPr>
          <a:lstStyle/>
          <a:p>
            <a:r>
              <a:rPr lang="da-DK" noProof="1"/>
              <a:t>Hvordan bruger Dynamics 365 Azure</a:t>
            </a:r>
          </a:p>
        </p:txBody>
      </p:sp>
    </p:spTree>
    <p:extLst>
      <p:ext uri="{BB962C8B-B14F-4D97-AF65-F5344CB8AC3E}">
        <p14:creationId xmlns:p14="http://schemas.microsoft.com/office/powerpoint/2010/main" val="354404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62F3-0106-A633-851C-EF402D45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3D7EA73-149B-682D-B7C0-C58CB88A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Dynamics 365 står ikke alene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5AE0F94-B65A-5354-4EBD-B54D3631BC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1F5DE7A-5DCA-5590-C1A0-B585348C544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AF789D3-6A8D-9851-EFFD-C016337C41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45</a:t>
            </a:fld>
            <a:endParaRPr lang="da-DK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74DB4-64CD-6460-294D-316C58053133}"/>
              </a:ext>
            </a:extLst>
          </p:cNvPr>
          <p:cNvSpPr/>
          <p:nvPr/>
        </p:nvSpPr>
        <p:spPr>
          <a:xfrm>
            <a:off x="4827175" y="1526068"/>
            <a:ext cx="2369333" cy="49959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Dynamics 365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C866F4-C750-36CD-A70A-195F7E2BD77A}"/>
              </a:ext>
            </a:extLst>
          </p:cNvPr>
          <p:cNvSpPr/>
          <p:nvPr/>
        </p:nvSpPr>
        <p:spPr>
          <a:xfrm>
            <a:off x="2457842" y="2704354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Dataverse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5DACAE-1CB8-C36C-0B60-F15FBAD7850D}"/>
              </a:ext>
            </a:extLst>
          </p:cNvPr>
          <p:cNvSpPr/>
          <p:nvPr/>
        </p:nvSpPr>
        <p:spPr>
          <a:xfrm>
            <a:off x="7196508" y="270435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Plugins / Workflows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86C093-3930-1372-A16C-11EBF64DA69A}"/>
              </a:ext>
            </a:extLst>
          </p:cNvPr>
          <p:cNvSpPr/>
          <p:nvPr/>
        </p:nvSpPr>
        <p:spPr>
          <a:xfrm>
            <a:off x="7196508" y="4322563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 err="1"/>
              <a:t>API’er</a:t>
            </a:r>
            <a:endParaRPr lang="da-DK" sz="1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DDB101-312F-FB59-664C-6FA8EF0200B4}"/>
              </a:ext>
            </a:extLst>
          </p:cNvPr>
          <p:cNvSpPr/>
          <p:nvPr/>
        </p:nvSpPr>
        <p:spPr>
          <a:xfrm>
            <a:off x="2457842" y="4322563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7E122B-F25A-7A0A-751B-A951CE8828E5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3642509" y="1775866"/>
            <a:ext cx="1184666" cy="92848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36DBCF-28D2-D8EA-C5E7-89D4234C1D48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3642509" y="3203949"/>
            <a:ext cx="0" cy="111861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D6B963-F215-EBA4-B766-30E4F7F10A47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7196508" y="1775866"/>
            <a:ext cx="1184667" cy="92848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9A7FBF-ABEE-A5DB-4EFD-C9253A7DA3F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8381175" y="3203950"/>
            <a:ext cx="0" cy="111861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24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ECCEE-7FE1-6FBC-8962-9A156231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4AA4D75-714E-F97B-22F5-2D57789E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Hvad kører faktisk i Dynamics?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23D15B9-9F00-5B2F-C494-D89753299B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DEFE73C-7042-F2D1-B230-A6A34C88D2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1A0D40D-2A00-A94E-7D46-E037E157C5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46</a:t>
            </a:fld>
            <a:endParaRPr lang="da-DK" noProof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70DFC4-2025-0356-B939-E1EE4A135FB6}"/>
              </a:ext>
            </a:extLst>
          </p:cNvPr>
          <p:cNvSpPr/>
          <p:nvPr/>
        </p:nvSpPr>
        <p:spPr>
          <a:xfrm>
            <a:off x="4542233" y="1476971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Eksempler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9BC39-4678-ED56-F7A1-5225FB2DC729}"/>
              </a:ext>
            </a:extLst>
          </p:cNvPr>
          <p:cNvSpPr txBox="1"/>
          <p:nvPr/>
        </p:nvSpPr>
        <p:spPr>
          <a:xfrm>
            <a:off x="4542233" y="2201997"/>
            <a:ext cx="203421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Brugergrænseflade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07BD71-F983-6E0A-1B24-4FE644C18848}"/>
              </a:ext>
            </a:extLst>
          </p:cNvPr>
          <p:cNvSpPr txBox="1"/>
          <p:nvPr/>
        </p:nvSpPr>
        <p:spPr>
          <a:xfrm>
            <a:off x="4542233" y="2699110"/>
            <a:ext cx="107561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Dataverse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6A8577-7234-03F8-B5AF-C3A78CBCD295}"/>
              </a:ext>
            </a:extLst>
          </p:cNvPr>
          <p:cNvSpPr txBox="1"/>
          <p:nvPr/>
        </p:nvSpPr>
        <p:spPr>
          <a:xfrm>
            <a:off x="4542233" y="3193762"/>
            <a:ext cx="168635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Sikkerhedsroller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7759F3-2CEF-4012-8BC8-EECEFCA8E0C3}"/>
              </a:ext>
            </a:extLst>
          </p:cNvPr>
          <p:cNvSpPr txBox="1"/>
          <p:nvPr/>
        </p:nvSpPr>
        <p:spPr>
          <a:xfrm>
            <a:off x="4542233" y="3674734"/>
            <a:ext cx="14859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Business </a:t>
            </a:r>
            <a:r>
              <a:rPr lang="da-DK" sz="1600" dirty="0" err="1"/>
              <a:t>rules</a:t>
            </a:r>
            <a:endParaRPr lang="da-DK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37A126-8DE9-51F1-EF63-99B4BE136E35}"/>
              </a:ext>
            </a:extLst>
          </p:cNvPr>
          <p:cNvSpPr txBox="1"/>
          <p:nvPr/>
        </p:nvSpPr>
        <p:spPr>
          <a:xfrm>
            <a:off x="4542233" y="4155706"/>
            <a:ext cx="74699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Plugins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FD9A2E-0075-AD3D-5B9B-3AD567E66230}"/>
              </a:ext>
            </a:extLst>
          </p:cNvPr>
          <p:cNvSpPr txBox="1"/>
          <p:nvPr/>
        </p:nvSpPr>
        <p:spPr>
          <a:xfrm>
            <a:off x="4542233" y="4636678"/>
            <a:ext cx="312745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Workflows / Power </a:t>
            </a:r>
            <a:r>
              <a:rPr lang="da-DK" sz="1600" dirty="0" err="1"/>
              <a:t>Automate</a:t>
            </a:r>
            <a:endParaRPr lang="da-DK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C9B83B-15F2-A0B4-4E0B-98C08B4C6514}"/>
              </a:ext>
            </a:extLst>
          </p:cNvPr>
          <p:cNvSpPr txBox="1"/>
          <p:nvPr/>
        </p:nvSpPr>
        <p:spPr>
          <a:xfrm>
            <a:off x="4542233" y="5117650"/>
            <a:ext cx="304730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Standard CRM-funktionalitet</a:t>
            </a:r>
          </a:p>
        </p:txBody>
      </p:sp>
    </p:spTree>
    <p:extLst>
      <p:ext uri="{BB962C8B-B14F-4D97-AF65-F5344CB8AC3E}">
        <p14:creationId xmlns:p14="http://schemas.microsoft.com/office/powerpoint/2010/main" val="116802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  <p:bldP spid="20" grpId="0"/>
      <p:bldP spid="2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93639-97C9-036C-50F1-189AA0A0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16ADBAA-779F-E67A-4522-41695BB54521}"/>
              </a:ext>
            </a:extLst>
          </p:cNvPr>
          <p:cNvSpPr/>
          <p:nvPr/>
        </p:nvSpPr>
        <p:spPr>
          <a:xfrm>
            <a:off x="1923864" y="2188343"/>
            <a:ext cx="8386150" cy="2313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B772D2B-7435-754E-9A06-8784E46D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5618162" cy="334645"/>
          </a:xfrm>
        </p:spPr>
        <p:txBody>
          <a:bodyPr/>
          <a:lstStyle/>
          <a:p>
            <a:r>
              <a:rPr lang="da-DK" noProof="1"/>
              <a:t>Dynamics </a:t>
            </a:r>
            <a:r>
              <a:rPr lang="en-US" dirty="0"/>
              <a:t>→ Azure</a:t>
            </a:r>
            <a:r>
              <a:rPr lang="da-DK" noProof="1"/>
              <a:t> 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25B9713-ADFE-C35E-737E-84AC588518A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961C4D8-E55E-9741-0069-C8DA2C3510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F4EE801-68B6-731F-9038-15BDBABBE52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534608" y="6440368"/>
            <a:ext cx="360000" cy="136869"/>
          </a:xfrm>
        </p:spPr>
        <p:txBody>
          <a:bodyPr/>
          <a:lstStyle/>
          <a:p>
            <a:fld id="{23AA811B-2EBD-4900-905E-5BE206449611}" type="slidenum">
              <a:rPr lang="da-DK" noProof="1" smtClean="0"/>
              <a:pPr/>
              <a:t>47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437CBF-107F-FFA3-8756-0CF5AAF3CFED}"/>
              </a:ext>
            </a:extLst>
          </p:cNvPr>
          <p:cNvSpPr/>
          <p:nvPr/>
        </p:nvSpPr>
        <p:spPr>
          <a:xfrm>
            <a:off x="4827175" y="709338"/>
            <a:ext cx="2369333" cy="49959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Dynamics 365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FC648-7D77-B5CC-6DD0-9F43B0FD7C00}"/>
              </a:ext>
            </a:extLst>
          </p:cNvPr>
          <p:cNvSpPr/>
          <p:nvPr/>
        </p:nvSpPr>
        <p:spPr>
          <a:xfrm>
            <a:off x="4827175" y="2405670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494DEC-557D-1A44-30FB-7E8B14000809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6011842" y="1208933"/>
            <a:ext cx="0" cy="119673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2E7A193-E363-F7A6-B4FA-93C52066DA5A}"/>
              </a:ext>
            </a:extLst>
          </p:cNvPr>
          <p:cNvSpPr/>
          <p:nvPr/>
        </p:nvSpPr>
        <p:spPr>
          <a:xfrm>
            <a:off x="2018094" y="3674987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API Management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800B42-0640-06FF-EAE4-1EA437F3BD7A}"/>
              </a:ext>
            </a:extLst>
          </p:cNvPr>
          <p:cNvCxnSpPr>
            <a:cxnSpLocks/>
            <a:stCxn id="4" idx="1"/>
            <a:endCxn id="28" idx="0"/>
          </p:cNvCxnSpPr>
          <p:nvPr/>
        </p:nvCxnSpPr>
        <p:spPr>
          <a:xfrm flipH="1">
            <a:off x="3202761" y="2655468"/>
            <a:ext cx="1624414" cy="101951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073A28E-87A9-196C-DFA8-37331CEB7278}"/>
              </a:ext>
            </a:extLst>
          </p:cNvPr>
          <p:cNvSpPr/>
          <p:nvPr/>
        </p:nvSpPr>
        <p:spPr>
          <a:xfrm>
            <a:off x="4827174" y="367498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Service Bus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F10DE5-7461-735F-7A7E-5ED3A4AFD155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flipH="1">
            <a:off x="6011841" y="2905265"/>
            <a:ext cx="1" cy="76972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7FC9330-BFDA-D3E5-9C5B-30CFF84E4ED6}"/>
              </a:ext>
            </a:extLst>
          </p:cNvPr>
          <p:cNvSpPr/>
          <p:nvPr/>
        </p:nvSpPr>
        <p:spPr>
          <a:xfrm>
            <a:off x="7636254" y="367498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Function App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9EE924-9050-EEBD-6201-EDE3E315B6F2}"/>
              </a:ext>
            </a:extLst>
          </p:cNvPr>
          <p:cNvCxnSpPr>
            <a:cxnSpLocks/>
            <a:stCxn id="4" idx="3"/>
            <a:endCxn id="36" idx="0"/>
          </p:cNvCxnSpPr>
          <p:nvPr/>
        </p:nvCxnSpPr>
        <p:spPr>
          <a:xfrm>
            <a:off x="7196508" y="2655468"/>
            <a:ext cx="1624413" cy="101951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7F6FFE7-A333-95CB-7D96-C7DD1C308560}"/>
              </a:ext>
            </a:extLst>
          </p:cNvPr>
          <p:cNvSpPr/>
          <p:nvPr/>
        </p:nvSpPr>
        <p:spPr>
          <a:xfrm>
            <a:off x="4827174" y="5399269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Andre systemer</a:t>
            </a:r>
            <a:endParaRPr lang="da-DK" sz="1600" noProof="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52617DF-5059-9F85-2B9D-A489B0D607AD}"/>
              </a:ext>
            </a:extLst>
          </p:cNvPr>
          <p:cNvCxnSpPr>
            <a:cxnSpLocks/>
            <a:stCxn id="28" idx="2"/>
            <a:endCxn id="43" idx="0"/>
          </p:cNvCxnSpPr>
          <p:nvPr/>
        </p:nvCxnSpPr>
        <p:spPr>
          <a:xfrm>
            <a:off x="3202761" y="4174582"/>
            <a:ext cx="2809080" cy="122468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6468AE-9AE1-3515-8AAA-05B040705991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>
            <a:off x="6011841" y="4174581"/>
            <a:ext cx="0" cy="122468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F97FCA-C368-8498-DE24-A2EBC47FF0CD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 flipH="1">
            <a:off x="6011841" y="4174580"/>
            <a:ext cx="2809080" cy="122468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D5AD4FB-ABD9-C84D-37CA-AAD4D95951C3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6011842" y="1208933"/>
            <a:ext cx="0" cy="119673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EF9692C-13F9-17E6-9450-FD15B4515C13}"/>
              </a:ext>
            </a:extLst>
          </p:cNvPr>
          <p:cNvSpPr txBox="1"/>
          <p:nvPr/>
        </p:nvSpPr>
        <p:spPr>
          <a:xfrm>
            <a:off x="6302609" y="1493201"/>
            <a:ext cx="447558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Bestilling modtaget</a:t>
            </a:r>
            <a:br>
              <a:rPr lang="da-DK" sz="1600" dirty="0"/>
            </a:br>
            <a:r>
              <a:rPr lang="da-DK" sz="1600" b="1" dirty="0"/>
              <a:t>(Dynamics udsender event til Service Bus)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0C84437-F51E-9FC0-7A5A-4EDAD906F97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011840" y="2905265"/>
            <a:ext cx="1" cy="769721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369E0A2-7271-E416-2F2D-5C5414C244DC}"/>
              </a:ext>
            </a:extLst>
          </p:cNvPr>
          <p:cNvSpPr txBox="1"/>
          <p:nvPr/>
        </p:nvSpPr>
        <p:spPr>
          <a:xfrm>
            <a:off x="7290738" y="4872356"/>
            <a:ext cx="288540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Event ligger i Service Bus</a:t>
            </a:r>
            <a:br>
              <a:rPr lang="da-DK" sz="1600" dirty="0"/>
            </a:br>
            <a:r>
              <a:rPr lang="da-DK" sz="1600" dirty="0" err="1"/>
              <a:t>topic</a:t>
            </a:r>
            <a:r>
              <a:rPr lang="da-DK" sz="1600" dirty="0"/>
              <a:t> </a:t>
            </a:r>
            <a:r>
              <a:rPr lang="da-DK" sz="1600" b="1" dirty="0"/>
              <a:t>dynamics-bestillinger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AC2E5B-4E54-06C9-E814-13993F777FB8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011839" y="4174579"/>
            <a:ext cx="2" cy="122469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94A21875-1A2B-52A6-27ED-0D1EE613FCE1}"/>
              </a:ext>
            </a:extLst>
          </p:cNvPr>
          <p:cNvSpPr/>
          <p:nvPr/>
        </p:nvSpPr>
        <p:spPr>
          <a:xfrm>
            <a:off x="4827172" y="5416232"/>
            <a:ext cx="2369333" cy="499595"/>
          </a:xfrm>
          <a:prstGeom prst="rect">
            <a:avLst/>
          </a:prstGeom>
          <a:solidFill>
            <a:srgbClr val="FBBA1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Andre systemer</a:t>
            </a:r>
            <a:endParaRPr lang="da-DK" sz="1600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926ACF-BA90-7F26-878C-13FEF0D38F5A}"/>
              </a:ext>
            </a:extLst>
          </p:cNvPr>
          <p:cNvSpPr txBox="1"/>
          <p:nvPr/>
        </p:nvSpPr>
        <p:spPr>
          <a:xfrm>
            <a:off x="5847454" y="6030350"/>
            <a:ext cx="606576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”Andre systemer” kan her være en </a:t>
            </a:r>
            <a:r>
              <a:rPr lang="da-DK" sz="1600" b="1" dirty="0"/>
              <a:t>Function App, Service</a:t>
            </a:r>
            <a:br>
              <a:rPr lang="da-DK" sz="1600" b="1" dirty="0"/>
            </a:br>
            <a:r>
              <a:rPr lang="da-DK" sz="1600" b="1" dirty="0"/>
              <a:t>Bus Trigger</a:t>
            </a:r>
            <a:r>
              <a:rPr lang="da-DK" sz="1600" dirty="0"/>
              <a:t> der afventer events på </a:t>
            </a:r>
            <a:r>
              <a:rPr lang="da-DK" sz="1600" b="1" dirty="0"/>
              <a:t>dynamics-bestillinger</a:t>
            </a:r>
            <a:br>
              <a:rPr lang="da-DK" sz="1600" dirty="0"/>
            </a:br>
            <a:r>
              <a:rPr lang="da-DK" sz="1600" dirty="0" err="1"/>
              <a:t>topic</a:t>
            </a:r>
            <a:r>
              <a:rPr lang="da-DK" sz="1600" dirty="0"/>
              <a:t> og processerer dem når de kommer ind</a:t>
            </a:r>
            <a:endParaRPr lang="da-DK" sz="1600" b="1" dirty="0"/>
          </a:p>
        </p:txBody>
      </p:sp>
    </p:spTree>
    <p:extLst>
      <p:ext uri="{BB962C8B-B14F-4D97-AF65-F5344CB8AC3E}">
        <p14:creationId xmlns:p14="http://schemas.microsoft.com/office/powerpoint/2010/main" val="171007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" grpId="0" animBg="1"/>
      <p:bldP spid="4" grpId="0" animBg="1"/>
      <p:bldP spid="28" grpId="0" animBg="1"/>
      <p:bldP spid="32" grpId="0" animBg="1"/>
      <p:bldP spid="36" grpId="0" animBg="1"/>
      <p:bldP spid="43" grpId="0" animBg="1"/>
      <p:bldP spid="60" grpId="0"/>
      <p:bldP spid="63" grpId="0"/>
      <p:bldP spid="66" grpId="0" animBg="1"/>
      <p:bldP spid="66" grpId="1" animBg="1"/>
      <p:bldP spid="6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521C-D43B-B84F-972F-936727C5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A0D5F9C-1919-25D6-67DC-8575D46EF48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BF2CC32-B9FF-F2DF-7F34-11711A5F6A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8F5121F-2E8C-96AC-9643-A865F17102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er Azure organiseret?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/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D7BDC18-3AB0-BDBF-29F7-BD810990A3C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48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C3EBCC4D-D3EB-F6DB-9E5C-4C1517150C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07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/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FE5E56-7861-E6E1-F512-4DD2D1089788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16972D-2E74-AC6E-9531-1830A3C6D485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2497858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68770-B0D3-25D1-23BF-0B6727F0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1CB5240C-81D9-516A-AE15-0B32066098E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9E801C7-B399-2441-03FB-D719679DA3E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7E9AF46-236C-B34E-F224-25D39C40B8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49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0D7FCAE-678F-69FC-7C13-3AE5BC73E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 fontScale="90000"/>
          </a:bodyPr>
          <a:lstStyle/>
          <a:p>
            <a:r>
              <a:rPr lang="da-DK" noProof="1"/>
              <a:t>Hvordan vores C#/.NET-løsninger bruger Azure</a:t>
            </a:r>
          </a:p>
        </p:txBody>
      </p:sp>
    </p:spTree>
    <p:extLst>
      <p:ext uri="{BB962C8B-B14F-4D97-AF65-F5344CB8AC3E}">
        <p14:creationId xmlns:p14="http://schemas.microsoft.com/office/powerpoint/2010/main" val="3736090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C1F3-56B2-4DE5-7955-14B5A8B5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967708E-331D-938D-13CC-9E1D0EE5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Okay, men hvad er C# og .NET egentlig?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CBCF1B0-75C7-42F1-7D0A-AEABE1115EC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A7A667B-5805-9C19-FBA0-B6E6E2ADA6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0610B73-7A90-198F-42F3-1C56E649D0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50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CCC0B-EEEE-9690-E1C6-FE50FE2151E1}"/>
              </a:ext>
            </a:extLst>
          </p:cNvPr>
          <p:cNvSpPr/>
          <p:nvPr/>
        </p:nvSpPr>
        <p:spPr>
          <a:xfrm>
            <a:off x="393680" y="1060853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Hvad er C#?</a:t>
            </a:r>
            <a:endParaRPr lang="da-DK" sz="1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FF35E8-B2C3-F82D-FE08-3B595D897EDA}"/>
              </a:ext>
            </a:extLst>
          </p:cNvPr>
          <p:cNvSpPr/>
          <p:nvPr/>
        </p:nvSpPr>
        <p:spPr>
          <a:xfrm>
            <a:off x="6218735" y="1060852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Hvad er .NET?</a:t>
            </a:r>
            <a:endParaRPr lang="da-DK" sz="1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0BF2C8-11CE-DB91-6281-42BF1DC1F0EE}"/>
              </a:ext>
            </a:extLst>
          </p:cNvPr>
          <p:cNvSpPr txBox="1"/>
          <p:nvPr/>
        </p:nvSpPr>
        <p:spPr>
          <a:xfrm>
            <a:off x="393678" y="1831211"/>
            <a:ext cx="46062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C# er et programmeringssprog, ligesom Java, Python eller JavaScript.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BD96E9-DBEF-199B-A346-780E19C0FCF0}"/>
              </a:ext>
            </a:extLst>
          </p:cNvPr>
          <p:cNvSpPr txBox="1"/>
          <p:nvPr/>
        </p:nvSpPr>
        <p:spPr>
          <a:xfrm>
            <a:off x="393677" y="2594417"/>
            <a:ext cx="46062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600" dirty="0"/>
              <a:t>Det bruges især til </a:t>
            </a:r>
            <a:r>
              <a:rPr lang="da-DK" sz="1600" dirty="0" err="1"/>
              <a:t>backend</a:t>
            </a:r>
            <a:r>
              <a:rPr lang="da-DK" sz="1600" dirty="0"/>
              <a:t>- og forretningsapplikationer.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E48529-37B9-3E55-FFB8-74A5155D41A5}"/>
              </a:ext>
            </a:extLst>
          </p:cNvPr>
          <p:cNvSpPr txBox="1"/>
          <p:nvPr/>
        </p:nvSpPr>
        <p:spPr>
          <a:xfrm>
            <a:off x="393677" y="3357623"/>
            <a:ext cx="46062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600" dirty="0"/>
              <a:t>Et af de mest udbredte sprog til enterprise-software.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B151B61-8383-C483-DBB2-E2F1FD61C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32" y="1706987"/>
            <a:ext cx="5753520" cy="340575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7F3845B-AA51-1CF2-DEA1-32162220C07F}"/>
              </a:ext>
            </a:extLst>
          </p:cNvPr>
          <p:cNvSpPr/>
          <p:nvPr/>
        </p:nvSpPr>
        <p:spPr>
          <a:xfrm>
            <a:off x="304039" y="3252513"/>
            <a:ext cx="5662513" cy="314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C2EEB7-E5F2-E6CE-C13B-5A53D24B0E5E}"/>
              </a:ext>
            </a:extLst>
          </p:cNvPr>
          <p:cNvSpPr txBox="1"/>
          <p:nvPr/>
        </p:nvSpPr>
        <p:spPr>
          <a:xfrm>
            <a:off x="6218735" y="2840638"/>
            <a:ext cx="46062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Det er Microsofts platform til at bygge og køre applikationer på.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79BB55-B4B7-25A4-905A-30E383B2B11A}"/>
              </a:ext>
            </a:extLst>
          </p:cNvPr>
          <p:cNvSpPr txBox="1"/>
          <p:nvPr/>
        </p:nvSpPr>
        <p:spPr>
          <a:xfrm>
            <a:off x="6225450" y="1831211"/>
            <a:ext cx="460621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.NET er en softwareplatform, som bl.a. er skrevet i C# og andre programmeringssprog.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3AB775-888C-55ED-C2AE-8C9F2D08A8E3}"/>
              </a:ext>
            </a:extLst>
          </p:cNvPr>
          <p:cNvSpPr txBox="1"/>
          <p:nvPr/>
        </p:nvSpPr>
        <p:spPr>
          <a:xfrm>
            <a:off x="6225449" y="3603844"/>
            <a:ext cx="460621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C# er sproget vi skriver vores kode i. .NET er platformen, der hjælper os med at bygge og køre den kode.</a:t>
            </a:r>
          </a:p>
        </p:txBody>
      </p:sp>
    </p:spTree>
    <p:extLst>
      <p:ext uri="{BB962C8B-B14F-4D97-AF65-F5344CB8AC3E}">
        <p14:creationId xmlns:p14="http://schemas.microsoft.com/office/powerpoint/2010/main" val="422847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8" grpId="0"/>
      <p:bldP spid="23" grpId="0"/>
      <p:bldP spid="24" grpId="0"/>
      <p:bldP spid="27" grpId="1" animBg="1"/>
      <p:bldP spid="28" grpId="0"/>
      <p:bldP spid="29" grpId="0"/>
      <p:bldP spid="3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6DD1-F2D2-867E-9E96-28B1BAB8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D67BDAE-DB9B-7882-ADEF-40FAFC99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En mental model – lad os bygge et hus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BAFF502-A561-4EE5-553E-3AEFE6CFCCF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4CC3471-55AF-5FD3-D8A9-14602FCFDC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8683E40-0141-26FE-CA58-66B7D87956F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51</a:t>
            </a:fld>
            <a:endParaRPr lang="da-DK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C41C0-690C-977A-ACA2-50DF65CB2ABB}"/>
              </a:ext>
            </a:extLst>
          </p:cNvPr>
          <p:cNvSpPr/>
          <p:nvPr/>
        </p:nvSpPr>
        <p:spPr>
          <a:xfrm>
            <a:off x="393680" y="1060853"/>
            <a:ext cx="246827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Programmeringssprog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CCDA43-05E7-714C-50E8-96E276ED88E1}"/>
              </a:ext>
            </a:extLst>
          </p:cNvPr>
          <p:cNvSpPr/>
          <p:nvPr/>
        </p:nvSpPr>
        <p:spPr>
          <a:xfrm>
            <a:off x="944636" y="3208475"/>
            <a:ext cx="683180" cy="499595"/>
          </a:xfrm>
          <a:prstGeom prst="rect">
            <a:avLst/>
          </a:prstGeom>
          <a:solidFill>
            <a:srgbClr val="9B99E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C#</a:t>
            </a:r>
            <a:endParaRPr lang="da-DK" sz="16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145F4-B1A1-7E00-9A66-1589C33CED43}"/>
              </a:ext>
            </a:extLst>
          </p:cNvPr>
          <p:cNvSpPr/>
          <p:nvPr/>
        </p:nvSpPr>
        <p:spPr>
          <a:xfrm>
            <a:off x="944636" y="4019955"/>
            <a:ext cx="683180" cy="499595"/>
          </a:xfrm>
          <a:prstGeom prst="rect">
            <a:avLst/>
          </a:prstGeom>
          <a:solidFill>
            <a:srgbClr val="9B99E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8BE3A7-895A-B90F-7B5E-89B691630CEF}"/>
              </a:ext>
            </a:extLst>
          </p:cNvPr>
          <p:cNvSpPr/>
          <p:nvPr/>
        </p:nvSpPr>
        <p:spPr>
          <a:xfrm>
            <a:off x="944636" y="4831435"/>
            <a:ext cx="683180" cy="499595"/>
          </a:xfrm>
          <a:prstGeom prst="rect">
            <a:avLst/>
          </a:prstGeom>
          <a:solidFill>
            <a:srgbClr val="9B99E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VB</a:t>
            </a:r>
            <a:endParaRPr lang="da-DK" sz="16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3CED3-C975-BE61-2035-8A52FCF310E8}"/>
              </a:ext>
            </a:extLst>
          </p:cNvPr>
          <p:cNvSpPr txBox="1"/>
          <p:nvPr/>
        </p:nvSpPr>
        <p:spPr>
          <a:xfrm>
            <a:off x="393679" y="1901288"/>
            <a:ext cx="2856551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Sproget du bruger til at</a:t>
            </a:r>
            <a:br>
              <a:rPr lang="da-DK" sz="1600" dirty="0"/>
            </a:br>
            <a:r>
              <a:rPr lang="da-DK" sz="1600" dirty="0"/>
              <a:t>beskrive hvad huset skal</a:t>
            </a:r>
            <a:br>
              <a:rPr lang="da-DK" sz="1600" dirty="0"/>
            </a:br>
            <a:r>
              <a:rPr lang="da-DK" sz="1600" dirty="0"/>
              <a:t>gøre og hvordan det ser ud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284E67-7EE2-4C98-398E-17EB34FEA1CC}"/>
              </a:ext>
            </a:extLst>
          </p:cNvPr>
          <p:cNvSpPr/>
          <p:nvPr/>
        </p:nvSpPr>
        <p:spPr>
          <a:xfrm>
            <a:off x="4364180" y="3229229"/>
            <a:ext cx="2990601" cy="212255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743B03-312D-E66C-7230-4AE601495CA5}"/>
              </a:ext>
            </a:extLst>
          </p:cNvPr>
          <p:cNvSpPr txBox="1"/>
          <p:nvPr/>
        </p:nvSpPr>
        <p:spPr>
          <a:xfrm>
            <a:off x="4429496" y="3248877"/>
            <a:ext cx="49532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.NET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EC4139-0423-C36B-F0DC-CEFF3B4435DE}"/>
              </a:ext>
            </a:extLst>
          </p:cNvPr>
          <p:cNvSpPr/>
          <p:nvPr/>
        </p:nvSpPr>
        <p:spPr>
          <a:xfrm>
            <a:off x="4364111" y="1060851"/>
            <a:ext cx="246827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Platformen</a:t>
            </a:r>
            <a:endParaRPr lang="da-DK" sz="16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EC604-80B2-F006-F57A-A8265CD85FF2}"/>
              </a:ext>
            </a:extLst>
          </p:cNvPr>
          <p:cNvSpPr/>
          <p:nvPr/>
        </p:nvSpPr>
        <p:spPr>
          <a:xfrm>
            <a:off x="4429496" y="3546399"/>
            <a:ext cx="1246909" cy="36889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 err="1"/>
              <a:t>Runt</a:t>
            </a:r>
            <a:r>
              <a:rPr lang="da-DK" sz="1600" dirty="0"/>
              <a:t>ime</a:t>
            </a:r>
            <a:endParaRPr lang="da-DK" sz="16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2BB3AD-F465-60F5-309A-391EC2AB4518}"/>
              </a:ext>
            </a:extLst>
          </p:cNvPr>
          <p:cNvSpPr/>
          <p:nvPr/>
        </p:nvSpPr>
        <p:spPr>
          <a:xfrm>
            <a:off x="4429496" y="4027113"/>
            <a:ext cx="1246909" cy="481538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Standard</a:t>
            </a:r>
            <a:br>
              <a:rPr lang="da-DK" sz="1600" dirty="0"/>
            </a:br>
            <a:r>
              <a:rPr lang="da-DK" sz="1600" dirty="0"/>
              <a:t>biblioteker</a:t>
            </a:r>
            <a:endParaRPr lang="da-DK" sz="16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EB9BC1-617C-1EF5-4F2C-84AE1CFDF831}"/>
              </a:ext>
            </a:extLst>
          </p:cNvPr>
          <p:cNvSpPr/>
          <p:nvPr/>
        </p:nvSpPr>
        <p:spPr>
          <a:xfrm>
            <a:off x="4429495" y="4620474"/>
            <a:ext cx="1246909" cy="36889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Database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9CBF5-5952-AFC6-F91D-2856F6E8EC69}"/>
              </a:ext>
            </a:extLst>
          </p:cNvPr>
          <p:cNvSpPr/>
          <p:nvPr/>
        </p:nvSpPr>
        <p:spPr>
          <a:xfrm>
            <a:off x="5892138" y="3546399"/>
            <a:ext cx="1246909" cy="36889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API</a:t>
            </a:r>
            <a:endParaRPr lang="da-DK" sz="16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E00BCD-D97C-9E12-6072-EF41ABB972C3}"/>
              </a:ext>
            </a:extLst>
          </p:cNvPr>
          <p:cNvSpPr txBox="1"/>
          <p:nvPr/>
        </p:nvSpPr>
        <p:spPr>
          <a:xfrm>
            <a:off x="4364111" y="1901286"/>
            <a:ext cx="201818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Værktøjskassen og</a:t>
            </a:r>
            <a:br>
              <a:rPr lang="da-DK" sz="1600" dirty="0"/>
            </a:br>
            <a:r>
              <a:rPr lang="da-DK" sz="1600" dirty="0"/>
              <a:t>byggematerialerne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832F89-6BE3-3645-4220-08A0B58F1FB4}"/>
              </a:ext>
            </a:extLst>
          </p:cNvPr>
          <p:cNvSpPr/>
          <p:nvPr/>
        </p:nvSpPr>
        <p:spPr>
          <a:xfrm>
            <a:off x="8763345" y="3868941"/>
            <a:ext cx="1680358" cy="82237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Applikation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A36BA0-56DE-08B7-FEB4-E19C21B0932A}"/>
              </a:ext>
            </a:extLst>
          </p:cNvPr>
          <p:cNvSpPr/>
          <p:nvPr/>
        </p:nvSpPr>
        <p:spPr>
          <a:xfrm>
            <a:off x="8334542" y="1058860"/>
            <a:ext cx="246827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Produktet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CC151A-0981-3D93-F9FF-9D372F2CC74F}"/>
              </a:ext>
            </a:extLst>
          </p:cNvPr>
          <p:cNvCxnSpPr>
            <a:cxnSpLocks/>
            <a:stCxn id="9" idx="3"/>
            <a:endCxn id="37" idx="1"/>
          </p:cNvCxnSpPr>
          <p:nvPr/>
        </p:nvCxnSpPr>
        <p:spPr>
          <a:xfrm>
            <a:off x="1627816" y="3458273"/>
            <a:ext cx="999774" cy="83223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B848ADA-4E70-A6BF-5301-DF821610D215}"/>
              </a:ext>
            </a:extLst>
          </p:cNvPr>
          <p:cNvSpPr txBox="1"/>
          <p:nvPr/>
        </p:nvSpPr>
        <p:spPr>
          <a:xfrm>
            <a:off x="8334542" y="1901286"/>
            <a:ext cx="8576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Huset </a:t>
            </a:r>
            <a:r>
              <a:rPr lang="da-DK" sz="1600" dirty="0">
                <a:sym typeface="Wingdings" pitchFamily="2" charset="2"/>
              </a:rPr>
              <a:t></a:t>
            </a:r>
            <a:endParaRPr lang="da-DK" sz="1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742361-BB1A-84A4-4CE0-57E4EB705C91}"/>
              </a:ext>
            </a:extLst>
          </p:cNvPr>
          <p:cNvSpPr/>
          <p:nvPr/>
        </p:nvSpPr>
        <p:spPr>
          <a:xfrm>
            <a:off x="2627590" y="4040710"/>
            <a:ext cx="683180" cy="499595"/>
          </a:xfrm>
          <a:prstGeom prst="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CIL</a:t>
            </a:r>
            <a:endParaRPr lang="da-DK" sz="1600" noProof="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5E66FDA-200E-93F5-817B-8D17CE55FD4F}"/>
              </a:ext>
            </a:extLst>
          </p:cNvPr>
          <p:cNvCxnSpPr>
            <a:cxnSpLocks/>
            <a:stCxn id="10" idx="3"/>
            <a:endCxn id="37" idx="1"/>
          </p:cNvCxnSpPr>
          <p:nvPr/>
        </p:nvCxnSpPr>
        <p:spPr>
          <a:xfrm>
            <a:off x="1627816" y="4269753"/>
            <a:ext cx="999774" cy="2075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79093A2-0E0F-4B9E-E847-E254A14DABCA}"/>
              </a:ext>
            </a:extLst>
          </p:cNvPr>
          <p:cNvCxnSpPr>
            <a:cxnSpLocks/>
            <a:stCxn id="11" idx="3"/>
            <a:endCxn id="37" idx="1"/>
          </p:cNvCxnSpPr>
          <p:nvPr/>
        </p:nvCxnSpPr>
        <p:spPr>
          <a:xfrm flipV="1">
            <a:off x="1627816" y="4290508"/>
            <a:ext cx="999774" cy="79072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1867B5-CB22-87DA-69C9-4C48AC35C946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 flipV="1">
            <a:off x="3310770" y="4290507"/>
            <a:ext cx="1053410" cy="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8CE7843-E60B-D6E9-2CBD-02C3C74D1C88}"/>
              </a:ext>
            </a:extLst>
          </p:cNvPr>
          <p:cNvCxnSpPr>
            <a:cxnSpLocks/>
            <a:stCxn id="14" idx="3"/>
            <a:endCxn id="31" idx="1"/>
          </p:cNvCxnSpPr>
          <p:nvPr/>
        </p:nvCxnSpPr>
        <p:spPr>
          <a:xfrm flipV="1">
            <a:off x="7354781" y="4280130"/>
            <a:ext cx="1408564" cy="103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06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4" grpId="0" animBg="1"/>
      <p:bldP spid="15" grpId="0"/>
      <p:bldP spid="16" grpId="0" animBg="1"/>
      <p:bldP spid="17" grpId="0" animBg="1"/>
      <p:bldP spid="19" grpId="0" animBg="1"/>
      <p:bldP spid="20" grpId="0" animBg="1"/>
      <p:bldP spid="21" grpId="0" animBg="1"/>
      <p:bldP spid="25" grpId="0"/>
      <p:bldP spid="31" grpId="0" animBg="1"/>
      <p:bldP spid="32" grpId="0" animBg="1"/>
      <p:bldP spid="34" grpId="0"/>
      <p:bldP spid="3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3BBE-CB65-BF9C-70D2-380BBC84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43046D0-B086-25DF-CE41-7DBFEEE3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En mental model – lad os bygge et API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2873639-2778-A710-510C-72C9D8AE59E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090BD9-6447-E39D-854A-3452E2B492D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7C1E8B5-27BF-61B7-67DE-FB64B0DAC5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52</a:t>
            </a:fld>
            <a:endParaRPr lang="da-DK" noProof="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61E6B9-4A48-6C73-21BF-384B601E1BB9}"/>
              </a:ext>
            </a:extLst>
          </p:cNvPr>
          <p:cNvSpPr/>
          <p:nvPr/>
        </p:nvSpPr>
        <p:spPr>
          <a:xfrm>
            <a:off x="3196317" y="1888301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Applikation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A03541-BF77-49C7-4017-7877EB5B1EAC}"/>
              </a:ext>
            </a:extLst>
          </p:cNvPr>
          <p:cNvCxnSpPr>
            <a:cxnSpLocks/>
          </p:cNvCxnSpPr>
          <p:nvPr/>
        </p:nvCxnSpPr>
        <p:spPr>
          <a:xfrm flipH="1">
            <a:off x="5299236" y="2059186"/>
            <a:ext cx="3180611" cy="81852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BA86A1B-BD63-E146-9E48-4A8529C6DFB7}"/>
              </a:ext>
            </a:extLst>
          </p:cNvPr>
          <p:cNvSpPr txBox="1"/>
          <p:nvPr/>
        </p:nvSpPr>
        <p:spPr>
          <a:xfrm>
            <a:off x="8685886" y="1389641"/>
            <a:ext cx="2893421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Applikation skrevet i C# </a:t>
            </a:r>
            <a:br>
              <a:rPr lang="da-DK" sz="1600" dirty="0"/>
            </a:br>
            <a:r>
              <a:rPr lang="da-DK" sz="1600" dirty="0"/>
              <a:t>og .NET.</a:t>
            </a:r>
            <a:br>
              <a:rPr lang="da-DK" sz="1600" dirty="0"/>
            </a:br>
            <a:r>
              <a:rPr lang="da-DK" sz="1600" dirty="0"/>
              <a:t>Der er brugt biblioteker fra </a:t>
            </a:r>
            <a:br>
              <a:rPr lang="da-DK" sz="1600" dirty="0"/>
            </a:br>
            <a:r>
              <a:rPr lang="da-DK" sz="1600" dirty="0"/>
              <a:t>.NET til at lave et </a:t>
            </a:r>
            <a:r>
              <a:rPr lang="da-DK" sz="1600" b="1" dirty="0"/>
              <a:t>API</a:t>
            </a:r>
            <a:br>
              <a:rPr lang="da-DK" sz="1600" b="1" dirty="0"/>
            </a:br>
            <a:r>
              <a:rPr lang="da-DK" sz="1600" b="1" dirty="0"/>
              <a:t>(Application Programming</a:t>
            </a:r>
            <a:br>
              <a:rPr lang="da-DK" sz="1600" b="1" dirty="0"/>
            </a:br>
            <a:r>
              <a:rPr lang="da-DK" sz="1600" b="1" dirty="0"/>
              <a:t>Interface)</a:t>
            </a:r>
            <a:endParaRPr lang="da-DK" sz="1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D99F911-F30B-5B50-6336-B8762BE67B0D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 flipH="1">
            <a:off x="1826972" y="2462369"/>
            <a:ext cx="2209524" cy="105243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615B6C7-6EFC-9F51-C69F-6BF58FB7C7F1}"/>
              </a:ext>
            </a:extLst>
          </p:cNvPr>
          <p:cNvSpPr/>
          <p:nvPr/>
        </p:nvSpPr>
        <p:spPr>
          <a:xfrm>
            <a:off x="880188" y="3514803"/>
            <a:ext cx="1893568" cy="499595"/>
          </a:xfrm>
          <a:prstGeom prst="rect">
            <a:avLst/>
          </a:prstGeom>
          <a:solidFill>
            <a:srgbClr val="9B99E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GET /</a:t>
            </a:r>
            <a:r>
              <a:rPr lang="da-DK" sz="1600" noProof="0" dirty="0" err="1"/>
              <a:t>orders</a:t>
            </a:r>
            <a:r>
              <a:rPr lang="da-DK" sz="1600" noProof="0" dirty="0"/>
              <a:t>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127488-F632-C98D-5542-578B52BD8A7D}"/>
              </a:ext>
            </a:extLst>
          </p:cNvPr>
          <p:cNvSpPr/>
          <p:nvPr/>
        </p:nvSpPr>
        <p:spPr>
          <a:xfrm>
            <a:off x="3089712" y="3514804"/>
            <a:ext cx="1893568" cy="499595"/>
          </a:xfrm>
          <a:prstGeom prst="rect">
            <a:avLst/>
          </a:prstGeom>
          <a:solidFill>
            <a:srgbClr val="9B99E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POST</a:t>
            </a:r>
            <a:r>
              <a:rPr lang="da-DK" sz="1600" noProof="0" dirty="0"/>
              <a:t> /</a:t>
            </a:r>
            <a:r>
              <a:rPr lang="da-DK" sz="1600" noProof="0" dirty="0" err="1"/>
              <a:t>orders</a:t>
            </a:r>
            <a:r>
              <a:rPr lang="da-DK" sz="1600" noProof="0" dirty="0"/>
              <a:t>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CAA686-5DDE-C15E-EFD9-47BEF5DB5AF9}"/>
              </a:ext>
            </a:extLst>
          </p:cNvPr>
          <p:cNvSpPr/>
          <p:nvPr/>
        </p:nvSpPr>
        <p:spPr>
          <a:xfrm>
            <a:off x="5299236" y="3514803"/>
            <a:ext cx="1893568" cy="499595"/>
          </a:xfrm>
          <a:prstGeom prst="rect">
            <a:avLst/>
          </a:prstGeom>
          <a:solidFill>
            <a:srgbClr val="9B99E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DELETE /</a:t>
            </a:r>
            <a:r>
              <a:rPr lang="da-DK" sz="1600" noProof="0" dirty="0" err="1"/>
              <a:t>orders</a:t>
            </a:r>
            <a:r>
              <a:rPr lang="da-DK" sz="1600" dirty="0"/>
              <a:t>/{id}</a:t>
            </a:r>
            <a:endParaRPr lang="da-DK" sz="1600" noProof="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EBAFDDB-80EA-E4CA-7C03-741D13E65F73}"/>
              </a:ext>
            </a:extLst>
          </p:cNvPr>
          <p:cNvCxnSpPr>
            <a:cxnSpLocks/>
            <a:stCxn id="35" idx="2"/>
            <a:endCxn id="46" idx="0"/>
          </p:cNvCxnSpPr>
          <p:nvPr/>
        </p:nvCxnSpPr>
        <p:spPr>
          <a:xfrm>
            <a:off x="4036496" y="2462369"/>
            <a:ext cx="0" cy="105243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00E8A8-1F8A-FFCA-3572-F5962CB41C29}"/>
              </a:ext>
            </a:extLst>
          </p:cNvPr>
          <p:cNvCxnSpPr>
            <a:cxnSpLocks/>
            <a:stCxn id="35" idx="2"/>
            <a:endCxn id="47" idx="0"/>
          </p:cNvCxnSpPr>
          <p:nvPr/>
        </p:nvCxnSpPr>
        <p:spPr>
          <a:xfrm>
            <a:off x="4036496" y="2462369"/>
            <a:ext cx="2209524" cy="105243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7AEF26E-9E6E-DCA7-9F04-2CD5805F2D4B}"/>
              </a:ext>
            </a:extLst>
          </p:cNvPr>
          <p:cNvCxnSpPr>
            <a:cxnSpLocks/>
          </p:cNvCxnSpPr>
          <p:nvPr/>
        </p:nvCxnSpPr>
        <p:spPr>
          <a:xfrm flipH="1">
            <a:off x="7373463" y="3703320"/>
            <a:ext cx="1169646" cy="61280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3BF780D-2273-A562-CF20-BD185EDBB93C}"/>
              </a:ext>
            </a:extLst>
          </p:cNvPr>
          <p:cNvSpPr txBox="1"/>
          <p:nvPr/>
        </p:nvSpPr>
        <p:spPr>
          <a:xfrm>
            <a:off x="8711416" y="3218065"/>
            <a:ext cx="2867891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Der er defineret 3 </a:t>
            </a:r>
            <a:r>
              <a:rPr lang="da-DK" sz="1600" b="1" dirty="0" err="1"/>
              <a:t>endpoints</a:t>
            </a:r>
            <a:r>
              <a:rPr lang="da-DK" sz="1600" dirty="0"/>
              <a:t> i C#-koden,</a:t>
            </a:r>
            <a:br>
              <a:rPr lang="da-DK" sz="1600" dirty="0"/>
            </a:br>
            <a:r>
              <a:rPr lang="da-DK" sz="1600" dirty="0"/>
              <a:t>som hver har deres egen funktion. 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B32E5C7-44CB-C4F8-E83E-0C96BE8D291F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826972" y="4014398"/>
            <a:ext cx="0" cy="88299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2B4EF37-7C4D-3709-89CF-4B0DF14B1D86}"/>
              </a:ext>
            </a:extLst>
          </p:cNvPr>
          <p:cNvSpPr txBox="1"/>
          <p:nvPr/>
        </p:nvSpPr>
        <p:spPr>
          <a:xfrm>
            <a:off x="1255501" y="5066832"/>
            <a:ext cx="114294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Hent ordre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94FEF8F-8F5C-D4A1-287A-1BA2CE8F48E1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036496" y="4014399"/>
            <a:ext cx="0" cy="94236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57A44DF-9B5D-B86F-BB7D-207287705548}"/>
              </a:ext>
            </a:extLst>
          </p:cNvPr>
          <p:cNvSpPr txBox="1"/>
          <p:nvPr/>
        </p:nvSpPr>
        <p:spPr>
          <a:xfrm>
            <a:off x="3465025" y="5066832"/>
            <a:ext cx="12487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Opret ordre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2D2C60-BADD-E479-37B1-E6E0AB2D0DCC}"/>
              </a:ext>
            </a:extLst>
          </p:cNvPr>
          <p:cNvSpPr txBox="1"/>
          <p:nvPr/>
        </p:nvSpPr>
        <p:spPr>
          <a:xfrm>
            <a:off x="5725044" y="5066831"/>
            <a:ext cx="10419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Slet ordre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27FF2A4-6D0B-6C87-0091-256526D3025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246020" y="4014398"/>
            <a:ext cx="0" cy="94236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8FFE24-EF71-E311-CA55-6967D706A10C}"/>
              </a:ext>
            </a:extLst>
          </p:cNvPr>
          <p:cNvCxnSpPr>
            <a:cxnSpLocks/>
          </p:cNvCxnSpPr>
          <p:nvPr/>
        </p:nvCxnSpPr>
        <p:spPr>
          <a:xfrm flipH="1" flipV="1">
            <a:off x="6766996" y="3656417"/>
            <a:ext cx="1776113" cy="1410414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35A9A0-2C3F-5D71-EA4D-3CE224F90240}"/>
              </a:ext>
            </a:extLst>
          </p:cNvPr>
          <p:cNvSpPr txBox="1"/>
          <p:nvPr/>
        </p:nvSpPr>
        <p:spPr>
          <a:xfrm>
            <a:off x="8711416" y="4347151"/>
            <a:ext cx="2867891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GET, POST og DELETE er </a:t>
            </a:r>
            <a:r>
              <a:rPr lang="da-DK" sz="1600" b="1" dirty="0"/>
              <a:t>HTTP-metoder</a:t>
            </a:r>
            <a:r>
              <a:rPr lang="da-DK" sz="1600" dirty="0"/>
              <a:t>. HTTP er en protokol som brugers til kommunikation over internettet (tænk </a:t>
            </a:r>
            <a:r>
              <a:rPr lang="da-DK" sz="1600" dirty="0" err="1"/>
              <a:t>API’er</a:t>
            </a:r>
            <a:r>
              <a:rPr lang="da-DK" sz="1600" dirty="0"/>
              <a:t>, browsers, etc.)</a:t>
            </a:r>
          </a:p>
        </p:txBody>
      </p:sp>
    </p:spTree>
    <p:extLst>
      <p:ext uri="{BB962C8B-B14F-4D97-AF65-F5344CB8AC3E}">
        <p14:creationId xmlns:p14="http://schemas.microsoft.com/office/powerpoint/2010/main" val="93854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1" grpId="0"/>
      <p:bldP spid="44" grpId="0" animBg="1"/>
      <p:bldP spid="46" grpId="0" animBg="1"/>
      <p:bldP spid="47" grpId="0" animBg="1"/>
      <p:bldP spid="64" grpId="0"/>
      <p:bldP spid="69" grpId="0"/>
      <p:bldP spid="73" grpId="0"/>
      <p:bldP spid="74" grpId="0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FFCB-39CC-4E23-8F4F-BEFE5AEA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835D5EE-4987-4DD8-6F7F-C9DAA9FC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Hvor kører vores .NET-kode?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C3AF6B1-B788-540A-4D4A-2E255EF1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1ED7B06-7108-F3C4-80D5-D44F52E18DC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CE4187F-62A3-E695-DEB3-935BE39051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53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81FCFF-FBCA-A611-BC5C-62813A6757B4}"/>
              </a:ext>
            </a:extLst>
          </p:cNvPr>
          <p:cNvSpPr/>
          <p:nvPr/>
        </p:nvSpPr>
        <p:spPr>
          <a:xfrm>
            <a:off x="741779" y="1067422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Før (on-</a:t>
            </a:r>
            <a:r>
              <a:rPr lang="da-DK" sz="1600" dirty="0" err="1"/>
              <a:t>premises</a:t>
            </a:r>
            <a:r>
              <a:rPr lang="da-DK" sz="1600" dirty="0"/>
              <a:t>)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A66FD-1478-47CD-04DE-834A0C4D8D89}"/>
              </a:ext>
            </a:extLst>
          </p:cNvPr>
          <p:cNvSpPr/>
          <p:nvPr/>
        </p:nvSpPr>
        <p:spPr>
          <a:xfrm>
            <a:off x="7732325" y="3611904"/>
            <a:ext cx="2990601" cy="212255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1C81D-A074-1A1F-3B7A-C35CF6E5D456}"/>
              </a:ext>
            </a:extLst>
          </p:cNvPr>
          <p:cNvSpPr txBox="1"/>
          <p:nvPr/>
        </p:nvSpPr>
        <p:spPr>
          <a:xfrm>
            <a:off x="7809365" y="3660115"/>
            <a:ext cx="18514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Datacenter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7EE9DF-D359-6488-C241-8393B584721B}"/>
              </a:ext>
            </a:extLst>
          </p:cNvPr>
          <p:cNvSpPr/>
          <p:nvPr/>
        </p:nvSpPr>
        <p:spPr>
          <a:xfrm>
            <a:off x="8325009" y="2072783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Brugere</a:t>
            </a:r>
            <a:endParaRPr lang="da-DK" sz="16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440CCC-9557-92A2-0FB0-7589F3888728}"/>
              </a:ext>
            </a:extLst>
          </p:cNvPr>
          <p:cNvSpPr/>
          <p:nvPr/>
        </p:nvSpPr>
        <p:spPr>
          <a:xfrm>
            <a:off x="8325009" y="2709081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Internet</a:t>
            </a:r>
            <a:endParaRPr lang="da-DK" sz="16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1FD78E-D68D-7EE2-AACE-F73574CCEB0F}"/>
              </a:ext>
            </a:extLst>
          </p:cNvPr>
          <p:cNvSpPr/>
          <p:nvPr/>
        </p:nvSpPr>
        <p:spPr>
          <a:xfrm>
            <a:off x="8080274" y="4026875"/>
            <a:ext cx="2294702" cy="140090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AB29CB-D5B4-D507-2759-3AFAC427D84E}"/>
              </a:ext>
            </a:extLst>
          </p:cNvPr>
          <p:cNvSpPr txBox="1"/>
          <p:nvPr/>
        </p:nvSpPr>
        <p:spPr>
          <a:xfrm>
            <a:off x="8172781" y="4075087"/>
            <a:ext cx="12551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32E141-FEE9-2ACE-E606-CA23DB70DE14}"/>
              </a:ext>
            </a:extLst>
          </p:cNvPr>
          <p:cNvSpPr/>
          <p:nvPr/>
        </p:nvSpPr>
        <p:spPr>
          <a:xfrm>
            <a:off x="8495712" y="4544369"/>
            <a:ext cx="1463826" cy="527213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.NET API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1059F2-C184-32EA-9053-FE287130258C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9227626" y="2458112"/>
            <a:ext cx="0" cy="25096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66C3E1-4229-FE59-F9F9-5D4B426021CB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9227625" y="3094410"/>
            <a:ext cx="1" cy="93246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11832C-606B-D578-FBBE-567AF5FB23EA}"/>
              </a:ext>
            </a:extLst>
          </p:cNvPr>
          <p:cNvSpPr/>
          <p:nvPr/>
        </p:nvSpPr>
        <p:spPr>
          <a:xfrm>
            <a:off x="8042958" y="107117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Nu (Azure)</a:t>
            </a:r>
            <a:endParaRPr lang="da-DK" sz="1600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35B2E0-282D-A799-F39E-E3EB2A0D73C6}"/>
              </a:ext>
            </a:extLst>
          </p:cNvPr>
          <p:cNvSpPr/>
          <p:nvPr/>
        </p:nvSpPr>
        <p:spPr>
          <a:xfrm>
            <a:off x="1061812" y="2013344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Brugere</a:t>
            </a:r>
            <a:endParaRPr lang="da-DK" sz="1600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33E4CC-7F99-8ADF-40EE-E250FF775DB4}"/>
              </a:ext>
            </a:extLst>
          </p:cNvPr>
          <p:cNvSpPr/>
          <p:nvPr/>
        </p:nvSpPr>
        <p:spPr>
          <a:xfrm>
            <a:off x="1061812" y="2709081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Internet</a:t>
            </a:r>
            <a:endParaRPr lang="da-DK" sz="1600" noProof="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DDDDAD-D1BD-4FCC-6939-B8DEF57481B5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1964429" y="2398673"/>
            <a:ext cx="0" cy="31040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B617F-5835-01FD-D5C8-64067CAE21C9}"/>
              </a:ext>
            </a:extLst>
          </p:cNvPr>
          <p:cNvSpPr/>
          <p:nvPr/>
        </p:nvSpPr>
        <p:spPr>
          <a:xfrm>
            <a:off x="469129" y="3608150"/>
            <a:ext cx="2990601" cy="212255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8F7D39-E550-7EEC-76B3-1EED27E89ED2}"/>
              </a:ext>
            </a:extLst>
          </p:cNvPr>
          <p:cNvSpPr txBox="1"/>
          <p:nvPr/>
        </p:nvSpPr>
        <p:spPr>
          <a:xfrm>
            <a:off x="546169" y="3656361"/>
            <a:ext cx="13882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Fysisk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023F98-620A-9B03-57E7-A4E58D9FB5F9}"/>
              </a:ext>
            </a:extLst>
          </p:cNvPr>
          <p:cNvSpPr/>
          <p:nvPr/>
        </p:nvSpPr>
        <p:spPr>
          <a:xfrm>
            <a:off x="817078" y="4023121"/>
            <a:ext cx="2294702" cy="140090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45EC24-FF95-3E3A-4919-E8C2D2B401E1}"/>
              </a:ext>
            </a:extLst>
          </p:cNvPr>
          <p:cNvSpPr txBox="1"/>
          <p:nvPr/>
        </p:nvSpPr>
        <p:spPr>
          <a:xfrm>
            <a:off x="909585" y="4071333"/>
            <a:ext cx="171040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Windows Server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B385F7-4E69-A80F-B9F6-7B6828937A74}"/>
              </a:ext>
            </a:extLst>
          </p:cNvPr>
          <p:cNvSpPr/>
          <p:nvPr/>
        </p:nvSpPr>
        <p:spPr>
          <a:xfrm>
            <a:off x="1232516" y="4540615"/>
            <a:ext cx="1463826" cy="527213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.NET API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C7BFE4-357F-D0BF-3A7E-E188CD4046ED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1964429" y="3094410"/>
            <a:ext cx="0" cy="92871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17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/>
      <p:bldP spid="15" grpId="0" animBg="1"/>
      <p:bldP spid="16" grpId="0" animBg="1"/>
      <p:bldP spid="17" grpId="0" animBg="1"/>
      <p:bldP spid="18" grpId="0"/>
      <p:bldP spid="19" grpId="0" animBg="1"/>
      <p:bldP spid="26" grpId="0" animBg="1"/>
      <p:bldP spid="27" grpId="0" animBg="1"/>
      <p:bldP spid="28" grpId="0" animBg="1"/>
      <p:bldP spid="30" grpId="0" animBg="1"/>
      <p:bldP spid="31" grpId="0"/>
      <p:bldP spid="32" grpId="0" animBg="1"/>
      <p:bldP spid="33" grpId="0"/>
      <p:bldP spid="3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2F83-35A3-F00D-9B9C-196422FA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60B9AD-0E60-8F38-9571-26766DA68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Et rigtigt system er mere end én API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A6A6FC4-FE7B-6866-44EE-CB0CFF48663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5137295-507F-A1F0-4023-01C819BCC2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B7BDB2A-4D33-26F6-F7FD-ABE0A64EBF3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54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49C46-5BC9-2670-1593-C16949B67970}"/>
              </a:ext>
            </a:extLst>
          </p:cNvPr>
          <p:cNvSpPr/>
          <p:nvPr/>
        </p:nvSpPr>
        <p:spPr>
          <a:xfrm>
            <a:off x="5188316" y="3215609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Azure </a:t>
            </a:r>
            <a:r>
              <a:rPr lang="da-DK" sz="1600" noProof="0" dirty="0"/>
              <a:t>App Service (API)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5F9DBF-48D5-7134-0B47-ED9566ECEE50}"/>
              </a:ext>
            </a:extLst>
          </p:cNvPr>
          <p:cNvSpPr/>
          <p:nvPr/>
        </p:nvSpPr>
        <p:spPr>
          <a:xfrm>
            <a:off x="5125878" y="1718772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Brugere</a:t>
            </a:r>
            <a:endParaRPr lang="da-DK" sz="16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68F1B7-56C0-D2D3-28FE-0CD3E1FA71A6}"/>
              </a:ext>
            </a:extLst>
          </p:cNvPr>
          <p:cNvSpPr/>
          <p:nvPr/>
        </p:nvSpPr>
        <p:spPr>
          <a:xfrm>
            <a:off x="5125878" y="2470259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Internet</a:t>
            </a:r>
            <a:endParaRPr lang="da-DK" sz="1600" noProof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62BF1F-C321-B3DD-E4B9-3D5A6E322E8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6028495" y="2104101"/>
            <a:ext cx="0" cy="36615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6A2B40-9CE1-D9B9-276A-95645E9566A7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>
            <a:off x="6028495" y="2855588"/>
            <a:ext cx="0" cy="36002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CB212-B03E-4E0C-61B2-3EF59360F0A7}"/>
              </a:ext>
            </a:extLst>
          </p:cNvPr>
          <p:cNvSpPr/>
          <p:nvPr/>
        </p:nvSpPr>
        <p:spPr>
          <a:xfrm>
            <a:off x="2541257" y="4524584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Azure SQL Database</a:t>
            </a:r>
            <a:endParaRPr lang="da-DK" sz="16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1D6F8D-2A20-2B9D-AD3E-C699BAEF9DE4}"/>
              </a:ext>
            </a:extLst>
          </p:cNvPr>
          <p:cNvSpPr/>
          <p:nvPr/>
        </p:nvSpPr>
        <p:spPr>
          <a:xfrm>
            <a:off x="5125878" y="4493365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Azure</a:t>
            </a:r>
            <a:br>
              <a:rPr lang="da-DK" sz="1600" dirty="0"/>
            </a:br>
            <a:r>
              <a:rPr lang="da-DK" sz="1600" dirty="0"/>
              <a:t>Service Bus</a:t>
            </a:r>
            <a:endParaRPr lang="da-DK" sz="1600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573E87-AAC8-ED10-D5AD-D0399487D289}"/>
              </a:ext>
            </a:extLst>
          </p:cNvPr>
          <p:cNvSpPr/>
          <p:nvPr/>
        </p:nvSpPr>
        <p:spPr>
          <a:xfrm>
            <a:off x="7710499" y="4524584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Eksternt system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8FBB32-E12F-91CC-9515-B64A4ADFE735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3443874" y="3789677"/>
            <a:ext cx="2584621" cy="73490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739C2F-9114-8341-7801-506AC6D8DA33}"/>
              </a:ext>
            </a:extLst>
          </p:cNvPr>
          <p:cNvCxnSpPr>
            <a:cxnSpLocks/>
            <a:stCxn id="4" idx="2"/>
            <a:endCxn id="39" idx="0"/>
          </p:cNvCxnSpPr>
          <p:nvPr/>
        </p:nvCxnSpPr>
        <p:spPr>
          <a:xfrm>
            <a:off x="6028495" y="3789677"/>
            <a:ext cx="0" cy="70368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616CEE5-8D1D-AAA8-490A-9C06F32D2EE8}"/>
              </a:ext>
            </a:extLst>
          </p:cNvPr>
          <p:cNvCxnSpPr>
            <a:cxnSpLocks/>
            <a:stCxn id="4" idx="2"/>
            <a:endCxn id="40" idx="0"/>
          </p:cNvCxnSpPr>
          <p:nvPr/>
        </p:nvCxnSpPr>
        <p:spPr>
          <a:xfrm>
            <a:off x="6028495" y="3789677"/>
            <a:ext cx="2584621" cy="73490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97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  <p:bldP spid="25" grpId="0" animBg="1"/>
      <p:bldP spid="39" grpId="0" animBg="1"/>
      <p:bldP spid="4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92D6-0CD3-3209-EA08-247B631B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5F6F91E-AE70-D50D-FB9E-A8C8EA08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Synkron versus asynkron kommunikation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4E3BCEF-603E-60C8-0604-AAC0DF9321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C1F330E-20F3-8E37-ACB3-F639B7DFE3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4889206-BC41-1170-E715-61B5442D57F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55</a:t>
            </a:fld>
            <a:endParaRPr lang="da-DK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4AAEAB-EC22-C02C-8D2C-12F61F2DBB57}"/>
              </a:ext>
            </a:extLst>
          </p:cNvPr>
          <p:cNvSpPr/>
          <p:nvPr/>
        </p:nvSpPr>
        <p:spPr>
          <a:xfrm>
            <a:off x="393680" y="1154177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Synkront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78466-F512-50C2-ED28-CD6C3650A43C}"/>
              </a:ext>
            </a:extLst>
          </p:cNvPr>
          <p:cNvSpPr/>
          <p:nvPr/>
        </p:nvSpPr>
        <p:spPr>
          <a:xfrm>
            <a:off x="393680" y="2041724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System A (API)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2AAC4-E923-7C91-6F8C-5D1FC18EA892}"/>
              </a:ext>
            </a:extLst>
          </p:cNvPr>
          <p:cNvSpPr/>
          <p:nvPr/>
        </p:nvSpPr>
        <p:spPr>
          <a:xfrm>
            <a:off x="393680" y="3543934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System B</a:t>
            </a:r>
            <a:endParaRPr lang="da-DK" sz="1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D07FE-B652-577F-D098-DDFB36C85D1B}"/>
              </a:ext>
            </a:extLst>
          </p:cNvPr>
          <p:cNvSpPr/>
          <p:nvPr/>
        </p:nvSpPr>
        <p:spPr>
          <a:xfrm>
            <a:off x="393680" y="5046144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System C</a:t>
            </a:r>
            <a:endParaRPr lang="da-DK" sz="1600" noProof="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7DCADA-9F5D-C92B-41DB-9C029A22B469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233859" y="2615792"/>
            <a:ext cx="0" cy="92814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133CBB-E59D-930D-6904-F0287C692659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1233859" y="4118002"/>
            <a:ext cx="0" cy="92814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688C0C3-54F8-45C3-6888-76655DDDE29F}"/>
              </a:ext>
            </a:extLst>
          </p:cNvPr>
          <p:cNvSpPr txBox="1"/>
          <p:nvPr/>
        </p:nvSpPr>
        <p:spPr>
          <a:xfrm>
            <a:off x="1296297" y="2956752"/>
            <a:ext cx="93134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Kald til 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0527D3-DE54-8636-9B77-F84E0358E4B8}"/>
              </a:ext>
            </a:extLst>
          </p:cNvPr>
          <p:cNvSpPr txBox="1"/>
          <p:nvPr/>
        </p:nvSpPr>
        <p:spPr>
          <a:xfrm>
            <a:off x="1296297" y="4458962"/>
            <a:ext cx="93615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Kald til C</a:t>
            </a: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C9E45495-DAA6-4ED4-C396-2C1F6D01777B}"/>
              </a:ext>
            </a:extLst>
          </p:cNvPr>
          <p:cNvCxnSpPr>
            <a:cxnSpLocks/>
            <a:stCxn id="14" idx="3"/>
            <a:endCxn id="10" idx="3"/>
          </p:cNvCxnSpPr>
          <p:nvPr/>
        </p:nvCxnSpPr>
        <p:spPr>
          <a:xfrm flipV="1">
            <a:off x="2074038" y="3830968"/>
            <a:ext cx="12700" cy="1502210"/>
          </a:xfrm>
          <a:prstGeom prst="curvedConnector3">
            <a:avLst>
              <a:gd name="adj1" fmla="val 8420142"/>
            </a:avLst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53D240A-EA01-F413-ADE3-30CD9A402213}"/>
              </a:ext>
            </a:extLst>
          </p:cNvPr>
          <p:cNvSpPr txBox="1"/>
          <p:nvPr/>
        </p:nvSpPr>
        <p:spPr>
          <a:xfrm>
            <a:off x="3299019" y="4458962"/>
            <a:ext cx="94897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Svar til B</a:t>
            </a:r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2782EBFC-50E4-32B0-2EF7-9F92539BCB9B}"/>
              </a:ext>
            </a:extLst>
          </p:cNvPr>
          <p:cNvCxnSpPr>
            <a:cxnSpLocks/>
            <a:stCxn id="10" idx="3"/>
            <a:endCxn id="9" idx="3"/>
          </p:cNvCxnSpPr>
          <p:nvPr/>
        </p:nvCxnSpPr>
        <p:spPr>
          <a:xfrm flipV="1">
            <a:off x="2074038" y="2328758"/>
            <a:ext cx="12700" cy="1502210"/>
          </a:xfrm>
          <a:prstGeom prst="curvedConnector3">
            <a:avLst>
              <a:gd name="adj1" fmla="val 8758386"/>
            </a:avLst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F08469D-2D84-2ADE-FC66-6CC0A1CD9C2E}"/>
              </a:ext>
            </a:extLst>
          </p:cNvPr>
          <p:cNvSpPr txBox="1"/>
          <p:nvPr/>
        </p:nvSpPr>
        <p:spPr>
          <a:xfrm>
            <a:off x="3299019" y="2956751"/>
            <a:ext cx="95058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Svar til 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D1A7D5-E5C8-E1BE-C605-F4AAC061F035}"/>
              </a:ext>
            </a:extLst>
          </p:cNvPr>
          <p:cNvSpPr/>
          <p:nvPr/>
        </p:nvSpPr>
        <p:spPr>
          <a:xfrm>
            <a:off x="6799594" y="1154176"/>
            <a:ext cx="1805234" cy="385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Asynkront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F8D8F3-7C2D-ED18-BA1D-B3D1038B9A71}"/>
              </a:ext>
            </a:extLst>
          </p:cNvPr>
          <p:cNvSpPr/>
          <p:nvPr/>
        </p:nvSpPr>
        <p:spPr>
          <a:xfrm>
            <a:off x="6799594" y="2041724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System A (API)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936A7B-3A22-B732-A689-75A560DF73D9}"/>
              </a:ext>
            </a:extLst>
          </p:cNvPr>
          <p:cNvSpPr/>
          <p:nvPr/>
        </p:nvSpPr>
        <p:spPr>
          <a:xfrm>
            <a:off x="6799594" y="3429000"/>
            <a:ext cx="1680358" cy="574068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Service Bus</a:t>
            </a:r>
            <a:endParaRPr lang="da-DK" sz="1600" noProof="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463F45C-CA6F-6708-FA67-14A2E0AF343C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7639773" y="2615792"/>
            <a:ext cx="0" cy="81320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2D7FE0E-7A82-D78B-97CB-D7BE295603A1}"/>
              </a:ext>
            </a:extLst>
          </p:cNvPr>
          <p:cNvSpPr txBox="1"/>
          <p:nvPr/>
        </p:nvSpPr>
        <p:spPr>
          <a:xfrm>
            <a:off x="5564089" y="4458962"/>
            <a:ext cx="1805234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System B og C ”lytter” på beskeder på service bussen. System A skal ikke vente på B og C svarer tilbage.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40F8118-1B3E-ED8E-9F78-65F415D4F416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7639773" y="4003068"/>
            <a:ext cx="0" cy="1642891"/>
          </a:xfrm>
          <a:prstGeom prst="straightConnector1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E5DB769-38DC-FD23-CADF-B8FD4ABE59E7}"/>
              </a:ext>
            </a:extLst>
          </p:cNvPr>
          <p:cNvSpPr/>
          <p:nvPr/>
        </p:nvSpPr>
        <p:spPr>
          <a:xfrm>
            <a:off x="8479952" y="4415709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System 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ABAC26-1CA7-48E8-119A-F1E97EBB824E}"/>
              </a:ext>
            </a:extLst>
          </p:cNvPr>
          <p:cNvSpPr/>
          <p:nvPr/>
        </p:nvSpPr>
        <p:spPr>
          <a:xfrm>
            <a:off x="8479952" y="5333178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System C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A8BEC17-644F-7403-51A3-8324DAB18AF4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7639773" y="4702743"/>
            <a:ext cx="84017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CA3037-B102-5C0B-7397-798B25045A57}"/>
              </a:ext>
            </a:extLst>
          </p:cNvPr>
          <p:cNvCxnSpPr>
            <a:cxnSpLocks/>
          </p:cNvCxnSpPr>
          <p:nvPr/>
        </p:nvCxnSpPr>
        <p:spPr>
          <a:xfrm>
            <a:off x="7639772" y="5620212"/>
            <a:ext cx="84017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00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  <p:bldP spid="30" grpId="0"/>
      <p:bldP spid="31" grpId="0"/>
      <p:bldP spid="48" grpId="0"/>
      <p:bldP spid="53" grpId="0"/>
      <p:bldP spid="54" grpId="0" animBg="1"/>
      <p:bldP spid="55" grpId="0" animBg="1"/>
      <p:bldP spid="56" grpId="0" animBg="1"/>
      <p:bldP spid="58" grpId="0"/>
      <p:bldP spid="66" grpId="0" animBg="1"/>
      <p:bldP spid="6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6AC5F-62B6-59B4-34F7-2C9E5B7C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8DA2B0F-13A2-87E8-4B4B-24397E5F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Azure Functions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329EC1D-5F15-1D2B-4332-B134DD6313F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FEAD08A-6597-F274-E48C-7438610C50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1D48402-4D3E-4847-8251-07FF778E84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56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1BDF2-1136-14CD-7AD3-DCE9D99823FE}"/>
              </a:ext>
            </a:extLst>
          </p:cNvPr>
          <p:cNvSpPr/>
          <p:nvPr/>
        </p:nvSpPr>
        <p:spPr>
          <a:xfrm>
            <a:off x="5151819" y="1782880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Service Bus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B40F1-169C-A103-FEA5-00667B663FF2}"/>
              </a:ext>
            </a:extLst>
          </p:cNvPr>
          <p:cNvSpPr/>
          <p:nvPr/>
        </p:nvSpPr>
        <p:spPr>
          <a:xfrm>
            <a:off x="5214257" y="3240385"/>
            <a:ext cx="1680358" cy="574068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Azure Function (C#)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A1724-5B78-B9B8-765B-0B7568CBE8FD}"/>
              </a:ext>
            </a:extLst>
          </p:cNvPr>
          <p:cNvSpPr/>
          <p:nvPr/>
        </p:nvSpPr>
        <p:spPr>
          <a:xfrm>
            <a:off x="5151819" y="4696768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Eksternt system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1384E9-8329-2341-B204-EB69A9A1B882}"/>
              </a:ext>
            </a:extLst>
          </p:cNvPr>
          <p:cNvCxnSpPr>
            <a:cxnSpLocks/>
          </p:cNvCxnSpPr>
          <p:nvPr/>
        </p:nvCxnSpPr>
        <p:spPr>
          <a:xfrm>
            <a:off x="3751721" y="3240385"/>
            <a:ext cx="1261732" cy="317674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00C5A7-573F-35B9-5EDE-FD026BD40F8E}"/>
              </a:ext>
            </a:extLst>
          </p:cNvPr>
          <p:cNvSpPr txBox="1"/>
          <p:nvPr/>
        </p:nvSpPr>
        <p:spPr>
          <a:xfrm>
            <a:off x="2489259" y="2982392"/>
            <a:ext cx="205344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Service Bus Trigger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A9E2E2-C3AA-0A8C-B097-C27F0D3A9363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54436" y="1033154"/>
            <a:ext cx="0" cy="749726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3449A8-4BDE-C961-D47D-19C8C65D3E17}"/>
              </a:ext>
            </a:extLst>
          </p:cNvPr>
          <p:cNvSpPr txBox="1"/>
          <p:nvPr/>
        </p:nvSpPr>
        <p:spPr>
          <a:xfrm>
            <a:off x="6264234" y="1240572"/>
            <a:ext cx="20790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Besked kommer ind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78C77D-1904-7853-C44E-CA2232CFB408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6054436" y="2358070"/>
            <a:ext cx="0" cy="88231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902580-8539-06EE-D217-11AD148EACC2}"/>
              </a:ext>
            </a:extLst>
          </p:cNvPr>
          <p:cNvSpPr txBox="1"/>
          <p:nvPr/>
        </p:nvSpPr>
        <p:spPr>
          <a:xfrm>
            <a:off x="6264234" y="2553006"/>
            <a:ext cx="351538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Function bliver </a:t>
            </a:r>
            <a:r>
              <a:rPr lang="da-DK" sz="1600" dirty="0" err="1"/>
              <a:t>triggered</a:t>
            </a:r>
            <a:br>
              <a:rPr lang="da-DK" sz="1600" dirty="0"/>
            </a:br>
            <a:r>
              <a:rPr lang="da-DK" sz="1600" dirty="0"/>
              <a:t>af beskeden og kører nu C# kode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15345-C96B-4067-CD65-88C2603AA173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54436" y="3814453"/>
            <a:ext cx="0" cy="88231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752D42D-EE98-E7D0-FABB-1BD7E909BEDC}"/>
              </a:ext>
            </a:extLst>
          </p:cNvPr>
          <p:cNvSpPr txBox="1"/>
          <p:nvPr/>
        </p:nvSpPr>
        <p:spPr>
          <a:xfrm>
            <a:off x="6264234" y="4041076"/>
            <a:ext cx="424314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Function er kørt færdig og sender</a:t>
            </a:r>
            <a:br>
              <a:rPr lang="da-DK" sz="1600" dirty="0"/>
            </a:br>
            <a:r>
              <a:rPr lang="da-DK" sz="1600" dirty="0"/>
              <a:t>data videre til eksternt system</a:t>
            </a:r>
          </a:p>
        </p:txBody>
      </p:sp>
    </p:spTree>
    <p:extLst>
      <p:ext uri="{BB962C8B-B14F-4D97-AF65-F5344CB8AC3E}">
        <p14:creationId xmlns:p14="http://schemas.microsoft.com/office/powerpoint/2010/main" val="390715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  <p:bldP spid="11" grpId="0"/>
      <p:bldP spid="15" grpId="0"/>
      <p:bldP spid="19" grpId="0"/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B937-469D-26DF-9028-67822313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142FE0A-2C11-D22C-8C6A-96D4A12FD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Configuration, secrets og identity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6A9CE9F-2271-8AD5-1BF1-045FA5240ED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05FC14B-C716-1B43-6BA5-B1B3686D6C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DC178A5-5FE9-E899-AE0C-C1D5A57379D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57</a:t>
            </a:fld>
            <a:endParaRPr lang="da-DK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43D8D6-0E5A-EA4F-1A37-064F21D7E7CF}"/>
              </a:ext>
            </a:extLst>
          </p:cNvPr>
          <p:cNvSpPr/>
          <p:nvPr/>
        </p:nvSpPr>
        <p:spPr>
          <a:xfrm>
            <a:off x="5306199" y="2489461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.NET Applikation</a:t>
            </a:r>
            <a:endParaRPr lang="da-DK" sz="1600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B3DDAE-77ED-104A-B5A7-295A04B36D90}"/>
              </a:ext>
            </a:extLst>
          </p:cNvPr>
          <p:cNvSpPr/>
          <p:nvPr/>
        </p:nvSpPr>
        <p:spPr>
          <a:xfrm>
            <a:off x="5306199" y="4003565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Managed </a:t>
            </a:r>
            <a:r>
              <a:rPr lang="da-DK" sz="1600" noProof="0" dirty="0" err="1"/>
              <a:t>identity</a:t>
            </a:r>
            <a:endParaRPr lang="da-DK" sz="1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F5823-FC4B-BB03-AF80-782B7DC271B6}"/>
              </a:ext>
            </a:extLst>
          </p:cNvPr>
          <p:cNvSpPr/>
          <p:nvPr/>
        </p:nvSpPr>
        <p:spPr>
          <a:xfrm>
            <a:off x="2727274" y="4003565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Key Vault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54FAFC-2B64-FBB6-85E5-0E39D99972EB}"/>
              </a:ext>
            </a:extLst>
          </p:cNvPr>
          <p:cNvSpPr/>
          <p:nvPr/>
        </p:nvSpPr>
        <p:spPr>
          <a:xfrm>
            <a:off x="7885124" y="4003565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Configuration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A5E661-7D1A-0E83-5E4C-7C38388057D1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3629891" y="3064651"/>
            <a:ext cx="2578925" cy="93891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47EA19-A6A1-6852-93AB-48D4A0C2F901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6208816" y="3064651"/>
            <a:ext cx="0" cy="93891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463CBF-4879-2BFB-1D78-64675E937EDC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6208816" y="3064651"/>
            <a:ext cx="2578925" cy="93891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10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D559-C62F-07D5-1B5B-9D3774F2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C6A705D-229E-9481-487C-FF9B6D49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Hvordan ved vi, om det virker?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48B3A85-3ADD-B48B-75EB-06B9C8DE999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345003E-C044-3C1B-CD81-8DA23D500F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77974A2-B8B0-68A5-6A6A-59E7DE7D3C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58</a:t>
            </a:fld>
            <a:endParaRPr lang="da-DK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58A69D-C482-EED8-FD49-EB47F448315D}"/>
              </a:ext>
            </a:extLst>
          </p:cNvPr>
          <p:cNvSpPr/>
          <p:nvPr/>
        </p:nvSpPr>
        <p:spPr>
          <a:xfrm>
            <a:off x="5312137" y="1866007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.NET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E4695B-934D-5703-3A7D-E7AEF9B761E4}"/>
              </a:ext>
            </a:extLst>
          </p:cNvPr>
          <p:cNvSpPr/>
          <p:nvPr/>
        </p:nvSpPr>
        <p:spPr>
          <a:xfrm>
            <a:off x="5312137" y="3279171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Application </a:t>
            </a:r>
            <a:r>
              <a:rPr lang="da-DK" sz="1600" noProof="0" dirty="0" err="1"/>
              <a:t>Insights</a:t>
            </a:r>
            <a:endParaRPr lang="da-DK" sz="1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B0C28D-AEB3-0CDB-F021-95063366D742}"/>
              </a:ext>
            </a:extLst>
          </p:cNvPr>
          <p:cNvSpPr/>
          <p:nvPr/>
        </p:nvSpPr>
        <p:spPr>
          <a:xfrm>
            <a:off x="5312137" y="4692335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Monitor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2F8DCE-B73C-C699-68FF-6734366CDD6A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6214754" y="2441197"/>
            <a:ext cx="0" cy="83797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24D70B-7032-BBFB-29BD-953F8C53BD4E}"/>
              </a:ext>
            </a:extLst>
          </p:cNvPr>
          <p:cNvCxnSpPr>
            <a:cxnSpLocks/>
          </p:cNvCxnSpPr>
          <p:nvPr/>
        </p:nvCxnSpPr>
        <p:spPr>
          <a:xfrm>
            <a:off x="3686407" y="4629799"/>
            <a:ext cx="1261732" cy="317674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3FFD02-3012-9769-EC12-C27875928446}"/>
              </a:ext>
            </a:extLst>
          </p:cNvPr>
          <p:cNvSpPr txBox="1"/>
          <p:nvPr/>
        </p:nvSpPr>
        <p:spPr>
          <a:xfrm>
            <a:off x="2639994" y="4273348"/>
            <a:ext cx="20823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Platformens skærm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AC39BE-6668-D84F-5947-0801A5194F5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6214754" y="3854361"/>
            <a:ext cx="0" cy="83797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7006C4-419A-1D3C-E0ED-AF84AFA59BD0}"/>
              </a:ext>
            </a:extLst>
          </p:cNvPr>
          <p:cNvSpPr txBox="1"/>
          <p:nvPr/>
        </p:nvSpPr>
        <p:spPr>
          <a:xfrm>
            <a:off x="6483927" y="2737073"/>
            <a:ext cx="233557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logs / </a:t>
            </a:r>
            <a:r>
              <a:rPr lang="da-DK" sz="1600" dirty="0" err="1"/>
              <a:t>metrics</a:t>
            </a:r>
            <a:r>
              <a:rPr lang="da-DK" sz="1600" dirty="0"/>
              <a:t> / traces</a:t>
            </a:r>
          </a:p>
        </p:txBody>
      </p:sp>
    </p:spTree>
    <p:extLst>
      <p:ext uri="{BB962C8B-B14F-4D97-AF65-F5344CB8AC3E}">
        <p14:creationId xmlns:p14="http://schemas.microsoft.com/office/powerpoint/2010/main" val="24659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9" grpId="0"/>
      <p:bldP spid="2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E6A7-A7A4-51A7-E4E2-2AC723A6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0EB9554-9327-E92D-FCAE-70EFCE21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Samlet billede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3A32EE-4AE3-9FCD-D0C0-E68B47A6A94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F0A637D-1529-823A-15BE-ECEA5DF2E0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639C6C0-422F-60D0-78C8-47BDDF0116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59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F0ABE5-8D58-18DF-2532-564CBB69BBD2}"/>
              </a:ext>
            </a:extLst>
          </p:cNvPr>
          <p:cNvSpPr/>
          <p:nvPr/>
        </p:nvSpPr>
        <p:spPr>
          <a:xfrm>
            <a:off x="5413078" y="603106"/>
            <a:ext cx="1805234" cy="575190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Dynamics 365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02E09-7502-9780-B29B-8F6575DAFDDD}"/>
              </a:ext>
            </a:extLst>
          </p:cNvPr>
          <p:cNvSpPr/>
          <p:nvPr/>
        </p:nvSpPr>
        <p:spPr>
          <a:xfrm>
            <a:off x="5413078" y="1519719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API Management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3DB23-2391-0679-A161-93781520727E}"/>
              </a:ext>
            </a:extLst>
          </p:cNvPr>
          <p:cNvSpPr/>
          <p:nvPr/>
        </p:nvSpPr>
        <p:spPr>
          <a:xfrm>
            <a:off x="5413078" y="2436332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App Service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2AF42A-7514-2CEC-14B7-7F474778670E}"/>
              </a:ext>
            </a:extLst>
          </p:cNvPr>
          <p:cNvSpPr/>
          <p:nvPr/>
        </p:nvSpPr>
        <p:spPr>
          <a:xfrm>
            <a:off x="5413078" y="335294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Service Bus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54449-6A41-7B70-9D73-F37A1968E589}"/>
              </a:ext>
            </a:extLst>
          </p:cNvPr>
          <p:cNvSpPr/>
          <p:nvPr/>
        </p:nvSpPr>
        <p:spPr>
          <a:xfrm>
            <a:off x="3297291" y="335294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Azure SQL</a:t>
            </a:r>
            <a:endParaRPr lang="da-DK" sz="1600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BE841-2E78-3423-ECFB-12DBDFBC73A1}"/>
              </a:ext>
            </a:extLst>
          </p:cNvPr>
          <p:cNvSpPr/>
          <p:nvPr/>
        </p:nvSpPr>
        <p:spPr>
          <a:xfrm>
            <a:off x="7491261" y="335294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 err="1"/>
              <a:t>Blob</a:t>
            </a:r>
            <a:r>
              <a:rPr lang="da-DK" sz="1600" noProof="0" dirty="0"/>
              <a:t> Storage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65695-6F0E-97AC-EDF6-13ABDB24B39E}"/>
              </a:ext>
            </a:extLst>
          </p:cNvPr>
          <p:cNvSpPr/>
          <p:nvPr/>
        </p:nvSpPr>
        <p:spPr>
          <a:xfrm>
            <a:off x="5413078" y="4269558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Function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F507C4-B4B5-860E-B82D-6016CB0C0D02}"/>
              </a:ext>
            </a:extLst>
          </p:cNvPr>
          <p:cNvSpPr/>
          <p:nvPr/>
        </p:nvSpPr>
        <p:spPr>
          <a:xfrm>
            <a:off x="5413078" y="5186171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Eksternt system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87BBB8-291D-C4D0-DC35-07DE6A16C9BA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6315695" y="1178296"/>
            <a:ext cx="0" cy="34142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138A05-E917-A71C-6F6F-BBB6E1238746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315695" y="2094909"/>
            <a:ext cx="0" cy="34142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2035F0-93D1-8D9E-166D-3C5BEF80833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315695" y="3011522"/>
            <a:ext cx="0" cy="34142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BEE755-5FA1-3F3D-2B6E-CF85642E8943}"/>
              </a:ext>
            </a:extLst>
          </p:cNvPr>
          <p:cNvCxnSpPr>
            <a:cxnSpLocks/>
            <a:stCxn id="8" idx="1"/>
            <a:endCxn id="11" idx="0"/>
          </p:cNvCxnSpPr>
          <p:nvPr/>
        </p:nvCxnSpPr>
        <p:spPr>
          <a:xfrm flipH="1">
            <a:off x="4199908" y="2723927"/>
            <a:ext cx="1213170" cy="62901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3C8CD9-452E-0D2F-582C-C3AFF73A08C8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>
            <a:off x="7218312" y="2723927"/>
            <a:ext cx="1175566" cy="62901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D7F80E-418B-17BE-70D3-19F0B30A853E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6315695" y="3928135"/>
            <a:ext cx="0" cy="34142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7BA542-2C4F-BF76-ADE4-37DAC1CD2A42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6315695" y="4844748"/>
            <a:ext cx="0" cy="34142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4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  <p:bldP spid="9" grpId="0" animBg="1"/>
      <p:bldP spid="11" grpId="0" animBg="1"/>
      <p:bldP spid="12" grpId="0" animBg="1"/>
      <p:bldP spid="15" grpId="0" animBg="1"/>
      <p:bldP spid="1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2117-AE9D-3860-367D-4A303CE0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4AEC18C2-4DCE-567C-086E-C8DBA17724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8D9A125-C348-FA83-3EEC-6459161603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A5B05BD-8930-7695-0E40-577B66C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er Azure organiseret?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/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89F7940-63BC-7E83-F557-17FBB5A184C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60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F093D8C2-2482-B23F-0BBF-E6734CDED2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07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/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85A709-15B5-77CF-CE69-F9E2CA6CDC2C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EDF657-C2A6-467E-BA44-28BDD1A81FAA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39908482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D9DDD-9404-9D38-0F53-399432D7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2004B566-68F1-7B40-F27A-BD6C49D68F2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2B1DF1F-E561-5132-D3DF-ECA3BF291A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4AB31A7-EE92-1E82-C64C-CB712CC69BF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61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2574863-CAA2-485D-8A88-D34FAE6DA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Et konkret business-scenarie</a:t>
            </a:r>
          </a:p>
        </p:txBody>
      </p:sp>
    </p:spTree>
    <p:extLst>
      <p:ext uri="{BB962C8B-B14F-4D97-AF65-F5344CB8AC3E}">
        <p14:creationId xmlns:p14="http://schemas.microsoft.com/office/powerpoint/2010/main" val="21728655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DB2CD-4EA3-2FEB-70DD-5834DA8C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A46314C-E49E-2AC6-E2DE-D4009E52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Eksempel: En kunde opretter en ordre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8392020-4A9E-525A-0E24-9A03CB75E97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ABA26-6481-20F2-BBF2-ABA4D7E0F9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8E36E80-6526-A3C7-7F06-DDF12FC72C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62</a:t>
            </a:fld>
            <a:endParaRPr lang="da-DK" noProof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B9CC8-E12A-5305-BE10-005B1FF59596}"/>
              </a:ext>
            </a:extLst>
          </p:cNvPr>
          <p:cNvSpPr/>
          <p:nvPr/>
        </p:nvSpPr>
        <p:spPr>
          <a:xfrm>
            <a:off x="393680" y="1250711"/>
            <a:ext cx="2296081" cy="51992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En kunde opretter en ordre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7CA68-65F0-B55C-1984-78E63F297155}"/>
              </a:ext>
            </a:extLst>
          </p:cNvPr>
          <p:cNvSpPr txBox="1"/>
          <p:nvPr/>
        </p:nvSpPr>
        <p:spPr>
          <a:xfrm>
            <a:off x="516577" y="2155371"/>
            <a:ext cx="11958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Clever skal: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545EC-E6D7-2C67-39FD-84962636F782}"/>
              </a:ext>
            </a:extLst>
          </p:cNvPr>
          <p:cNvSpPr txBox="1"/>
          <p:nvPr/>
        </p:nvSpPr>
        <p:spPr>
          <a:xfrm>
            <a:off x="516577" y="2663219"/>
            <a:ext cx="167834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Validere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B38EC-DBD7-C3EE-F37C-4B43ECEFB025}"/>
              </a:ext>
            </a:extLst>
          </p:cNvPr>
          <p:cNvSpPr txBox="1"/>
          <p:nvPr/>
        </p:nvSpPr>
        <p:spPr>
          <a:xfrm>
            <a:off x="516576" y="3106564"/>
            <a:ext cx="177452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Gemme orden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359FEC-46BC-6B58-880F-9A5B5DC63B08}"/>
              </a:ext>
            </a:extLst>
          </p:cNvPr>
          <p:cNvSpPr txBox="1"/>
          <p:nvPr/>
        </p:nvSpPr>
        <p:spPr>
          <a:xfrm>
            <a:off x="516576" y="3555805"/>
            <a:ext cx="30216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Informere andre systemer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6AF3E-2954-6F87-5A3C-45588965F190}"/>
              </a:ext>
            </a:extLst>
          </p:cNvPr>
          <p:cNvSpPr txBox="1"/>
          <p:nvPr/>
        </p:nvSpPr>
        <p:spPr>
          <a:xfrm>
            <a:off x="516576" y="4005046"/>
            <a:ext cx="31979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a-DK" sz="1600" dirty="0"/>
              <a:t>Udføre evt. efterbehandling</a:t>
            </a:r>
          </a:p>
        </p:txBody>
      </p:sp>
    </p:spTree>
    <p:extLst>
      <p:ext uri="{BB962C8B-B14F-4D97-AF65-F5344CB8AC3E}">
        <p14:creationId xmlns:p14="http://schemas.microsoft.com/office/powerpoint/2010/main" val="392183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/>
      <p:bldP spid="13" grpId="0"/>
      <p:bldP spid="14" grpId="0"/>
      <p:bldP spid="16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D3C06-257A-B5F9-1E88-93323E64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3833A7A-C56F-B785-EC4B-3ECF7D1C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Hvad sker der, når requesten starter?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D1AE1B9-F20A-71D7-42DE-A76275EACA3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322778-75F7-EE7A-9EC1-32FBEF23BA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36EF0D5-D578-C697-47D8-AADC581E48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63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FE15EF-B50F-D177-67E1-85999AB4CAE2}"/>
              </a:ext>
            </a:extLst>
          </p:cNvPr>
          <p:cNvSpPr/>
          <p:nvPr/>
        </p:nvSpPr>
        <p:spPr>
          <a:xfrm>
            <a:off x="5193383" y="1083246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Bruger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93F87B-238F-6298-FC66-8BB470B65BF4}"/>
              </a:ext>
            </a:extLst>
          </p:cNvPr>
          <p:cNvSpPr/>
          <p:nvPr/>
        </p:nvSpPr>
        <p:spPr>
          <a:xfrm>
            <a:off x="5193383" y="2132233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Dynamics 365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531797-7683-89A4-8464-7DAE7C88E37C}"/>
              </a:ext>
            </a:extLst>
          </p:cNvPr>
          <p:cNvSpPr/>
          <p:nvPr/>
        </p:nvSpPr>
        <p:spPr>
          <a:xfrm>
            <a:off x="5193383" y="3181220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Order </a:t>
            </a:r>
            <a:r>
              <a:rPr lang="da-DK" sz="1600" noProof="0" dirty="0" err="1"/>
              <a:t>created</a:t>
            </a:r>
            <a:r>
              <a:rPr lang="da-DK" sz="1600" noProof="0" dirty="0"/>
              <a:t> (event)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917DA9-2BAA-6763-2A60-0673D62B038C}"/>
              </a:ext>
            </a:extLst>
          </p:cNvPr>
          <p:cNvSpPr/>
          <p:nvPr/>
        </p:nvSpPr>
        <p:spPr>
          <a:xfrm>
            <a:off x="5193383" y="4230207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Integration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90A976-1A9C-FC58-70E6-0E4C5159807E}"/>
              </a:ext>
            </a:extLst>
          </p:cNvPr>
          <p:cNvSpPr/>
          <p:nvPr/>
        </p:nvSpPr>
        <p:spPr>
          <a:xfrm>
            <a:off x="5193383" y="5279194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API</a:t>
            </a:r>
            <a:endParaRPr lang="da-DK" sz="1600" noProof="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62A05A-81DB-B755-EFD6-75268C995D4C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6096000" y="1658436"/>
            <a:ext cx="0" cy="47379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4FB8CF-258F-4E75-1A37-7728BD3AFFDA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6096000" y="2707423"/>
            <a:ext cx="0" cy="47379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FCBE57-CE0F-C074-5820-3492C83D1711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6096000" y="3756410"/>
            <a:ext cx="0" cy="47379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783F04-29D5-E012-C524-E336ACB36708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6096000" y="4805397"/>
            <a:ext cx="0" cy="47379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DAB115-7D90-4422-DF8C-1308AD3F9251}"/>
              </a:ext>
            </a:extLst>
          </p:cNvPr>
          <p:cNvCxnSpPr>
            <a:cxnSpLocks/>
          </p:cNvCxnSpPr>
          <p:nvPr/>
        </p:nvCxnSpPr>
        <p:spPr>
          <a:xfrm flipH="1">
            <a:off x="7107569" y="1083245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A24FCB6-83AB-CD91-D65B-9D448296CDFA}"/>
              </a:ext>
            </a:extLst>
          </p:cNvPr>
          <p:cNvSpPr txBox="1"/>
          <p:nvPr/>
        </p:nvSpPr>
        <p:spPr>
          <a:xfrm>
            <a:off x="8374178" y="878398"/>
            <a:ext cx="331707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Sidder derhjemme på </a:t>
            </a:r>
            <a:r>
              <a:rPr lang="da-DK" sz="1600" dirty="0" err="1"/>
              <a:t>Clever.dk</a:t>
            </a:r>
            <a:br>
              <a:rPr lang="da-DK" sz="1600" dirty="0"/>
            </a:br>
            <a:r>
              <a:rPr lang="da-DK" sz="1600" dirty="0"/>
              <a:t>og opretter en ordre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173E52-71B3-7D32-51AD-3991A7AA3F15}"/>
              </a:ext>
            </a:extLst>
          </p:cNvPr>
          <p:cNvCxnSpPr>
            <a:cxnSpLocks/>
          </p:cNvCxnSpPr>
          <p:nvPr/>
        </p:nvCxnSpPr>
        <p:spPr>
          <a:xfrm flipH="1">
            <a:off x="7107569" y="2040806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18A771-B130-8C56-D6D9-9E423D45CEFC}"/>
              </a:ext>
            </a:extLst>
          </p:cNvPr>
          <p:cNvSpPr txBox="1"/>
          <p:nvPr/>
        </p:nvSpPr>
        <p:spPr>
          <a:xfrm>
            <a:off x="8374178" y="1835959"/>
            <a:ext cx="331707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Dynamics gemmer den nye ordre række i Dataverse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A4625D8-16AF-76A2-B341-6599B3876D7C}"/>
              </a:ext>
            </a:extLst>
          </p:cNvPr>
          <p:cNvCxnSpPr>
            <a:cxnSpLocks/>
          </p:cNvCxnSpPr>
          <p:nvPr/>
        </p:nvCxnSpPr>
        <p:spPr>
          <a:xfrm flipH="1">
            <a:off x="7107569" y="3148033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5B12089-FC9A-96CE-7260-8255C773A812}"/>
              </a:ext>
            </a:extLst>
          </p:cNvPr>
          <p:cNvSpPr txBox="1"/>
          <p:nvPr/>
        </p:nvSpPr>
        <p:spPr>
          <a:xfrm>
            <a:off x="8374178" y="2943186"/>
            <a:ext cx="331707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Det udløser en hændelse (event) ...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4CE915-13C3-B98D-0843-B7842743E06B}"/>
              </a:ext>
            </a:extLst>
          </p:cNvPr>
          <p:cNvCxnSpPr>
            <a:cxnSpLocks/>
          </p:cNvCxnSpPr>
          <p:nvPr/>
        </p:nvCxnSpPr>
        <p:spPr>
          <a:xfrm flipH="1">
            <a:off x="7107569" y="4186822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40DA724-6A84-27E5-45B4-27FCC73820C6}"/>
              </a:ext>
            </a:extLst>
          </p:cNvPr>
          <p:cNvSpPr txBox="1"/>
          <p:nvPr/>
        </p:nvSpPr>
        <p:spPr>
          <a:xfrm>
            <a:off x="8374178" y="3981975"/>
            <a:ext cx="331707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... som vores integration reagerer på.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440B82-E619-7667-B9D1-1009FF3340CA}"/>
              </a:ext>
            </a:extLst>
          </p:cNvPr>
          <p:cNvCxnSpPr>
            <a:cxnSpLocks/>
          </p:cNvCxnSpPr>
          <p:nvPr/>
        </p:nvCxnSpPr>
        <p:spPr>
          <a:xfrm flipH="1">
            <a:off x="7107569" y="5225611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78BC691-6FB6-5B95-D66F-4089EA54E9D4}"/>
              </a:ext>
            </a:extLst>
          </p:cNvPr>
          <p:cNvSpPr txBox="1"/>
          <p:nvPr/>
        </p:nvSpPr>
        <p:spPr>
          <a:xfrm>
            <a:off x="8374178" y="5020764"/>
            <a:ext cx="331707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Derefter forlader kommunikationen Dynamics og vores </a:t>
            </a:r>
            <a:r>
              <a:rPr lang="da-DK" sz="1600" dirty="0" err="1"/>
              <a:t>backend</a:t>
            </a:r>
            <a:r>
              <a:rPr lang="da-DK" sz="1600" dirty="0"/>
              <a:t> tager over.</a:t>
            </a:r>
          </a:p>
        </p:txBody>
      </p:sp>
    </p:spTree>
    <p:extLst>
      <p:ext uri="{BB962C8B-B14F-4D97-AF65-F5344CB8AC3E}">
        <p14:creationId xmlns:p14="http://schemas.microsoft.com/office/powerpoint/2010/main" val="379633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20" grpId="0" animBg="1"/>
      <p:bldP spid="21" grpId="0" animBg="1"/>
      <p:bldP spid="22" grpId="0" animBg="1"/>
      <p:bldP spid="36" grpId="0"/>
      <p:bldP spid="40" grpId="0"/>
      <p:bldP spid="42" grpId="0"/>
      <p:bldP spid="44" grpId="0"/>
      <p:bldP spid="4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E861-EECC-975F-EC03-26A657B9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0BCAD42-115D-B154-4FC3-0BC7BA5D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Requestens vej igennem Azure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0B84584-3CA2-AF58-F552-3B4E49FEC01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9A75EFE-B0F6-A619-83EC-CB94CC2918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FDBA21D-DF4F-F5EA-6721-040CBB51FE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64</a:t>
            </a:fld>
            <a:endParaRPr lang="da-DK" noProof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7E6C6-F1E3-3A1F-0A5A-10D7AE47956D}"/>
              </a:ext>
            </a:extLst>
          </p:cNvPr>
          <p:cNvSpPr/>
          <p:nvPr/>
        </p:nvSpPr>
        <p:spPr>
          <a:xfrm>
            <a:off x="5193383" y="1146581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Dynamics 365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9B3FC-F399-959A-FFB9-F8CD9ADCE42F}"/>
              </a:ext>
            </a:extLst>
          </p:cNvPr>
          <p:cNvSpPr/>
          <p:nvPr/>
        </p:nvSpPr>
        <p:spPr>
          <a:xfrm>
            <a:off x="5193383" y="2195568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API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14B95-334C-028C-C84F-3F6A89357009}"/>
              </a:ext>
            </a:extLst>
          </p:cNvPr>
          <p:cNvSpPr/>
          <p:nvPr/>
        </p:nvSpPr>
        <p:spPr>
          <a:xfrm>
            <a:off x="5193383" y="324455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App Service (API)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896F21-C4FF-C5BA-8938-425CC9007F03}"/>
              </a:ext>
            </a:extLst>
          </p:cNvPr>
          <p:cNvSpPr/>
          <p:nvPr/>
        </p:nvSpPr>
        <p:spPr>
          <a:xfrm>
            <a:off x="3388149" y="451323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Azure SQL Server</a:t>
            </a:r>
            <a:endParaRPr lang="da-DK" sz="1600" noProof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E71C3E-373E-66C4-D87B-BBEFB46E266E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96000" y="1721771"/>
            <a:ext cx="0" cy="47379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EE465E-4FB8-586F-B75B-1C1598B3BF4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96000" y="2770758"/>
            <a:ext cx="0" cy="47379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A1DDE7-75F2-FCC1-0F1A-F0E44016002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4290766" y="3819745"/>
            <a:ext cx="1805234" cy="69349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4BC9690-CEBB-AC02-CC8E-8CE88315DA24}"/>
              </a:ext>
            </a:extLst>
          </p:cNvPr>
          <p:cNvSpPr/>
          <p:nvPr/>
        </p:nvSpPr>
        <p:spPr>
          <a:xfrm>
            <a:off x="6586571" y="451323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Service Bus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04BD38-D8A1-39BC-A5D8-B98C8D3C545A}"/>
              </a:ext>
            </a:extLst>
          </p:cNvPr>
          <p:cNvCxnSpPr>
            <a:cxnSpLocks/>
            <a:stCxn id="11" idx="2"/>
            <a:endCxn id="24" idx="0"/>
          </p:cNvCxnSpPr>
          <p:nvPr/>
        </p:nvCxnSpPr>
        <p:spPr>
          <a:xfrm>
            <a:off x="6096000" y="3819745"/>
            <a:ext cx="1393188" cy="69349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6CDAE78-7632-F2E3-11E5-8DB60B91CD8D}"/>
              </a:ext>
            </a:extLst>
          </p:cNvPr>
          <p:cNvSpPr/>
          <p:nvPr/>
        </p:nvSpPr>
        <p:spPr>
          <a:xfrm>
            <a:off x="6586571" y="578191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Anden Azure Integration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075A531-DF2A-8E4F-97AE-54B90B4648CC}"/>
              </a:ext>
            </a:extLst>
          </p:cNvPr>
          <p:cNvCxnSpPr>
            <a:cxnSpLocks/>
            <a:stCxn id="24" idx="2"/>
            <a:endCxn id="31" idx="0"/>
          </p:cNvCxnSpPr>
          <p:nvPr/>
        </p:nvCxnSpPr>
        <p:spPr>
          <a:xfrm>
            <a:off x="7489188" y="5088425"/>
            <a:ext cx="0" cy="693490"/>
          </a:xfrm>
          <a:prstGeom prst="straightConnector1">
            <a:avLst/>
          </a:prstGeom>
          <a:ln w="508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075957-1CAE-9834-D36B-1B59E5741E71}"/>
              </a:ext>
            </a:extLst>
          </p:cNvPr>
          <p:cNvCxnSpPr>
            <a:cxnSpLocks/>
          </p:cNvCxnSpPr>
          <p:nvPr/>
        </p:nvCxnSpPr>
        <p:spPr>
          <a:xfrm flipH="1">
            <a:off x="7234148" y="2140386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0496033-241F-ED4A-56F8-784F4DEB362D}"/>
              </a:ext>
            </a:extLst>
          </p:cNvPr>
          <p:cNvSpPr txBox="1"/>
          <p:nvPr/>
        </p:nvSpPr>
        <p:spPr>
          <a:xfrm>
            <a:off x="8573984" y="1958669"/>
            <a:ext cx="72936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”APIM”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A25E86D-8B1E-1D5B-75B9-B41FD659A9B3}"/>
              </a:ext>
            </a:extLst>
          </p:cNvPr>
          <p:cNvCxnSpPr>
            <a:cxnSpLocks/>
          </p:cNvCxnSpPr>
          <p:nvPr/>
        </p:nvCxnSpPr>
        <p:spPr>
          <a:xfrm flipH="1">
            <a:off x="7188021" y="3139396"/>
            <a:ext cx="1157657" cy="342777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2102E69-06E8-C5F4-10F6-30B183231A7D}"/>
              </a:ext>
            </a:extLst>
          </p:cNvPr>
          <p:cNvSpPr txBox="1"/>
          <p:nvPr/>
        </p:nvSpPr>
        <p:spPr>
          <a:xfrm>
            <a:off x="8527857" y="2957679"/>
            <a:ext cx="12102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”Order API”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ADBA658-A85E-5950-A758-237D412789E3}"/>
              </a:ext>
            </a:extLst>
          </p:cNvPr>
          <p:cNvCxnSpPr>
            <a:cxnSpLocks/>
          </p:cNvCxnSpPr>
          <p:nvPr/>
        </p:nvCxnSpPr>
        <p:spPr>
          <a:xfrm>
            <a:off x="1952157" y="4513235"/>
            <a:ext cx="1147303" cy="34377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26401B5-A371-CFB9-F7C6-BE06E236FBCB}"/>
              </a:ext>
            </a:extLst>
          </p:cNvPr>
          <p:cNvSpPr txBox="1"/>
          <p:nvPr/>
        </p:nvSpPr>
        <p:spPr>
          <a:xfrm>
            <a:off x="1347023" y="4166490"/>
            <a:ext cx="7261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”Raito”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29FD757-DDD7-359A-647A-56FF74CCDDEF}"/>
              </a:ext>
            </a:extLst>
          </p:cNvPr>
          <p:cNvSpPr/>
          <p:nvPr/>
        </p:nvSpPr>
        <p:spPr>
          <a:xfrm>
            <a:off x="6550612" y="4394935"/>
            <a:ext cx="1928369" cy="20661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231920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4" grpId="0" animBg="1"/>
      <p:bldP spid="31" grpId="0" animBg="1"/>
      <p:bldP spid="47" grpId="0"/>
      <p:bldP spid="49" grpId="0"/>
      <p:bldP spid="51" grpId="0"/>
      <p:bldP spid="5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C316-D0A4-BD3B-F37A-B1F60A41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2C99EC5-D4FE-C502-CF2F-79E7A1261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Den asynkrone del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D14B3-1333-2CB3-6524-3D1B21A52C1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E320A59-18CA-FD21-0D37-16803996702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493595B-4D5F-CBC8-5097-20C1F6E525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65</a:t>
            </a:fld>
            <a:endParaRPr lang="da-DK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C6884-99BA-633D-4C71-07E196AB5E38}"/>
              </a:ext>
            </a:extLst>
          </p:cNvPr>
          <p:cNvSpPr/>
          <p:nvPr/>
        </p:nvSpPr>
        <p:spPr>
          <a:xfrm>
            <a:off x="5309974" y="1633468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Service Bus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2DD84-7743-93AC-098F-4B7094D8B264}"/>
              </a:ext>
            </a:extLst>
          </p:cNvPr>
          <p:cNvSpPr/>
          <p:nvPr/>
        </p:nvSpPr>
        <p:spPr>
          <a:xfrm>
            <a:off x="5309974" y="2902148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Function App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395608-A78A-00B6-02C6-B22F2B94633A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6212591" y="2208658"/>
            <a:ext cx="0" cy="693490"/>
          </a:xfrm>
          <a:prstGeom prst="straightConnector1">
            <a:avLst/>
          </a:prstGeom>
          <a:ln w="5080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B51FDE-13D9-AD36-08CF-8386952DA89E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>
            <a:off x="6212591" y="3477338"/>
            <a:ext cx="0" cy="770681"/>
          </a:xfrm>
          <a:prstGeom prst="straightConnector1">
            <a:avLst/>
          </a:prstGeom>
          <a:ln w="5080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94326-C471-A3E8-BB55-66D3126FD150}"/>
              </a:ext>
            </a:extLst>
          </p:cNvPr>
          <p:cNvSpPr/>
          <p:nvPr/>
        </p:nvSpPr>
        <p:spPr>
          <a:xfrm>
            <a:off x="5309974" y="4248019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dirty="0"/>
              <a:t>Eksternt system</a:t>
            </a:r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229381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0D82-D265-1D5C-1C4C-9562B5B9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7456E18-1A12-45A2-A079-F50AF08CF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Hvad hvis noget går galt?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C647184-C829-8D81-04B4-0736FC94C8F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67FCF85-24E0-4120-C279-790F474B0E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72366C2-01D1-9BB0-97CE-95D704B6F8D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66</a:t>
            </a:fld>
            <a:endParaRPr lang="da-DK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41370-E02F-D963-6ED8-D1F166DD0F40}"/>
              </a:ext>
            </a:extLst>
          </p:cNvPr>
          <p:cNvSpPr/>
          <p:nvPr/>
        </p:nvSpPr>
        <p:spPr>
          <a:xfrm>
            <a:off x="5193383" y="871467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Function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5C4F67-A711-639D-09BF-ED7610D0B681}"/>
              </a:ext>
            </a:extLst>
          </p:cNvPr>
          <p:cNvSpPr/>
          <p:nvPr/>
        </p:nvSpPr>
        <p:spPr>
          <a:xfrm>
            <a:off x="5193383" y="2225862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Eksternt system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25590C-E646-16A0-B8FB-B43570F54268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96000" y="1446657"/>
            <a:ext cx="0" cy="77920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&quot;No&quot; Symbol 19">
            <a:extLst>
              <a:ext uri="{FF2B5EF4-FFF2-40B4-BE49-F238E27FC236}">
                <a16:creationId xmlns:a16="http://schemas.microsoft.com/office/drawing/2014/main" id="{18A388F3-0377-14D6-3237-EA59AEC04856}"/>
              </a:ext>
            </a:extLst>
          </p:cNvPr>
          <p:cNvSpPr/>
          <p:nvPr/>
        </p:nvSpPr>
        <p:spPr>
          <a:xfrm>
            <a:off x="6198923" y="1521013"/>
            <a:ext cx="540324" cy="468847"/>
          </a:xfrm>
          <a:prstGeom prst="noSmoking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BDE7B5-DF85-9073-A8AE-A5E932B37B93}"/>
              </a:ext>
            </a:extLst>
          </p:cNvPr>
          <p:cNvCxnSpPr>
            <a:cxnSpLocks/>
          </p:cNvCxnSpPr>
          <p:nvPr/>
        </p:nvCxnSpPr>
        <p:spPr>
          <a:xfrm flipH="1">
            <a:off x="6905962" y="1495493"/>
            <a:ext cx="1038630" cy="25994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24E4505-E136-9E97-EB4A-86E22374A222}"/>
              </a:ext>
            </a:extLst>
          </p:cNvPr>
          <p:cNvSpPr txBox="1"/>
          <p:nvPr/>
        </p:nvSpPr>
        <p:spPr>
          <a:xfrm>
            <a:off x="8170223" y="1274792"/>
            <a:ext cx="29687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Det eksterne system fejlede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462A14-3D67-2F50-4700-8D2E7BAA08BB}"/>
              </a:ext>
            </a:extLst>
          </p:cNvPr>
          <p:cNvSpPr/>
          <p:nvPr/>
        </p:nvSpPr>
        <p:spPr>
          <a:xfrm>
            <a:off x="5193383" y="3375789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 err="1"/>
              <a:t>Retry</a:t>
            </a:r>
            <a:endParaRPr lang="da-DK" sz="1600" noProof="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34D0FF-7B2A-7CFC-E223-4E8DB56403E2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6096000" y="2801052"/>
            <a:ext cx="0" cy="57473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14B9DA94-6FE1-938A-B799-A9072E73123D}"/>
              </a:ext>
            </a:extLst>
          </p:cNvPr>
          <p:cNvSpPr/>
          <p:nvPr/>
        </p:nvSpPr>
        <p:spPr>
          <a:xfrm>
            <a:off x="6198923" y="2853996"/>
            <a:ext cx="540324" cy="468847"/>
          </a:xfrm>
          <a:prstGeom prst="noSmoking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537458-5EA8-113B-E851-FD42CBE46DAA}"/>
              </a:ext>
            </a:extLst>
          </p:cNvPr>
          <p:cNvCxnSpPr>
            <a:cxnSpLocks/>
          </p:cNvCxnSpPr>
          <p:nvPr/>
        </p:nvCxnSpPr>
        <p:spPr>
          <a:xfrm flipH="1">
            <a:off x="6905962" y="2848098"/>
            <a:ext cx="1038630" cy="25994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90CD510-29B8-2357-FC24-1BF707972F69}"/>
              </a:ext>
            </a:extLst>
          </p:cNvPr>
          <p:cNvSpPr txBox="1"/>
          <p:nvPr/>
        </p:nvSpPr>
        <p:spPr>
          <a:xfrm>
            <a:off x="8170223" y="2627397"/>
            <a:ext cx="14186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Fejlede igen...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B34FF3-04BD-C251-BB58-ABFC2651AA1A}"/>
              </a:ext>
            </a:extLst>
          </p:cNvPr>
          <p:cNvSpPr/>
          <p:nvPr/>
        </p:nvSpPr>
        <p:spPr>
          <a:xfrm>
            <a:off x="5193383" y="4527375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 err="1"/>
              <a:t>Retry</a:t>
            </a:r>
            <a:endParaRPr lang="da-DK" sz="1600" noProof="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7C2559-A759-329E-A9C7-A32F73012FB5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6096000" y="3952638"/>
            <a:ext cx="0" cy="57473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&quot;No&quot; Symbol 38">
            <a:extLst>
              <a:ext uri="{FF2B5EF4-FFF2-40B4-BE49-F238E27FC236}">
                <a16:creationId xmlns:a16="http://schemas.microsoft.com/office/drawing/2014/main" id="{5F8C344E-7393-2117-9C75-C7FBBBACBFF1}"/>
              </a:ext>
            </a:extLst>
          </p:cNvPr>
          <p:cNvSpPr/>
          <p:nvPr/>
        </p:nvSpPr>
        <p:spPr>
          <a:xfrm>
            <a:off x="6198923" y="4005582"/>
            <a:ext cx="540324" cy="468847"/>
          </a:xfrm>
          <a:prstGeom prst="noSmoking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16D25EF-B738-A80A-4F83-A1EDC16A6711}"/>
              </a:ext>
            </a:extLst>
          </p:cNvPr>
          <p:cNvCxnSpPr>
            <a:cxnSpLocks/>
          </p:cNvCxnSpPr>
          <p:nvPr/>
        </p:nvCxnSpPr>
        <p:spPr>
          <a:xfrm flipH="1">
            <a:off x="6905962" y="3999684"/>
            <a:ext cx="1038630" cy="25994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4820C11-A2FC-08C9-238D-3D904914C5DA}"/>
              </a:ext>
            </a:extLst>
          </p:cNvPr>
          <p:cNvSpPr txBox="1"/>
          <p:nvPr/>
        </p:nvSpPr>
        <p:spPr>
          <a:xfrm>
            <a:off x="8170223" y="3778983"/>
            <a:ext cx="97462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Og igen...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DBF661-ADC8-17D9-38CF-68EF475F8280}"/>
              </a:ext>
            </a:extLst>
          </p:cNvPr>
          <p:cNvSpPr/>
          <p:nvPr/>
        </p:nvSpPr>
        <p:spPr>
          <a:xfrm>
            <a:off x="5193383" y="5677302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Dead-letter kø / fejlhåndtering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0FC433-0810-EF28-ABC0-0DC9533DC273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>
            <a:off x="6096000" y="5102565"/>
            <a:ext cx="0" cy="57473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24D277-B3DD-604E-4921-DDAF05B42FDA}"/>
              </a:ext>
            </a:extLst>
          </p:cNvPr>
          <p:cNvCxnSpPr>
            <a:cxnSpLocks/>
          </p:cNvCxnSpPr>
          <p:nvPr/>
        </p:nvCxnSpPr>
        <p:spPr>
          <a:xfrm flipH="1">
            <a:off x="7131593" y="5677302"/>
            <a:ext cx="1038630" cy="259943"/>
          </a:xfrm>
          <a:prstGeom prst="straightConnector1">
            <a:avLst/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AA1D5E2-B4AA-6B07-9E08-18945FDC42CB}"/>
              </a:ext>
            </a:extLst>
          </p:cNvPr>
          <p:cNvSpPr txBox="1"/>
          <p:nvPr/>
        </p:nvSpPr>
        <p:spPr>
          <a:xfrm>
            <a:off x="8383979" y="5575465"/>
            <a:ext cx="20823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Platformens skærm</a:t>
            </a:r>
          </a:p>
        </p:txBody>
      </p:sp>
    </p:spTree>
    <p:extLst>
      <p:ext uri="{BB962C8B-B14F-4D97-AF65-F5344CB8AC3E}">
        <p14:creationId xmlns:p14="http://schemas.microsoft.com/office/powerpoint/2010/main" val="412656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9" grpId="0"/>
      <p:bldP spid="30" grpId="0" animBg="1"/>
      <p:bldP spid="32" grpId="0" animBg="1"/>
      <p:bldP spid="36" grpId="0"/>
      <p:bldP spid="37" grpId="0" animBg="1"/>
      <p:bldP spid="39" grpId="0" animBg="1"/>
      <p:bldP spid="41" grpId="0"/>
      <p:bldP spid="42" grpId="0" animBg="1"/>
      <p:bldP spid="4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321F-C391-0168-0E8A-21F45595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4261D1A-6590-6537-AF2E-5EB35F367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Hvad sker der rundt om requesten? 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59F7C3A-04FC-ED39-8E25-3DCE1E20D0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E9F4A13-0C67-AAE2-EE0B-850EBFF8942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F99FE51-ED22-B841-3A9C-0C16ED4E21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67</a:t>
            </a:fld>
            <a:endParaRPr lang="da-DK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7045E7-B25A-8908-117A-9041AB32920B}"/>
              </a:ext>
            </a:extLst>
          </p:cNvPr>
          <p:cNvSpPr/>
          <p:nvPr/>
        </p:nvSpPr>
        <p:spPr>
          <a:xfrm>
            <a:off x="5193383" y="871467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Service (API)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D127DA-F989-33AC-212C-FB457128FB1B}"/>
              </a:ext>
            </a:extLst>
          </p:cNvPr>
          <p:cNvSpPr/>
          <p:nvPr/>
        </p:nvSpPr>
        <p:spPr>
          <a:xfrm>
            <a:off x="3388149" y="2027332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Managed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EE137-D5F9-4FCE-32ED-95680CE04E31}"/>
              </a:ext>
            </a:extLst>
          </p:cNvPr>
          <p:cNvSpPr/>
          <p:nvPr/>
        </p:nvSpPr>
        <p:spPr>
          <a:xfrm>
            <a:off x="6998617" y="2027332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Key Vault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146E2-A965-6235-FA80-4FBA606B8D8D}"/>
              </a:ext>
            </a:extLst>
          </p:cNvPr>
          <p:cNvSpPr/>
          <p:nvPr/>
        </p:nvSpPr>
        <p:spPr>
          <a:xfrm>
            <a:off x="3388149" y="3312856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Azure </a:t>
            </a:r>
            <a:r>
              <a:rPr lang="da-DK" sz="1600" noProof="0" dirty="0" err="1"/>
              <a:t>resources</a:t>
            </a:r>
            <a:endParaRPr lang="da-DK" sz="1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C5866B-BCF0-D7BD-7AFD-8525647B076D}"/>
              </a:ext>
            </a:extLst>
          </p:cNvPr>
          <p:cNvSpPr/>
          <p:nvPr/>
        </p:nvSpPr>
        <p:spPr>
          <a:xfrm>
            <a:off x="5193383" y="4482977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Hele flowet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56968E-BC52-709C-7CEB-2F25E7747A3A}"/>
              </a:ext>
            </a:extLst>
          </p:cNvPr>
          <p:cNvSpPr/>
          <p:nvPr/>
        </p:nvSpPr>
        <p:spPr>
          <a:xfrm>
            <a:off x="5193383" y="5480906"/>
            <a:ext cx="1805234" cy="5751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Application </a:t>
            </a:r>
            <a:r>
              <a:rPr lang="da-DK" sz="1600" noProof="0" dirty="0" err="1"/>
              <a:t>Insights</a:t>
            </a:r>
            <a:endParaRPr lang="da-DK" sz="1600" noProof="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865342-F751-7A21-4BDA-5003CFA67E22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 flipH="1">
            <a:off x="4290766" y="1446657"/>
            <a:ext cx="1805234" cy="58067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B0BCF1-8119-4E64-9D8A-B773D9E45AD3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>
            <a:off x="6096000" y="1446657"/>
            <a:ext cx="1805234" cy="58067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138779-844D-0500-D52E-1C3734BF2014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4290766" y="2602522"/>
            <a:ext cx="0" cy="71033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ADE7A5-3647-7585-A469-EC95F1BED9F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6096000" y="5058167"/>
            <a:ext cx="0" cy="42273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18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4" grpId="0" animBg="1"/>
      <p:bldP spid="8" grpId="0" animBg="1"/>
      <p:bldP spid="14" grpId="0" animBg="1"/>
      <p:bldP spid="1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8ECA-5D3C-248A-9E13-539AD5DD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4D0C5A7-4EE7-1BE9-4008-2BBA2952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Så hvad brugte vi egentlig Azure til?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908D6C1-CC99-E2B1-2FA7-F718F9BF0F7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803E9CC-B0F3-F278-972B-EE25745E10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C190EA0-64C0-3AF4-CBC7-068089A77C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68</a:t>
            </a:fld>
            <a:endParaRPr lang="da-DK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C4990-2589-9B03-62F5-612503094D52}"/>
              </a:ext>
            </a:extLst>
          </p:cNvPr>
          <p:cNvSpPr txBox="1"/>
          <p:nvPr/>
        </p:nvSpPr>
        <p:spPr>
          <a:xfrm>
            <a:off x="3270241" y="2405261"/>
            <a:ext cx="212558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Køre vores .NET API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236FB6-D16C-6DBC-D1F9-C70A4BC2A0E5}"/>
              </a:ext>
            </a:extLst>
          </p:cNvPr>
          <p:cNvSpPr txBox="1"/>
          <p:nvPr/>
        </p:nvSpPr>
        <p:spPr>
          <a:xfrm>
            <a:off x="3270241" y="2892782"/>
            <a:ext cx="217367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Eksponere/styre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99D33-7AD8-251E-5208-A8D17BEB6647}"/>
              </a:ext>
            </a:extLst>
          </p:cNvPr>
          <p:cNvSpPr txBox="1"/>
          <p:nvPr/>
        </p:nvSpPr>
        <p:spPr>
          <a:xfrm>
            <a:off x="3270241" y="3380303"/>
            <a:ext cx="13513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Gemme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03DAA-8548-A4DC-895C-149A72662FC0}"/>
              </a:ext>
            </a:extLst>
          </p:cNvPr>
          <p:cNvSpPr txBox="1"/>
          <p:nvPr/>
        </p:nvSpPr>
        <p:spPr>
          <a:xfrm>
            <a:off x="3270241" y="3867824"/>
            <a:ext cx="255518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Kommunikere asynkront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29812-391F-E159-092D-F0B473B37140}"/>
              </a:ext>
            </a:extLst>
          </p:cNvPr>
          <p:cNvSpPr txBox="1"/>
          <p:nvPr/>
        </p:nvSpPr>
        <p:spPr>
          <a:xfrm>
            <a:off x="3270240" y="4355345"/>
            <a:ext cx="215443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Køre baggrundslogik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0BEF6-F645-EC9B-D8D0-D966702AF651}"/>
              </a:ext>
            </a:extLst>
          </p:cNvPr>
          <p:cNvSpPr txBox="1"/>
          <p:nvPr/>
        </p:nvSpPr>
        <p:spPr>
          <a:xfrm>
            <a:off x="3270239" y="4842866"/>
            <a:ext cx="22409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Adgang til ressourcer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D43B4-90F0-829B-0BAB-4A88FDD32E4F}"/>
              </a:ext>
            </a:extLst>
          </p:cNvPr>
          <p:cNvSpPr txBox="1"/>
          <p:nvPr/>
        </p:nvSpPr>
        <p:spPr>
          <a:xfrm>
            <a:off x="3270238" y="5330387"/>
            <a:ext cx="125354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Obersability</a:t>
            </a:r>
            <a:endParaRPr lang="da-DK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3FEF0C-E3BD-617B-C5F9-6916E60D33B5}"/>
              </a:ext>
            </a:extLst>
          </p:cNvPr>
          <p:cNvSpPr txBox="1"/>
          <p:nvPr/>
        </p:nvSpPr>
        <p:spPr>
          <a:xfrm>
            <a:off x="6908048" y="2405261"/>
            <a:ext cx="12551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 Service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2F910A-F004-CB16-E2B1-F93C60256674}"/>
              </a:ext>
            </a:extLst>
          </p:cNvPr>
          <p:cNvSpPr txBox="1"/>
          <p:nvPr/>
        </p:nvSpPr>
        <p:spPr>
          <a:xfrm>
            <a:off x="6908048" y="2892782"/>
            <a:ext cx="180017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API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B9E06-4966-73BD-E29B-379B3401131A}"/>
              </a:ext>
            </a:extLst>
          </p:cNvPr>
          <p:cNvSpPr txBox="1"/>
          <p:nvPr/>
        </p:nvSpPr>
        <p:spPr>
          <a:xfrm>
            <a:off x="6908048" y="3380302"/>
            <a:ext cx="112050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Azure SQL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4DAE22-9625-8B11-6C77-B83BF0C51A3F}"/>
              </a:ext>
            </a:extLst>
          </p:cNvPr>
          <p:cNvSpPr txBox="1"/>
          <p:nvPr/>
        </p:nvSpPr>
        <p:spPr>
          <a:xfrm>
            <a:off x="6908048" y="3867824"/>
            <a:ext cx="1226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Service Bus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B98E02-DA7F-1640-7315-72973D5C5F50}"/>
              </a:ext>
            </a:extLst>
          </p:cNvPr>
          <p:cNvSpPr txBox="1"/>
          <p:nvPr/>
        </p:nvSpPr>
        <p:spPr>
          <a:xfrm>
            <a:off x="6908048" y="4355345"/>
            <a:ext cx="13914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Function App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14D8C8-B015-F1E8-DCA8-4AC437E1EC06}"/>
              </a:ext>
            </a:extLst>
          </p:cNvPr>
          <p:cNvSpPr txBox="1"/>
          <p:nvPr/>
        </p:nvSpPr>
        <p:spPr>
          <a:xfrm>
            <a:off x="6908048" y="4842866"/>
            <a:ext cx="173284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Managed </a:t>
            </a:r>
            <a:r>
              <a:rPr lang="da-DK" sz="1600" dirty="0" err="1"/>
              <a:t>Idenity</a:t>
            </a:r>
            <a:endParaRPr lang="da-DK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602D84-EE13-067B-EDA3-2B8D70267EFC}"/>
              </a:ext>
            </a:extLst>
          </p:cNvPr>
          <p:cNvSpPr txBox="1"/>
          <p:nvPr/>
        </p:nvSpPr>
        <p:spPr>
          <a:xfrm>
            <a:off x="6908048" y="5330387"/>
            <a:ext cx="20326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sz="1600" dirty="0"/>
              <a:t>Application </a:t>
            </a:r>
            <a:r>
              <a:rPr lang="da-DK" sz="1600" dirty="0" err="1"/>
              <a:t>Insights</a:t>
            </a:r>
            <a:endParaRPr lang="da-DK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C00EF3-53C2-4999-E840-EA714F10A1E1}"/>
              </a:ext>
            </a:extLst>
          </p:cNvPr>
          <p:cNvSpPr/>
          <p:nvPr/>
        </p:nvSpPr>
        <p:spPr>
          <a:xfrm>
            <a:off x="3270241" y="167312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Problem</a:t>
            </a:r>
            <a:endParaRPr lang="da-DK" sz="1600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469372-FCCE-D2D4-250F-AB74275C183D}"/>
              </a:ext>
            </a:extLst>
          </p:cNvPr>
          <p:cNvSpPr/>
          <p:nvPr/>
        </p:nvSpPr>
        <p:spPr>
          <a:xfrm>
            <a:off x="6908048" y="167312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Azure-byggeklods</a:t>
            </a:r>
            <a:endParaRPr lang="da-DK" sz="1600" noProof="0" dirty="0"/>
          </a:p>
        </p:txBody>
      </p:sp>
    </p:spTree>
    <p:extLst>
      <p:ext uri="{BB962C8B-B14F-4D97-AF65-F5344CB8AC3E}">
        <p14:creationId xmlns:p14="http://schemas.microsoft.com/office/powerpoint/2010/main" val="357564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  <p:bldP spid="28" grpId="0"/>
      <p:bldP spid="29" grpId="0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C40B-C937-C661-413A-EE39F7C6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FEAAE143-8210-6C80-E5A5-EA58F6E63A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D366A266-A769-9379-9703-813386641AA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E15A027-FBEA-ED9E-2493-B87C9006BE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er Azure organiseret?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Et konkret business-scenarie</a:t>
            </a:r>
          </a:p>
          <a:p>
            <a:endParaRPr lang="da-DK" sz="2000" noProof="1"/>
          </a:p>
          <a:p>
            <a:r>
              <a:rPr lang="da-DK" sz="2000" noProof="1"/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B674226-893C-50C1-33D7-123F3E9195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69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0BA6EBAE-BDD1-1959-D619-23C4AF7413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07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09</a:t>
            </a:r>
          </a:p>
          <a:p>
            <a:endParaRPr lang="da-DK" sz="2000" noProof="1"/>
          </a:p>
          <a:p>
            <a:r>
              <a:rPr lang="da-DK" sz="2000" noProof="1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FF7271-9079-59FA-7076-A5D9D0DF549A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648AD9-D02D-9FDE-27DF-564716F28255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21100454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45CD3-473E-AF1B-1834-1F3BE1EE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Closeup of keyboard">
            <a:extLst>
              <a:ext uri="{FF2B5EF4-FFF2-40B4-BE49-F238E27FC236}">
                <a16:creationId xmlns:a16="http://schemas.microsoft.com/office/drawing/2014/main" id="{C1D5E958-5A12-2E9A-5D82-3E02F3C291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E3FA66A-803C-B7AF-EA92-29EB63F538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31C32AA7-4D32-46CB-ABB0-3FCE5FA44E81}" type="datetime1">
              <a:rPr lang="da-DK" noProof="1" smtClean="0"/>
              <a:pPr>
                <a:spcAft>
                  <a:spcPts val="600"/>
                </a:spcAft>
              </a:pPr>
              <a:t>22.09.2026</a:t>
            </a:fld>
            <a:endParaRPr lang="da-DK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1372300-E664-B438-39A4-F8878EF0D4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3AA811B-2EBD-4900-905E-5BE206449611}" type="slidenum">
              <a:rPr lang="da-DK" noProof="1" smtClean="0"/>
              <a:pPr>
                <a:spcAft>
                  <a:spcPts val="600"/>
                </a:spcAft>
              </a:pPr>
              <a:t>70</a:t>
            </a:fld>
            <a:endParaRPr lang="da-DK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F052F10-42C6-0FF9-0CEC-1260FF654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" y="395288"/>
            <a:ext cx="9663113" cy="682466"/>
          </a:xfrm>
        </p:spPr>
        <p:txBody>
          <a:bodyPr anchor="t">
            <a:normAutofit/>
          </a:bodyPr>
          <a:lstStyle/>
          <a:p>
            <a:r>
              <a:rPr lang="da-DK" noProof="1"/>
              <a:t>Opsummering og konklusion</a:t>
            </a:r>
          </a:p>
        </p:txBody>
      </p:sp>
    </p:spTree>
    <p:extLst>
      <p:ext uri="{BB962C8B-B14F-4D97-AF65-F5344CB8AC3E}">
        <p14:creationId xmlns:p14="http://schemas.microsoft.com/office/powerpoint/2010/main" val="2285047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6A62-1A76-DFB2-9563-87EE43B8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C942334-E5EF-3991-E990-6528B816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Hvad skal i huske?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A160195-1836-53A1-70DB-6684A175B0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25463E9-C111-7A36-9837-287D23D598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4A0764A-F266-E23F-992B-20EDEB6A966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71</a:t>
            </a:fld>
            <a:endParaRPr lang="da-DK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D3050-C169-5ABF-5E0D-6250C830DA00}"/>
              </a:ext>
            </a:extLst>
          </p:cNvPr>
          <p:cNvSpPr txBox="1"/>
          <p:nvPr/>
        </p:nvSpPr>
        <p:spPr>
          <a:xfrm>
            <a:off x="166036" y="1269166"/>
            <a:ext cx="446436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Cloud </a:t>
            </a:r>
            <a:r>
              <a:rPr lang="da-DK" sz="1600" dirty="0"/>
              <a:t>er en måde at få IT-infrastruktur på.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DFC83-BAE1-115D-E7DD-30DC8C9E8A3D}"/>
              </a:ext>
            </a:extLst>
          </p:cNvPr>
          <p:cNvSpPr txBox="1"/>
          <p:nvPr/>
        </p:nvSpPr>
        <p:spPr>
          <a:xfrm>
            <a:off x="166036" y="1962085"/>
            <a:ext cx="37478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Azure</a:t>
            </a:r>
            <a:r>
              <a:rPr lang="da-DK" sz="1600" dirty="0"/>
              <a:t> er Microsofts cloud-platform.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B5BC6-BB9C-7724-320B-91C743FEDCF5}"/>
              </a:ext>
            </a:extLst>
          </p:cNvPr>
          <p:cNvSpPr txBox="1"/>
          <p:nvPr/>
        </p:nvSpPr>
        <p:spPr>
          <a:xfrm>
            <a:off x="166036" y="2655004"/>
            <a:ext cx="66508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Resources</a:t>
            </a:r>
            <a:r>
              <a:rPr lang="da-DK" sz="1600" dirty="0"/>
              <a:t> er de konkrete services, vi bygger vores løsninger af.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1BCD3-97BF-FDF0-107D-64AEC93FE077}"/>
              </a:ext>
            </a:extLst>
          </p:cNvPr>
          <p:cNvSpPr txBox="1"/>
          <p:nvPr/>
        </p:nvSpPr>
        <p:spPr>
          <a:xfrm>
            <a:off x="166036" y="3347923"/>
            <a:ext cx="62068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C#/.NET </a:t>
            </a:r>
            <a:r>
              <a:rPr lang="da-DK" sz="1600" dirty="0"/>
              <a:t>er vores kode – Azure leverer miljøet omkring den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950166-F4D2-2884-F7C9-40DA95B5A592}"/>
              </a:ext>
            </a:extLst>
          </p:cNvPr>
          <p:cNvSpPr txBox="1"/>
          <p:nvPr/>
        </p:nvSpPr>
        <p:spPr>
          <a:xfrm>
            <a:off x="166036" y="4040842"/>
            <a:ext cx="655147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Dynamics </a:t>
            </a:r>
            <a:r>
              <a:rPr lang="da-DK" sz="1600" dirty="0"/>
              <a:t>365 kan integrere med vores Azure/.NET-løsninger.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0CA6B3-233B-3E60-573A-9EE03E0CCF89}"/>
              </a:ext>
            </a:extLst>
          </p:cNvPr>
          <p:cNvSpPr/>
          <p:nvPr/>
        </p:nvSpPr>
        <p:spPr>
          <a:xfrm>
            <a:off x="8910359" y="934345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Dynamics 365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B49B44-AA8F-2B59-053A-00E1C9ACE377}"/>
              </a:ext>
            </a:extLst>
          </p:cNvPr>
          <p:cNvSpPr/>
          <p:nvPr/>
        </p:nvSpPr>
        <p:spPr>
          <a:xfrm>
            <a:off x="8364708" y="1910035"/>
            <a:ext cx="2896536" cy="317260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1600" noProof="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5AF0E0-F00A-F40C-556E-DB89D30B51AB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>
            <a:off x="9812976" y="1509535"/>
            <a:ext cx="0" cy="795353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9AD0A4A-17E1-DF57-EB90-F0F3C85AFAD1}"/>
              </a:ext>
            </a:extLst>
          </p:cNvPr>
          <p:cNvSpPr txBox="1"/>
          <p:nvPr/>
        </p:nvSpPr>
        <p:spPr>
          <a:xfrm>
            <a:off x="8463094" y="1961614"/>
            <a:ext cx="60593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8BFC36-417D-79D6-0E37-6B39B3C2367D}"/>
              </a:ext>
            </a:extLst>
          </p:cNvPr>
          <p:cNvSpPr/>
          <p:nvPr/>
        </p:nvSpPr>
        <p:spPr>
          <a:xfrm>
            <a:off x="8910359" y="2304888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API Management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F2A261-8131-50B1-FAF9-B5E0A4D85EE4}"/>
              </a:ext>
            </a:extLst>
          </p:cNvPr>
          <p:cNvSpPr/>
          <p:nvPr/>
        </p:nvSpPr>
        <p:spPr>
          <a:xfrm>
            <a:off x="8910359" y="3291149"/>
            <a:ext cx="1805234" cy="575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sz="1600" noProof="0" dirty="0"/>
              <a:t>App Service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96EDD1-939C-408E-A63B-CB60374AE8D5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9812976" y="2880078"/>
            <a:ext cx="0" cy="41107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A249FCF-4388-B381-5591-942DE5E1AE57}"/>
              </a:ext>
            </a:extLst>
          </p:cNvPr>
          <p:cNvSpPr txBox="1"/>
          <p:nvPr/>
        </p:nvSpPr>
        <p:spPr>
          <a:xfrm>
            <a:off x="8526581" y="4423246"/>
            <a:ext cx="65898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Azure SQL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C5DC6E-7272-C60E-81E1-4DDDAD3D2F8F}"/>
              </a:ext>
            </a:extLst>
          </p:cNvPr>
          <p:cNvSpPr txBox="1"/>
          <p:nvPr/>
        </p:nvSpPr>
        <p:spPr>
          <a:xfrm>
            <a:off x="9440670" y="4423246"/>
            <a:ext cx="78273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/>
              <a:t>Service Bus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0FCAA5-EAE9-93AC-80EF-20AC1CFCA779}"/>
              </a:ext>
            </a:extLst>
          </p:cNvPr>
          <p:cNvSpPr txBox="1"/>
          <p:nvPr/>
        </p:nvSpPr>
        <p:spPr>
          <a:xfrm>
            <a:off x="10383572" y="4417309"/>
            <a:ext cx="8354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 err="1"/>
              <a:t>Blob</a:t>
            </a:r>
            <a:r>
              <a:rPr lang="da-DK" sz="1600" dirty="0"/>
              <a:t> Storage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58BCBD-1922-F54A-A2C1-7ED3F6EBC81D}"/>
              </a:ext>
            </a:extLst>
          </p:cNvPr>
          <p:cNvCxnSpPr>
            <a:cxnSpLocks/>
            <a:stCxn id="34" idx="2"/>
            <a:endCxn id="41" idx="0"/>
          </p:cNvCxnSpPr>
          <p:nvPr/>
        </p:nvCxnSpPr>
        <p:spPr>
          <a:xfrm flipH="1">
            <a:off x="8856072" y="3866339"/>
            <a:ext cx="956904" cy="55690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FFEFB03-4C26-C942-1C32-2EE122E6D3AC}"/>
              </a:ext>
            </a:extLst>
          </p:cNvPr>
          <p:cNvCxnSpPr>
            <a:cxnSpLocks/>
            <a:stCxn id="34" idx="2"/>
            <a:endCxn id="42" idx="0"/>
          </p:cNvCxnSpPr>
          <p:nvPr/>
        </p:nvCxnSpPr>
        <p:spPr>
          <a:xfrm>
            <a:off x="9812976" y="3866339"/>
            <a:ext cx="19061" cy="55690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674C05-40AE-67A5-AFA0-EF73D9E3045B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>
            <a:off x="9812976" y="3866339"/>
            <a:ext cx="988296" cy="55097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34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0" grpId="0"/>
      <p:bldP spid="14" grpId="0"/>
      <p:bldP spid="15" grpId="0" animBg="1"/>
      <p:bldP spid="16" grpId="0" animBg="1"/>
      <p:bldP spid="32" grpId="0"/>
      <p:bldP spid="33" grpId="0" animBg="1"/>
      <p:bldP spid="34" grpId="0" animBg="1"/>
      <p:bldP spid="41" grpId="0"/>
      <p:bldP spid="42" grpId="0"/>
      <p:bldP spid="4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D3AE-2A9F-4E76-3899-A18A7B21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8128734-82DF-1EF4-CA5E-761833B3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Hvad er den store forskel?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CC42FE6-DC2E-4882-E025-93769C2786D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75640A1-2AC3-5A79-D6FC-B90DBD7F7D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A70DC43-698F-402D-2315-A6E9410811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72</a:t>
            </a:fld>
            <a:endParaRPr lang="da-DK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341EC-788C-2E06-01A1-FDAAD8D2EED5}"/>
              </a:ext>
            </a:extLst>
          </p:cNvPr>
          <p:cNvSpPr/>
          <p:nvPr/>
        </p:nvSpPr>
        <p:spPr>
          <a:xfrm>
            <a:off x="1444647" y="1471246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/>
              <a:t>Fra</a:t>
            </a:r>
            <a:endParaRPr lang="da-DK" sz="1600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F1CA3-E0FD-C699-57A3-1965C78398C0}"/>
              </a:ext>
            </a:extLst>
          </p:cNvPr>
          <p:cNvSpPr/>
          <p:nvPr/>
        </p:nvSpPr>
        <p:spPr>
          <a:xfrm>
            <a:off x="7579004" y="1471245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Til</a:t>
            </a:r>
            <a:endParaRPr lang="da-DK" sz="16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F3D74-C44B-3967-6DE8-357197A8B755}"/>
              </a:ext>
            </a:extLst>
          </p:cNvPr>
          <p:cNvSpPr txBox="1"/>
          <p:nvPr/>
        </p:nvSpPr>
        <p:spPr>
          <a:xfrm>
            <a:off x="1444647" y="2226623"/>
            <a:ext cx="33134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 ejer og driver infrastrukturen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BE6644-34F0-3FAA-D089-AD2A31F704FB}"/>
              </a:ext>
            </a:extLst>
          </p:cNvPr>
          <p:cNvSpPr txBox="1"/>
          <p:nvPr/>
        </p:nvSpPr>
        <p:spPr>
          <a:xfrm>
            <a:off x="1444647" y="3075709"/>
            <a:ext cx="164468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Fysiske servere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62C31-C48E-7414-9813-2C40FD2CECE7}"/>
              </a:ext>
            </a:extLst>
          </p:cNvPr>
          <p:cNvSpPr txBox="1"/>
          <p:nvPr/>
        </p:nvSpPr>
        <p:spPr>
          <a:xfrm>
            <a:off x="1456670" y="3464819"/>
            <a:ext cx="12599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Windows IIS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F52351-57E8-FEEA-1D45-9DF420F462A5}"/>
              </a:ext>
            </a:extLst>
          </p:cNvPr>
          <p:cNvSpPr txBox="1"/>
          <p:nvPr/>
        </p:nvSpPr>
        <p:spPr>
          <a:xfrm>
            <a:off x="1444646" y="3853929"/>
            <a:ext cx="13080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SQL servere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D337B5-5FC3-B0BC-0809-4C610437CB66}"/>
              </a:ext>
            </a:extLst>
          </p:cNvPr>
          <p:cNvSpPr txBox="1"/>
          <p:nvPr/>
        </p:nvSpPr>
        <p:spPr>
          <a:xfrm>
            <a:off x="1456670" y="4243039"/>
            <a:ext cx="92813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Netværk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0B5C03-E99E-9A9D-C984-0BE0CF8A530B}"/>
              </a:ext>
            </a:extLst>
          </p:cNvPr>
          <p:cNvSpPr txBox="1"/>
          <p:nvPr/>
        </p:nvSpPr>
        <p:spPr>
          <a:xfrm>
            <a:off x="1467345" y="4632149"/>
            <a:ext cx="7694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Backup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2343-DB34-C84E-4E29-1B98DDCEFCFC}"/>
              </a:ext>
            </a:extLst>
          </p:cNvPr>
          <p:cNvSpPr txBox="1"/>
          <p:nvPr/>
        </p:nvSpPr>
        <p:spPr>
          <a:xfrm>
            <a:off x="1467344" y="5021259"/>
            <a:ext cx="101790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Hardware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25188-47E4-67D8-E1A2-3247E0496CC1}"/>
              </a:ext>
            </a:extLst>
          </p:cNvPr>
          <p:cNvSpPr txBox="1"/>
          <p:nvPr/>
        </p:nvSpPr>
        <p:spPr>
          <a:xfrm>
            <a:off x="7579004" y="2159330"/>
            <a:ext cx="26096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 bruger infrastrukturen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E9558E-7F8B-0D42-8B22-03F20EAB1480}"/>
              </a:ext>
            </a:extLst>
          </p:cNvPr>
          <p:cNvSpPr txBox="1"/>
          <p:nvPr/>
        </p:nvSpPr>
        <p:spPr>
          <a:xfrm>
            <a:off x="7579004" y="3008416"/>
            <a:ext cx="60593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5A3A87-4B93-2692-4064-363951FEAC04}"/>
              </a:ext>
            </a:extLst>
          </p:cNvPr>
          <p:cNvSpPr txBox="1"/>
          <p:nvPr/>
        </p:nvSpPr>
        <p:spPr>
          <a:xfrm>
            <a:off x="7591027" y="3397526"/>
            <a:ext cx="12551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 Service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720E86-8699-CE7F-E8C9-49C5DE29C856}"/>
              </a:ext>
            </a:extLst>
          </p:cNvPr>
          <p:cNvSpPr txBox="1"/>
          <p:nvPr/>
        </p:nvSpPr>
        <p:spPr>
          <a:xfrm>
            <a:off x="7579003" y="3786636"/>
            <a:ext cx="112050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 SQL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6E36D8-0059-ED8A-73E0-83DC430DB32D}"/>
              </a:ext>
            </a:extLst>
          </p:cNvPr>
          <p:cNvSpPr txBox="1"/>
          <p:nvPr/>
        </p:nvSpPr>
        <p:spPr>
          <a:xfrm>
            <a:off x="7591027" y="4175746"/>
            <a:ext cx="12262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Service Bus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082444-7721-9625-DFD8-C7F39E57FE78}"/>
              </a:ext>
            </a:extLst>
          </p:cNvPr>
          <p:cNvSpPr txBox="1"/>
          <p:nvPr/>
        </p:nvSpPr>
        <p:spPr>
          <a:xfrm>
            <a:off x="7601702" y="4564856"/>
            <a:ext cx="102752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og mere...</a:t>
            </a:r>
          </a:p>
        </p:txBody>
      </p:sp>
    </p:spTree>
    <p:extLst>
      <p:ext uri="{BB962C8B-B14F-4D97-AF65-F5344CB8AC3E}">
        <p14:creationId xmlns:p14="http://schemas.microsoft.com/office/powerpoint/2010/main" val="170204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7" grpId="0"/>
      <p:bldP spid="18" grpId="0"/>
      <p:bldP spid="20" grpId="0"/>
      <p:bldP spid="21" grpId="0"/>
      <p:bldP spid="22" grpId="0"/>
      <p:bldP spid="23" grpId="0"/>
      <p:bldP spid="31" grpId="0"/>
      <p:bldP spid="36" grpId="0"/>
      <p:bldP spid="37" grpId="0"/>
      <p:bldP spid="38" grpId="0"/>
      <p:bldP spid="39" grpId="0"/>
      <p:bldP spid="4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68C6-A501-1048-977E-D1793F50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B8D61BB-E573-72F3-0289-AAB748339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Azure Keywords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8122792-D257-D74C-07E2-1D8EADC4A1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3C980FF-EDAD-3E9C-1138-EA24F8D0BC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24EBDE8-2F13-A150-34EE-A45EA9E737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73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FA3D47-9636-5CBA-159F-41B9CBD3A911}"/>
              </a:ext>
            </a:extLst>
          </p:cNvPr>
          <p:cNvSpPr/>
          <p:nvPr/>
        </p:nvSpPr>
        <p:spPr>
          <a:xfrm>
            <a:off x="39368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 err="1"/>
              <a:t>Keyword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2F47DE-98E9-E4F2-AB73-0D56EB22CDE0}"/>
              </a:ext>
            </a:extLst>
          </p:cNvPr>
          <p:cNvSpPr/>
          <p:nvPr/>
        </p:nvSpPr>
        <p:spPr>
          <a:xfrm>
            <a:off x="448275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Hvad står det for?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05CBC-995B-0625-2656-625E391F41DC}"/>
              </a:ext>
            </a:extLst>
          </p:cNvPr>
          <p:cNvSpPr/>
          <p:nvPr/>
        </p:nvSpPr>
        <p:spPr>
          <a:xfrm>
            <a:off x="857182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Hvad betyder det?</a:t>
            </a:r>
            <a:endParaRPr lang="da-DK" sz="16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7A1AE-6CAE-A5E9-55F4-CCB673A5365E}"/>
              </a:ext>
            </a:extLst>
          </p:cNvPr>
          <p:cNvSpPr txBox="1"/>
          <p:nvPr/>
        </p:nvSpPr>
        <p:spPr>
          <a:xfrm>
            <a:off x="393680" y="1858488"/>
            <a:ext cx="3751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2B4576-8C84-8092-8818-CCF615D2A73E}"/>
              </a:ext>
            </a:extLst>
          </p:cNvPr>
          <p:cNvSpPr txBox="1"/>
          <p:nvPr/>
        </p:nvSpPr>
        <p:spPr>
          <a:xfrm>
            <a:off x="4482750" y="1858487"/>
            <a:ext cx="271388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Application Programming</a:t>
            </a:r>
            <a:br>
              <a:rPr lang="da-DK" sz="1600" dirty="0"/>
            </a:br>
            <a:r>
              <a:rPr lang="da-DK" sz="1600" dirty="0"/>
              <a:t>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0524EE-0208-E70C-60F1-94CD52AFCDD3}"/>
              </a:ext>
            </a:extLst>
          </p:cNvPr>
          <p:cNvSpPr txBox="1"/>
          <p:nvPr/>
        </p:nvSpPr>
        <p:spPr>
          <a:xfrm>
            <a:off x="8571820" y="1858487"/>
            <a:ext cx="328455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En grænseflade, som systemer</a:t>
            </a:r>
            <a:br>
              <a:rPr lang="da-DK" sz="1600" dirty="0"/>
            </a:br>
            <a:r>
              <a:rPr lang="da-DK" sz="1600" dirty="0"/>
              <a:t>bruger til at kommunikere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41F5D-AE4E-E403-8BAA-A7050FFE0EDA}"/>
              </a:ext>
            </a:extLst>
          </p:cNvPr>
          <p:cNvSpPr txBox="1"/>
          <p:nvPr/>
        </p:nvSpPr>
        <p:spPr>
          <a:xfrm>
            <a:off x="393680" y="2550683"/>
            <a:ext cx="57547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APIM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B77257-BD61-DA8A-36CA-01543D103C49}"/>
              </a:ext>
            </a:extLst>
          </p:cNvPr>
          <p:cNvSpPr txBox="1"/>
          <p:nvPr/>
        </p:nvSpPr>
        <p:spPr>
          <a:xfrm>
            <a:off x="4482750" y="2550682"/>
            <a:ext cx="180017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API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516E0-91CC-2ED5-A3AD-B18AE9905E9B}"/>
              </a:ext>
            </a:extLst>
          </p:cNvPr>
          <p:cNvSpPr txBox="1"/>
          <p:nvPr/>
        </p:nvSpPr>
        <p:spPr>
          <a:xfrm>
            <a:off x="8571820" y="2550682"/>
            <a:ext cx="333264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Azure-service til at eksponere,</a:t>
            </a:r>
            <a:br>
              <a:rPr lang="da-DK" sz="1600" dirty="0"/>
            </a:br>
            <a:r>
              <a:rPr lang="da-DK" sz="1600" dirty="0"/>
              <a:t>beskytte og administrere </a:t>
            </a:r>
            <a:r>
              <a:rPr lang="da-DK" sz="1600" dirty="0" err="1"/>
              <a:t>API’er</a:t>
            </a:r>
            <a:endParaRPr lang="da-DK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EBC643-7573-C58D-B6B0-9194CC607DCB}"/>
              </a:ext>
            </a:extLst>
          </p:cNvPr>
          <p:cNvSpPr txBox="1"/>
          <p:nvPr/>
        </p:nvSpPr>
        <p:spPr>
          <a:xfrm>
            <a:off x="393680" y="324287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App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118709-ACD4-E5FF-1BD5-2048290E587B}"/>
              </a:ext>
            </a:extLst>
          </p:cNvPr>
          <p:cNvSpPr txBox="1"/>
          <p:nvPr/>
        </p:nvSpPr>
        <p:spPr>
          <a:xfrm>
            <a:off x="4482750" y="3242877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3A8656-2571-B3D6-A509-F69C87E2767A}"/>
              </a:ext>
            </a:extLst>
          </p:cNvPr>
          <p:cNvSpPr txBox="1"/>
          <p:nvPr/>
        </p:nvSpPr>
        <p:spPr>
          <a:xfrm>
            <a:off x="8571820" y="3242877"/>
            <a:ext cx="347531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Managed </a:t>
            </a:r>
            <a:r>
              <a:rPr lang="da-DK" sz="1600" dirty="0" err="1"/>
              <a:t>hosting</a:t>
            </a:r>
            <a:r>
              <a:rPr lang="da-DK" sz="1600" dirty="0"/>
              <a:t> af web apps og</a:t>
            </a:r>
            <a:br>
              <a:rPr lang="da-DK" sz="1600" dirty="0"/>
            </a:br>
            <a:r>
              <a:rPr lang="da-DK" sz="1600" dirty="0"/>
              <a:t>.NET </a:t>
            </a:r>
            <a:r>
              <a:rPr lang="da-DK" sz="1600" dirty="0" err="1"/>
              <a:t>API’er</a:t>
            </a:r>
            <a:endParaRPr lang="da-DK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587DC8-5612-BECA-C7EC-1A3853A89B8C}"/>
              </a:ext>
            </a:extLst>
          </p:cNvPr>
          <p:cNvSpPr txBox="1"/>
          <p:nvPr/>
        </p:nvSpPr>
        <p:spPr>
          <a:xfrm>
            <a:off x="393680" y="3937987"/>
            <a:ext cx="142507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Function App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8B2A0C-A91E-ECF7-EEA5-63D1CF3B26D0}"/>
              </a:ext>
            </a:extLst>
          </p:cNvPr>
          <p:cNvSpPr txBox="1"/>
          <p:nvPr/>
        </p:nvSpPr>
        <p:spPr>
          <a:xfrm>
            <a:off x="4482750" y="3937986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69875A-B89F-530C-348A-47C59C471559}"/>
              </a:ext>
            </a:extLst>
          </p:cNvPr>
          <p:cNvSpPr txBox="1"/>
          <p:nvPr/>
        </p:nvSpPr>
        <p:spPr>
          <a:xfrm>
            <a:off x="8571820" y="3937986"/>
            <a:ext cx="324287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Kører kode som reaktion på</a:t>
            </a:r>
            <a:br>
              <a:rPr lang="da-DK" sz="1600" dirty="0"/>
            </a:br>
            <a:r>
              <a:rPr lang="da-DK" sz="1600" dirty="0"/>
              <a:t>events, HTTP </a:t>
            </a:r>
            <a:r>
              <a:rPr lang="da-DK" sz="1600" dirty="0" err="1"/>
              <a:t>requests</a:t>
            </a:r>
            <a:r>
              <a:rPr lang="da-DK" sz="1600" dirty="0"/>
              <a:t>, timers,</a:t>
            </a:r>
            <a:br>
              <a:rPr lang="da-DK" sz="1600" dirty="0"/>
            </a:br>
            <a:r>
              <a:rPr lang="da-DK" sz="1600" dirty="0"/>
              <a:t>osv.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768368-058E-3E0C-BEAE-514A02BA4F29}"/>
              </a:ext>
            </a:extLst>
          </p:cNvPr>
          <p:cNvSpPr txBox="1"/>
          <p:nvPr/>
        </p:nvSpPr>
        <p:spPr>
          <a:xfrm>
            <a:off x="393680" y="4879317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Service Bus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56B909-3695-AAFE-9689-21717A85D6F2}"/>
              </a:ext>
            </a:extLst>
          </p:cNvPr>
          <p:cNvSpPr txBox="1"/>
          <p:nvPr/>
        </p:nvSpPr>
        <p:spPr>
          <a:xfrm>
            <a:off x="4482750" y="4879316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86B002-C01C-69E1-3068-CC5C62B5317A}"/>
              </a:ext>
            </a:extLst>
          </p:cNvPr>
          <p:cNvSpPr txBox="1"/>
          <p:nvPr/>
        </p:nvSpPr>
        <p:spPr>
          <a:xfrm>
            <a:off x="8571820" y="4879316"/>
            <a:ext cx="302326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Messaging mellem systemer,</a:t>
            </a:r>
            <a:br>
              <a:rPr lang="da-DK" sz="1600" dirty="0"/>
            </a:br>
            <a:r>
              <a:rPr lang="da-DK" sz="1600" dirty="0"/>
              <a:t>typisk asynkront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21CDA2-A13B-6FD9-8D71-D7F1DF2563E7}"/>
              </a:ext>
            </a:extLst>
          </p:cNvPr>
          <p:cNvSpPr txBox="1"/>
          <p:nvPr/>
        </p:nvSpPr>
        <p:spPr>
          <a:xfrm>
            <a:off x="393680" y="5603671"/>
            <a:ext cx="112691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Azure SQL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D5BBC0-BC46-17C9-6ACB-9B263D2759A3}"/>
              </a:ext>
            </a:extLst>
          </p:cNvPr>
          <p:cNvSpPr txBox="1"/>
          <p:nvPr/>
        </p:nvSpPr>
        <p:spPr>
          <a:xfrm>
            <a:off x="4482750" y="5603670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01F04A-14C8-8807-C2C2-BF3C9C03CB43}"/>
              </a:ext>
            </a:extLst>
          </p:cNvPr>
          <p:cNvSpPr txBox="1"/>
          <p:nvPr/>
        </p:nvSpPr>
        <p:spPr>
          <a:xfrm>
            <a:off x="8571820" y="5603670"/>
            <a:ext cx="331821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Managed SQL Server-database</a:t>
            </a:r>
          </a:p>
        </p:txBody>
      </p:sp>
    </p:spTree>
    <p:extLst>
      <p:ext uri="{BB962C8B-B14F-4D97-AF65-F5344CB8AC3E}">
        <p14:creationId xmlns:p14="http://schemas.microsoft.com/office/powerpoint/2010/main" val="13523022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058A-DF7C-1852-8715-12F5AA47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63E3511-0335-0C53-58E6-B63081B5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Azure Keywords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9C50CE1-DF11-F6A5-73FE-F0CE53AD4B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212EC0B-5ADA-C24F-6B4D-C6D222977E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2655796-6D55-1DBF-5745-1680B6FE79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74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770F0-AC9A-199D-A1D2-30EDD1C0E947}"/>
              </a:ext>
            </a:extLst>
          </p:cNvPr>
          <p:cNvSpPr/>
          <p:nvPr/>
        </p:nvSpPr>
        <p:spPr>
          <a:xfrm>
            <a:off x="39368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 err="1"/>
              <a:t>Keyword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47E1D1-15DD-2294-5307-61962872B167}"/>
              </a:ext>
            </a:extLst>
          </p:cNvPr>
          <p:cNvSpPr/>
          <p:nvPr/>
        </p:nvSpPr>
        <p:spPr>
          <a:xfrm>
            <a:off x="448275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Hvad står det for?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E456F-DBF3-9C32-177D-4F88149019AC}"/>
              </a:ext>
            </a:extLst>
          </p:cNvPr>
          <p:cNvSpPr/>
          <p:nvPr/>
        </p:nvSpPr>
        <p:spPr>
          <a:xfrm>
            <a:off x="857182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Hvad betyder det?</a:t>
            </a:r>
            <a:endParaRPr lang="da-DK" sz="16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CD088-9497-50BA-D9EA-696508814809}"/>
              </a:ext>
            </a:extLst>
          </p:cNvPr>
          <p:cNvSpPr txBox="1"/>
          <p:nvPr/>
        </p:nvSpPr>
        <p:spPr>
          <a:xfrm>
            <a:off x="393680" y="1858488"/>
            <a:ext cx="13817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 err="1"/>
              <a:t>Blob</a:t>
            </a:r>
            <a:r>
              <a:rPr lang="da-DK" sz="1600" b="1" dirty="0"/>
              <a:t> Storage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F8808-4A61-AA2A-0092-CBE073C6875B}"/>
              </a:ext>
            </a:extLst>
          </p:cNvPr>
          <p:cNvSpPr txBox="1"/>
          <p:nvPr/>
        </p:nvSpPr>
        <p:spPr>
          <a:xfrm>
            <a:off x="4482750" y="1858487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58087-0BDE-7926-5352-3C6EB57EC381}"/>
              </a:ext>
            </a:extLst>
          </p:cNvPr>
          <p:cNvSpPr txBox="1"/>
          <p:nvPr/>
        </p:nvSpPr>
        <p:spPr>
          <a:xfrm>
            <a:off x="8571820" y="1858487"/>
            <a:ext cx="18097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Objekt-/fillagring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554AA1-6CF0-B6E9-9F90-3258DB15B4CF}"/>
              </a:ext>
            </a:extLst>
          </p:cNvPr>
          <p:cNvSpPr txBox="1"/>
          <p:nvPr/>
        </p:nvSpPr>
        <p:spPr>
          <a:xfrm>
            <a:off x="393680" y="2550683"/>
            <a:ext cx="21127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Application </a:t>
            </a:r>
            <a:r>
              <a:rPr lang="da-DK" sz="1600" b="1" dirty="0" err="1"/>
              <a:t>Insights</a:t>
            </a:r>
            <a:endParaRPr lang="da-DK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A34685-90D3-1131-2477-A460C8F6F201}"/>
              </a:ext>
            </a:extLst>
          </p:cNvPr>
          <p:cNvSpPr txBox="1"/>
          <p:nvPr/>
        </p:nvSpPr>
        <p:spPr>
          <a:xfrm>
            <a:off x="4482750" y="2550682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E6E50-5A31-EB42-3C79-07E1AAEA3038}"/>
              </a:ext>
            </a:extLst>
          </p:cNvPr>
          <p:cNvSpPr txBox="1"/>
          <p:nvPr/>
        </p:nvSpPr>
        <p:spPr>
          <a:xfrm>
            <a:off x="8571820" y="2550682"/>
            <a:ext cx="252152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Telemtri</a:t>
            </a:r>
            <a:r>
              <a:rPr lang="da-DK" sz="1600" dirty="0"/>
              <a:t>, logs, traces og</a:t>
            </a:r>
            <a:br>
              <a:rPr lang="da-DK" sz="1600" dirty="0"/>
            </a:br>
            <a:r>
              <a:rPr lang="da-DK" sz="1600" dirty="0" err="1"/>
              <a:t>monitoring</a:t>
            </a:r>
            <a:endParaRPr lang="da-DK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71DBFB-716D-BC9F-8254-D8F6B39C9D79}"/>
              </a:ext>
            </a:extLst>
          </p:cNvPr>
          <p:cNvSpPr txBox="1"/>
          <p:nvPr/>
        </p:nvSpPr>
        <p:spPr>
          <a:xfrm>
            <a:off x="393680" y="3242878"/>
            <a:ext cx="75180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 err="1"/>
              <a:t>Tenant</a:t>
            </a:r>
            <a:endParaRPr lang="da-DK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A0167-21B4-9375-C152-F81897C5A332}"/>
              </a:ext>
            </a:extLst>
          </p:cNvPr>
          <p:cNvSpPr txBox="1"/>
          <p:nvPr/>
        </p:nvSpPr>
        <p:spPr>
          <a:xfrm>
            <a:off x="4482750" y="3242877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58A489-3015-84A6-5EC2-3017787D8FAB}"/>
              </a:ext>
            </a:extLst>
          </p:cNvPr>
          <p:cNvSpPr txBox="1"/>
          <p:nvPr/>
        </p:nvSpPr>
        <p:spPr>
          <a:xfrm>
            <a:off x="8571820" y="3242877"/>
            <a:ext cx="35843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Organisationens identitetsgrænse</a:t>
            </a:r>
            <a:br>
              <a:rPr lang="da-DK" sz="1600" dirty="0"/>
            </a:br>
            <a:r>
              <a:rPr lang="da-DK" sz="1600" dirty="0"/>
              <a:t>i Microsoft Entra ID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077247-D820-729F-33BC-595DA39AB4EC}"/>
              </a:ext>
            </a:extLst>
          </p:cNvPr>
          <p:cNvSpPr txBox="1"/>
          <p:nvPr/>
        </p:nvSpPr>
        <p:spPr>
          <a:xfrm>
            <a:off x="393680" y="3937987"/>
            <a:ext cx="13336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Subscription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55E0A7-6577-FA65-46E5-29A29FC6A642}"/>
              </a:ext>
            </a:extLst>
          </p:cNvPr>
          <p:cNvSpPr txBox="1"/>
          <p:nvPr/>
        </p:nvSpPr>
        <p:spPr>
          <a:xfrm>
            <a:off x="4482750" y="3937986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C7FDC1-0E0C-1885-1ED0-1E5953B30899}"/>
              </a:ext>
            </a:extLst>
          </p:cNvPr>
          <p:cNvSpPr txBox="1"/>
          <p:nvPr/>
        </p:nvSpPr>
        <p:spPr>
          <a:xfrm>
            <a:off x="8571820" y="3937986"/>
            <a:ext cx="313707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Azure-konto/enhed for</a:t>
            </a:r>
            <a:br>
              <a:rPr lang="da-DK" sz="1600" dirty="0"/>
            </a:br>
            <a:r>
              <a:rPr lang="da-DK" sz="1600" dirty="0"/>
              <a:t>fakturering, adgang og kvoter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191BF2-C8E9-168E-9511-41D34EFD774D}"/>
              </a:ext>
            </a:extLst>
          </p:cNvPr>
          <p:cNvSpPr txBox="1"/>
          <p:nvPr/>
        </p:nvSpPr>
        <p:spPr>
          <a:xfrm>
            <a:off x="393680" y="4879317"/>
            <a:ext cx="32220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RG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E8CC5F-DC53-134E-8C10-33D4B865FC9C}"/>
              </a:ext>
            </a:extLst>
          </p:cNvPr>
          <p:cNvSpPr txBox="1"/>
          <p:nvPr/>
        </p:nvSpPr>
        <p:spPr>
          <a:xfrm>
            <a:off x="4482750" y="4879316"/>
            <a:ext cx="16831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Resource Group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C2EE3E-E642-C5E6-FAAA-21976E033C3F}"/>
              </a:ext>
            </a:extLst>
          </p:cNvPr>
          <p:cNvSpPr txBox="1"/>
          <p:nvPr/>
        </p:nvSpPr>
        <p:spPr>
          <a:xfrm>
            <a:off x="8571820" y="4879316"/>
            <a:ext cx="210474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Logisk container for</a:t>
            </a:r>
            <a:br>
              <a:rPr lang="da-DK" sz="1600" dirty="0"/>
            </a:br>
            <a:r>
              <a:rPr lang="da-DK" sz="1600" dirty="0"/>
              <a:t>Azure-</a:t>
            </a:r>
            <a:r>
              <a:rPr lang="da-DK" sz="1600" dirty="0" err="1"/>
              <a:t>resources</a:t>
            </a:r>
            <a:endParaRPr lang="da-DK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C75EA4-4630-BE7A-3D39-62AF4D83B141}"/>
              </a:ext>
            </a:extLst>
          </p:cNvPr>
          <p:cNvSpPr txBox="1"/>
          <p:nvPr/>
        </p:nvSpPr>
        <p:spPr>
          <a:xfrm>
            <a:off x="393680" y="5603671"/>
            <a:ext cx="98103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Resource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6A184A-7097-4F95-E290-C88368D1719C}"/>
              </a:ext>
            </a:extLst>
          </p:cNvPr>
          <p:cNvSpPr txBox="1"/>
          <p:nvPr/>
        </p:nvSpPr>
        <p:spPr>
          <a:xfrm>
            <a:off x="4482750" y="5603670"/>
            <a:ext cx="1122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D0B00F-CB5D-D88A-8506-54ECDF1CE14E}"/>
              </a:ext>
            </a:extLst>
          </p:cNvPr>
          <p:cNvSpPr txBox="1"/>
          <p:nvPr/>
        </p:nvSpPr>
        <p:spPr>
          <a:xfrm>
            <a:off x="8571820" y="5603670"/>
            <a:ext cx="267541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En konkret Azure-service</a:t>
            </a:r>
          </a:p>
        </p:txBody>
      </p:sp>
    </p:spTree>
    <p:extLst>
      <p:ext uri="{BB962C8B-B14F-4D97-AF65-F5344CB8AC3E}">
        <p14:creationId xmlns:p14="http://schemas.microsoft.com/office/powerpoint/2010/main" val="17538967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C17B-EE3F-8095-6BC5-0471DBD4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1CC6D14-C559-0137-8449-F086CBAD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80" y="407163"/>
            <a:ext cx="8687214" cy="334645"/>
          </a:xfrm>
        </p:spPr>
        <p:txBody>
          <a:bodyPr/>
          <a:lstStyle/>
          <a:p>
            <a:r>
              <a:rPr lang="da-DK" noProof="1"/>
              <a:t>Azure Keywords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C0757C8-5D80-52C1-E496-347170ECF84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fld id="{727BBD34-DD59-49E1-9776-D67684F06344}" type="datetime4">
              <a:rPr lang="da-DK" noProof="1" smtClean="0"/>
              <a:pPr/>
              <a:t>26-09-22</a:t>
            </a:fld>
            <a:endParaRPr lang="da-DK" noProof="1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D80EBC5-CB8A-E5FF-B234-7854A3F4F79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77409" y="6702559"/>
            <a:ext cx="0" cy="0"/>
          </a:xfrm>
        </p:spPr>
        <p:txBody>
          <a:bodyPr/>
          <a:lstStyle/>
          <a:p>
            <a:endParaRPr lang="da-DK" noProof="1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82DE4D9-2137-91DB-801C-D7863E63F1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75</a:t>
            </a:fld>
            <a:endParaRPr lang="da-DK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B0AF1-1B55-1700-B83D-8A42963BD148}"/>
              </a:ext>
            </a:extLst>
          </p:cNvPr>
          <p:cNvSpPr/>
          <p:nvPr/>
        </p:nvSpPr>
        <p:spPr>
          <a:xfrm>
            <a:off x="39368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dirty="0" err="1"/>
              <a:t>Keyword</a:t>
            </a:r>
            <a:endParaRPr lang="da-DK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591AF-B719-5214-0C4B-2D6270480F8F}"/>
              </a:ext>
            </a:extLst>
          </p:cNvPr>
          <p:cNvSpPr/>
          <p:nvPr/>
        </p:nvSpPr>
        <p:spPr>
          <a:xfrm>
            <a:off x="448275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Hvad står det for?</a:t>
            </a:r>
            <a:endParaRPr lang="da-DK" sz="16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4AEA7-AD1E-F64B-5F87-9724A5BB7043}"/>
              </a:ext>
            </a:extLst>
          </p:cNvPr>
          <p:cNvSpPr/>
          <p:nvPr/>
        </p:nvSpPr>
        <p:spPr>
          <a:xfrm>
            <a:off x="8571820" y="1008108"/>
            <a:ext cx="2369333" cy="49959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da-DK" noProof="0" dirty="0"/>
              <a:t>Hvad betyder det?</a:t>
            </a:r>
            <a:endParaRPr lang="da-DK" sz="16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42FB9D-02CF-D547-02DE-77F378DF03C0}"/>
              </a:ext>
            </a:extLst>
          </p:cNvPr>
          <p:cNvSpPr txBox="1"/>
          <p:nvPr/>
        </p:nvSpPr>
        <p:spPr>
          <a:xfrm>
            <a:off x="393680" y="1858488"/>
            <a:ext cx="87203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Entra 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5233F0-F4D5-4988-5226-E00B9EB708B7}"/>
              </a:ext>
            </a:extLst>
          </p:cNvPr>
          <p:cNvSpPr txBox="1"/>
          <p:nvPr/>
        </p:nvSpPr>
        <p:spPr>
          <a:xfrm>
            <a:off x="4482750" y="1858487"/>
            <a:ext cx="19187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Microsoft Entra 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4D3CCA-E8A8-6922-699C-8BB3D6BD4AC9}"/>
              </a:ext>
            </a:extLst>
          </p:cNvPr>
          <p:cNvSpPr txBox="1"/>
          <p:nvPr/>
        </p:nvSpPr>
        <p:spPr>
          <a:xfrm>
            <a:off x="8571820" y="1858487"/>
            <a:ext cx="20646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Identitet og adgang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11D91-280A-8443-57DC-352401B3431C}"/>
              </a:ext>
            </a:extLst>
          </p:cNvPr>
          <p:cNvSpPr txBox="1"/>
          <p:nvPr/>
        </p:nvSpPr>
        <p:spPr>
          <a:xfrm>
            <a:off x="393680" y="2550683"/>
            <a:ext cx="6235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RBAC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77093A-7B88-1760-6EFB-9DCA77A636C3}"/>
              </a:ext>
            </a:extLst>
          </p:cNvPr>
          <p:cNvSpPr txBox="1"/>
          <p:nvPr/>
        </p:nvSpPr>
        <p:spPr>
          <a:xfrm>
            <a:off x="4482750" y="2550682"/>
            <a:ext cx="28613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Role-Based</a:t>
            </a:r>
            <a:r>
              <a:rPr lang="da-DK" sz="1600" dirty="0"/>
              <a:t> Access 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40C294-7AAC-5F06-5DDF-CF5C52FEC340}"/>
              </a:ext>
            </a:extLst>
          </p:cNvPr>
          <p:cNvSpPr txBox="1"/>
          <p:nvPr/>
        </p:nvSpPr>
        <p:spPr>
          <a:xfrm>
            <a:off x="8571820" y="2550682"/>
            <a:ext cx="322684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Bestemmer hvem der må hvad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22FB5C-F5DF-A438-0859-62BC2A089F57}"/>
              </a:ext>
            </a:extLst>
          </p:cNvPr>
          <p:cNvSpPr txBox="1"/>
          <p:nvPr/>
        </p:nvSpPr>
        <p:spPr>
          <a:xfrm>
            <a:off x="393680" y="3242878"/>
            <a:ext cx="54662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 err="1"/>
              <a:t>VNet</a:t>
            </a:r>
            <a:endParaRPr lang="da-DK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4B6BFE-FAE1-A58E-521A-ADDD0A0E3475}"/>
              </a:ext>
            </a:extLst>
          </p:cNvPr>
          <p:cNvSpPr txBox="1"/>
          <p:nvPr/>
        </p:nvSpPr>
        <p:spPr>
          <a:xfrm>
            <a:off x="4482750" y="3242877"/>
            <a:ext cx="16462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Virtual Network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8AF9FC-84FA-92BD-DABC-081F76A45B8F}"/>
              </a:ext>
            </a:extLst>
          </p:cNvPr>
          <p:cNvSpPr txBox="1"/>
          <p:nvPr/>
        </p:nvSpPr>
        <p:spPr>
          <a:xfrm>
            <a:off x="8571820" y="3242877"/>
            <a:ext cx="309059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Privat, logisk netværk i Azure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8F356B-133B-3C0B-53BD-7E36336AC861}"/>
              </a:ext>
            </a:extLst>
          </p:cNvPr>
          <p:cNvSpPr txBox="1"/>
          <p:nvPr/>
        </p:nvSpPr>
        <p:spPr>
          <a:xfrm>
            <a:off x="393680" y="3937987"/>
            <a:ext cx="26129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/>
              <a:t>MI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CDE2AA-C848-FFA2-78DD-2ADD49ACC12C}"/>
              </a:ext>
            </a:extLst>
          </p:cNvPr>
          <p:cNvSpPr txBox="1"/>
          <p:nvPr/>
        </p:nvSpPr>
        <p:spPr>
          <a:xfrm>
            <a:off x="4482750" y="3937986"/>
            <a:ext cx="18258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Managed Identity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6C2C89-D7CB-9CDB-EF37-5AF20C8AC5B4}"/>
              </a:ext>
            </a:extLst>
          </p:cNvPr>
          <p:cNvSpPr txBox="1"/>
          <p:nvPr/>
        </p:nvSpPr>
        <p:spPr>
          <a:xfrm>
            <a:off x="8571820" y="3937986"/>
            <a:ext cx="309860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Identitet som Azure-</a:t>
            </a:r>
            <a:r>
              <a:rPr lang="da-DK" sz="1600" dirty="0" err="1"/>
              <a:t>resource</a:t>
            </a:r>
            <a:br>
              <a:rPr lang="da-DK" sz="1600" dirty="0"/>
            </a:br>
            <a:r>
              <a:rPr lang="da-DK" sz="1600" dirty="0"/>
              <a:t>kan bruge uden </a:t>
            </a:r>
            <a:r>
              <a:rPr lang="da-DK" sz="1600" dirty="0" err="1"/>
              <a:t>credentials</a:t>
            </a:r>
            <a:endParaRPr lang="da-DK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294906-B230-ABD6-1BFA-76EB2A2E2343}"/>
              </a:ext>
            </a:extLst>
          </p:cNvPr>
          <p:cNvSpPr txBox="1"/>
          <p:nvPr/>
        </p:nvSpPr>
        <p:spPr>
          <a:xfrm>
            <a:off x="393680" y="4879317"/>
            <a:ext cx="3398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b="1" dirty="0" err="1"/>
              <a:t>IaC</a:t>
            </a:r>
            <a:endParaRPr lang="da-DK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3E1DED-A8B3-4A8B-9D85-2733A2268F0F}"/>
              </a:ext>
            </a:extLst>
          </p:cNvPr>
          <p:cNvSpPr txBox="1"/>
          <p:nvPr/>
        </p:nvSpPr>
        <p:spPr>
          <a:xfrm>
            <a:off x="4482750" y="4879316"/>
            <a:ext cx="235801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 err="1"/>
              <a:t>Infrastructure</a:t>
            </a:r>
            <a:r>
              <a:rPr lang="da-DK" sz="1600" dirty="0"/>
              <a:t> as Code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A3B8DE-4F68-7712-E6C8-E7ED4621F4E8}"/>
              </a:ext>
            </a:extLst>
          </p:cNvPr>
          <p:cNvSpPr txBox="1"/>
          <p:nvPr/>
        </p:nvSpPr>
        <p:spPr>
          <a:xfrm>
            <a:off x="8571820" y="4879316"/>
            <a:ext cx="348973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a-DK" sz="1600" dirty="0"/>
              <a:t>Infrastruktur defineret som kode,</a:t>
            </a:r>
            <a:br>
              <a:rPr lang="da-DK" sz="1600" dirty="0"/>
            </a:br>
            <a:r>
              <a:rPr lang="da-DK" sz="1600" dirty="0"/>
              <a:t>fx. </a:t>
            </a:r>
            <a:r>
              <a:rPr lang="da-DK" sz="1600" dirty="0" err="1"/>
              <a:t>Bicep</a:t>
            </a:r>
            <a:endParaRPr lang="da-DK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DB66A-6227-EF7D-5A84-5AC58A0EC366}"/>
              </a:ext>
            </a:extLst>
          </p:cNvPr>
          <p:cNvSpPr txBox="1"/>
          <p:nvPr/>
        </p:nvSpPr>
        <p:spPr>
          <a:xfrm>
            <a:off x="4643252" y="3325091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23450933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8B16-4E55-5B54-C640-B70737B3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8BC35AFA-118B-612D-C205-6F71E1670C4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F2D4953-22BD-466C-BB4A-A5C7281C47AE}" type="datetime4">
              <a:rPr lang="da-DK" noProof="1" smtClean="0"/>
              <a:t>26-09-22</a:t>
            </a:fld>
            <a:endParaRPr lang="da-DK" noProof="1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97AA1DF-0E53-F96B-9375-438A6E87E6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noProof="1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C42B3A6-1E0E-D51C-E23E-7CFADAF8A1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Tiden før Azure og Cloud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Problemerne ved on-premises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Cloud?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Hvad er Azure?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er Azure organiseret?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De vigtigste Azure-byggeklodser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Dynamics 365 bruger Azure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Hvordan vores C#/.NET-løsninger bruger Azure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Et konkret business-scenarie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Opsummering og konklusion</a:t>
            </a:r>
          </a:p>
          <a:p>
            <a:endParaRPr lang="da-DK" sz="2000" noProof="1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09BD938-5804-72B1-E01D-1C44DA70CEE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AA811B-2EBD-4900-905E-5BE206449611}" type="slidenum">
              <a:rPr lang="da-DK" noProof="1" smtClean="0"/>
              <a:pPr/>
              <a:t>76</a:t>
            </a:fld>
            <a:endParaRPr lang="da-DK" noProof="1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B52D49C6-D6E9-46E0-1A51-A93EF6FEEE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312" y="388938"/>
            <a:ext cx="795663" cy="5773737"/>
          </a:xfrm>
        </p:spPr>
        <p:txBody>
          <a:bodyPr/>
          <a:lstStyle/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01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03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04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05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06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07</a:t>
            </a:r>
            <a:b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a-DK" sz="20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08</a:t>
            </a:r>
            <a:br>
              <a:rPr lang="da-DK" sz="2000" noProof="1"/>
            </a:br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09</a:t>
            </a:r>
          </a:p>
          <a:p>
            <a:endParaRPr lang="da-DK" sz="2000" noProof="1"/>
          </a:p>
          <a:p>
            <a:r>
              <a:rPr lang="da-DK" sz="20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903C93-E8B3-2FE9-C878-950F9FEDB91E}"/>
              </a:ext>
            </a:extLst>
          </p:cNvPr>
          <p:cNvCxnSpPr>
            <a:cxnSpLocks/>
          </p:cNvCxnSpPr>
          <p:nvPr/>
        </p:nvCxnSpPr>
        <p:spPr>
          <a:xfrm>
            <a:off x="1364956" y="3282157"/>
            <a:ext cx="524190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ACA46A3-4A5A-3B5A-B3C7-2E7184091E80}"/>
              </a:ext>
            </a:extLst>
          </p:cNvPr>
          <p:cNvSpPr txBox="1"/>
          <p:nvPr/>
        </p:nvSpPr>
        <p:spPr>
          <a:xfrm>
            <a:off x="6769189" y="3159045"/>
            <a:ext cx="14681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a-DK" sz="1600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11256434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994983"/>
      </p:ext>
    </p:extLst>
  </p:cSld>
  <p:clrMapOvr>
    <a:masterClrMapping/>
  </p:clrMapOvr>
</p:sld>
</file>

<file path=ppt/theme/theme1.xml><?xml version="1.0" encoding="utf-8"?>
<a:theme xmlns:a="http://schemas.openxmlformats.org/drawingml/2006/main" name="Clever 2025 (16-9)">
  <a:themeElements>
    <a:clrScheme name="Friheden 2025">
      <a:dk1>
        <a:srgbClr val="000000"/>
      </a:dk1>
      <a:lt1>
        <a:srgbClr val="FFFFFF"/>
      </a:lt1>
      <a:dk2>
        <a:srgbClr val="699B82"/>
      </a:dk2>
      <a:lt2>
        <a:srgbClr val="003732"/>
      </a:lt2>
      <a:accent1>
        <a:srgbClr val="003732"/>
      </a:accent1>
      <a:accent2>
        <a:srgbClr val="699B82"/>
      </a:accent2>
      <a:accent3>
        <a:srgbClr val="FBBA16"/>
      </a:accent3>
      <a:accent4>
        <a:srgbClr val="F57455"/>
      </a:accent4>
      <a:accent5>
        <a:srgbClr val="9B99E2"/>
      </a:accent5>
      <a:accent6>
        <a:srgbClr val="B2D0F3"/>
      </a:accent6>
      <a:hlink>
        <a:srgbClr val="000000"/>
      </a:hlink>
      <a:folHlink>
        <a:srgbClr val="000000"/>
      </a:folHlink>
    </a:clrScheme>
    <a:fontScheme name="Custom 4">
      <a:majorFont>
        <a:latin typeface="Clever Sans OFFC"/>
        <a:ea typeface=""/>
        <a:cs typeface=""/>
      </a:majorFont>
      <a:minorFont>
        <a:latin typeface="Clever Sans 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16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/>
        </a:defPPr>
      </a:lstStyle>
    </a:txDef>
  </a:objectDefaults>
  <a:extraClrSchemeLst/>
  <a:custClrLst>
    <a:custClr name="Core green">
      <a:srgbClr val="003732"/>
    </a:custClr>
    <a:custClr name="White">
      <a:srgbClr val="FFFFFF"/>
    </a:custClr>
    <a:custClr name="Yellow">
      <a:srgbClr val="FBBA16"/>
    </a:custClr>
    <a:custClr name="Blue">
      <a:srgbClr val="B2D0F3"/>
    </a:custClr>
    <a:custClr name="Purple">
      <a:srgbClr val="9B99E2"/>
    </a:custClr>
    <a:custClr name="Orange">
      <a:srgbClr val="F57455"/>
    </a:custClr>
    <a:custClr name="Warm Grey Dark 01">
      <a:srgbClr val="DCDAD5"/>
    </a:custClr>
    <a:custClr name="White">
      <a:srgbClr val="FFFFFF"/>
    </a:custClr>
    <a:custClr name="White">
      <a:srgbClr val="FFFFFF"/>
    </a:custClr>
    <a:custClr name="White">
      <a:srgbClr val="FFFFFF"/>
    </a:custClr>
    <a:custClr name="Secondary ">
      <a:srgbClr val="F1EFE4"/>
    </a:custClr>
    <a:custClr name="Warm grey">
      <a:srgbClr val="F5F4F2"/>
    </a:custClr>
    <a:custClr name="Light yellow">
      <a:srgbClr val="FAE3B0"/>
    </a:custClr>
    <a:custClr name="Light blue">
      <a:srgbClr val="E2ECF9"/>
    </a:custClr>
    <a:custClr name="Light purple">
      <a:srgbClr val="D7D7F2"/>
    </a:custClr>
    <a:custClr name="Light orange">
      <a:srgbClr val="F5CBBD"/>
    </a:custClr>
    <a:custClr name="Warm Grey Dark 02">
      <a:srgbClr val="D0CBC7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Clever-Skabelon-190226" id="{36620006-D76E-1C4E-B94B-5E3C445A1F70}" vid="{3138EADD-7663-664D-8D2C-5969B2928220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Clever Sans OFFC"/>
        <a:ea typeface=""/>
        <a:cs typeface=""/>
      </a:majorFont>
      <a:minorFont>
        <a:latin typeface="Clever Sans OFFC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Core green">
      <a:srgbClr val="003732"/>
    </a:custClr>
    <a:custClr name="White">
      <a:srgbClr val="FFFFFF"/>
    </a:custClr>
    <a:custClr name="Yellow">
      <a:srgbClr val="FBBA16"/>
    </a:custClr>
    <a:custClr name="Blue">
      <a:srgbClr val="B2D0F3"/>
    </a:custClr>
    <a:custClr name="Purple">
      <a:srgbClr val="9B99E2"/>
    </a:custClr>
    <a:custClr name="Orange">
      <a:srgbClr val="F57455"/>
    </a:custClr>
    <a:custClr name="Warm Grey Dark 01">
      <a:srgbClr val="DCDAD5"/>
    </a:custClr>
    <a:custClr name="White">
      <a:srgbClr val="FFFFFF"/>
    </a:custClr>
    <a:custClr name="White">
      <a:srgbClr val="FFFFFF"/>
    </a:custClr>
    <a:custClr name="White">
      <a:srgbClr val="FFFFFF"/>
    </a:custClr>
    <a:custClr name="Secondary ">
      <a:srgbClr val="F1EFE4"/>
    </a:custClr>
    <a:custClr name="Warm grey">
      <a:srgbClr val="F5F4F2"/>
    </a:custClr>
    <a:custClr name="Light yellow">
      <a:srgbClr val="FAE3B0"/>
    </a:custClr>
    <a:custClr name="Light blue">
      <a:srgbClr val="E2ECF9"/>
    </a:custClr>
    <a:custClr name="Light purple">
      <a:srgbClr val="D7D7F2"/>
    </a:custClr>
    <a:custClr name="Light orange">
      <a:srgbClr val="F5CBBD"/>
    </a:custClr>
    <a:custClr name="Warm Grey Dark 02">
      <a:srgbClr val="D0CBC7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Clever Sans OFFC"/>
        <a:ea typeface=""/>
        <a:cs typeface=""/>
      </a:majorFont>
      <a:minorFont>
        <a:latin typeface="Clever Sans 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Core green">
      <a:srgbClr val="003732"/>
    </a:custClr>
    <a:custClr name="White">
      <a:srgbClr val="FFFFFF"/>
    </a:custClr>
    <a:custClr name="Yellow">
      <a:srgbClr val="FBBA16"/>
    </a:custClr>
    <a:custClr name="Blue">
      <a:srgbClr val="B2D0F3"/>
    </a:custClr>
    <a:custClr name="Purple">
      <a:srgbClr val="9B99E2"/>
    </a:custClr>
    <a:custClr name="Orange">
      <a:srgbClr val="F57455"/>
    </a:custClr>
    <a:custClr name="Warm Grey Dark 01">
      <a:srgbClr val="DCDAD5"/>
    </a:custClr>
    <a:custClr name="White">
      <a:srgbClr val="FFFFFF"/>
    </a:custClr>
    <a:custClr name="White">
      <a:srgbClr val="FFFFFF"/>
    </a:custClr>
    <a:custClr name="White">
      <a:srgbClr val="FFFFFF"/>
    </a:custClr>
    <a:custClr name="Secondary ">
      <a:srgbClr val="F1EFE4"/>
    </a:custClr>
    <a:custClr name="Warm grey">
      <a:srgbClr val="F5F4F2"/>
    </a:custClr>
    <a:custClr name="Light yellow">
      <a:srgbClr val="FAE3B0"/>
    </a:custClr>
    <a:custClr name="Light blue">
      <a:srgbClr val="E2ECF9"/>
    </a:custClr>
    <a:custClr name="Light purple">
      <a:srgbClr val="D7D7F2"/>
    </a:custClr>
    <a:custClr name="Light orange">
      <a:srgbClr val="F5CBBD"/>
    </a:custClr>
    <a:custClr name="Warm Grey Dark 02">
      <a:srgbClr val="D0CBC7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BD246E9F2D5D44BA44C21BF2B7546FF" ma:contentTypeVersion="9" ma:contentTypeDescription="Opret et nyt dokument." ma:contentTypeScope="" ma:versionID="22d62cc6e7539b1cdd9733c16bb64e89">
  <xsd:schema xmlns:xsd="http://www.w3.org/2001/XMLSchema" xmlns:xs="http://www.w3.org/2001/XMLSchema" xmlns:p="http://schemas.microsoft.com/office/2006/metadata/properties" xmlns:ns2="05988cc8-4e36-4f2d-848f-4b34c7123c58" xmlns:ns3="54621949-0490-42bd-b017-ed5e183f9111" targetNamespace="http://schemas.microsoft.com/office/2006/metadata/properties" ma:root="true" ma:fieldsID="70a45953d12ba62595616ae72fed7113" ns2:_="" ns3:_="">
    <xsd:import namespace="05988cc8-4e36-4f2d-848f-4b34c7123c58"/>
    <xsd:import namespace="54621949-0490-42bd-b017-ed5e183f9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988cc8-4e36-4f2d-848f-4b34c7123c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24408dc4-24d6-4a1c-b12a-e71b54098e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21949-0490-42bd-b017-ed5e183f911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191d0d4-cdff-488c-ae88-d348068bcf99}" ma:internalName="TaxCatchAll" ma:showField="CatchAllData" ma:web="54621949-0490-42bd-b017-ed5e183f9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988cc8-4e36-4f2d-848f-4b34c7123c58">
      <Terms xmlns="http://schemas.microsoft.com/office/infopath/2007/PartnerControls"/>
    </lcf76f155ced4ddcb4097134ff3c332f>
    <TaxCatchAll xmlns="54621949-0490-42bd-b017-ed5e183f9111" xsi:nil="true"/>
  </documentManagement>
</p:properties>
</file>

<file path=customXml/itemProps1.xml><?xml version="1.0" encoding="utf-8"?>
<ds:datastoreItem xmlns:ds="http://schemas.openxmlformats.org/officeDocument/2006/customXml" ds:itemID="{83C4716F-59E6-4170-96CA-641CC270C5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B26069-BB20-4488-9816-443E4578FE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988cc8-4e36-4f2d-848f-4b34c7123c58"/>
    <ds:schemaRef ds:uri="54621949-0490-42bd-b017-ed5e183f9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CEB391-1FDD-4B6C-BD49-8F4E0D780E9D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54621949-0490-42bd-b017-ed5e183f9111"/>
    <ds:schemaRef ds:uri="http://www.w3.org/XML/1998/namespace"/>
    <ds:schemaRef ds:uri="http://purl.org/dc/terms/"/>
    <ds:schemaRef ds:uri="http://schemas.openxmlformats.org/package/2006/metadata/core-properties"/>
    <ds:schemaRef ds:uri="05988cc8-4e36-4f2d-848f-4b34c7123c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Clever 2025 (16-9)</Template>
  <TotalTime>2619</TotalTime>
  <Words>5384</Words>
  <Application>Microsoft Macintosh PowerPoint</Application>
  <PresentationFormat>Widescreen</PresentationFormat>
  <Paragraphs>1501</Paragraphs>
  <Slides>77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1" baseType="lpstr">
      <vt:lpstr>Arial</vt:lpstr>
      <vt:lpstr>Clever Sans OFFC</vt:lpstr>
      <vt:lpstr>Wingdings</vt:lpstr>
      <vt:lpstr>Clever 2025 (16-9)</vt:lpstr>
      <vt:lpstr>En introduktion til Azure</vt:lpstr>
      <vt:lpstr>PowerPoint Presentation</vt:lpstr>
      <vt:lpstr>Tiden før Azure og Cloud</vt:lpstr>
      <vt:lpstr>Hvordan byggede man software før cloud?</vt:lpstr>
      <vt:lpstr>Okay, men hvad er en server egentlig?</vt:lpstr>
      <vt:lpstr>PowerPoint Presentation</vt:lpstr>
      <vt:lpstr>Hvem havde ansvaret?</vt:lpstr>
      <vt:lpstr>Hvordan fik man en ny server?</vt:lpstr>
      <vt:lpstr>Fordele ved on-premises</vt:lpstr>
      <vt:lpstr>PowerPoint Presentation</vt:lpstr>
      <vt:lpstr>Problemerne ved on-premises</vt:lpstr>
      <vt:lpstr>Virksomheden vokser</vt:lpstr>
      <vt:lpstr>De største udfordringer</vt:lpstr>
      <vt:lpstr>Hvorfor blev on-premises en udfordring?</vt:lpstr>
      <vt:lpstr>PowerPoint Presentation</vt:lpstr>
      <vt:lpstr>Hvad er Cloud?</vt:lpstr>
      <vt:lpstr>PowerPoint Presentation</vt:lpstr>
      <vt:lpstr>PowerPoint Presentation</vt:lpstr>
      <vt:lpstr>Hvad kan man leje hos en Cloud-leverandør?</vt:lpstr>
      <vt:lpstr>Hvem har ansvaret?</vt:lpstr>
      <vt:lpstr>PowerPoint Presentation</vt:lpstr>
      <vt:lpstr>PowerPoint Presentation</vt:lpstr>
      <vt:lpstr>Hvad er Azure?</vt:lpstr>
      <vt:lpstr>PowerPoint Presentation</vt:lpstr>
      <vt:lpstr>Microsofts globale datacentre</vt:lpstr>
      <vt:lpstr>Hvad tilbyder Azure?</vt:lpstr>
      <vt:lpstr>Azure er legoklodser</vt:lpstr>
      <vt:lpstr>Hvorfor Azure?</vt:lpstr>
      <vt:lpstr>PowerPoint Presentation</vt:lpstr>
      <vt:lpstr>Hvordan er Azure organiseret?</vt:lpstr>
      <vt:lpstr>Hierarkiet i Azure</vt:lpstr>
      <vt:lpstr>Eksempel</vt:lpstr>
      <vt:lpstr>PowerPoint Presentation</vt:lpstr>
      <vt:lpstr>De vigtigste Azure-byggeklodser</vt:lpstr>
      <vt:lpstr>Azure består af legoklodser</vt:lpstr>
      <vt:lpstr>Compute</vt:lpstr>
      <vt:lpstr>Storage</vt:lpstr>
      <vt:lpstr>Networking</vt:lpstr>
      <vt:lpstr>Integration</vt:lpstr>
      <vt:lpstr>Identity</vt:lpstr>
      <vt:lpstr>Monitoring</vt:lpstr>
      <vt:lpstr>Samlet overblik</vt:lpstr>
      <vt:lpstr>PowerPoint Presentation</vt:lpstr>
      <vt:lpstr>Hvordan bruger Dynamics 365 Azure</vt:lpstr>
      <vt:lpstr>Dynamics 365 står ikke alene</vt:lpstr>
      <vt:lpstr>Hvad kører faktisk i Dynamics?</vt:lpstr>
      <vt:lpstr>Dynamics → Azure </vt:lpstr>
      <vt:lpstr>PowerPoint Presentation</vt:lpstr>
      <vt:lpstr>Hvordan vores C#/.NET-løsninger bruger Azure</vt:lpstr>
      <vt:lpstr>Okay, men hvad er C# og .NET egentlig?</vt:lpstr>
      <vt:lpstr>En mental model – lad os bygge et hus</vt:lpstr>
      <vt:lpstr>En mental model – lad os bygge et API</vt:lpstr>
      <vt:lpstr>Hvor kører vores .NET-kode?</vt:lpstr>
      <vt:lpstr>Et rigtigt system er mere end én API</vt:lpstr>
      <vt:lpstr>Synkron versus asynkron kommunikation</vt:lpstr>
      <vt:lpstr>Azure Functions</vt:lpstr>
      <vt:lpstr>Configuration, secrets og identity</vt:lpstr>
      <vt:lpstr>Hvordan ved vi, om det virker?</vt:lpstr>
      <vt:lpstr>Samlet billede</vt:lpstr>
      <vt:lpstr>PowerPoint Presentation</vt:lpstr>
      <vt:lpstr>Et konkret business-scenarie</vt:lpstr>
      <vt:lpstr>Eksempel: En kunde opretter en ordre</vt:lpstr>
      <vt:lpstr>Hvad sker der, når requesten starter?</vt:lpstr>
      <vt:lpstr>Requestens vej igennem Azure</vt:lpstr>
      <vt:lpstr>Den asynkrone del</vt:lpstr>
      <vt:lpstr>Hvad hvis noget går galt?</vt:lpstr>
      <vt:lpstr>Hvad sker der rundt om requesten? </vt:lpstr>
      <vt:lpstr>Så hvad brugte vi egentlig Azure til?</vt:lpstr>
      <vt:lpstr>PowerPoint Presentation</vt:lpstr>
      <vt:lpstr>Opsummering og konklusion</vt:lpstr>
      <vt:lpstr>Hvad skal i huske?</vt:lpstr>
      <vt:lpstr>Hvad er den store forskel?</vt:lpstr>
      <vt:lpstr>Azure Keywords</vt:lpstr>
      <vt:lpstr>Azure Keywords</vt:lpstr>
      <vt:lpstr>Azure Keywords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Larsen</dc:creator>
  <cp:lastModifiedBy>Daniel Larsen</cp:lastModifiedBy>
  <cp:revision>17</cp:revision>
  <cp:lastPrinted>2026-09-15T12:49:15Z</cp:lastPrinted>
  <dcterms:created xsi:type="dcterms:W3CDTF">2026-05-27T08:57:35Z</dcterms:created>
  <dcterms:modified xsi:type="dcterms:W3CDTF">2026-09-22T11:25:01Z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SavedOnce">
    <vt:lpwstr>true</vt:lpwstr>
  </property>
  <property fmtid="{D5CDD505-2E9C-101B-9397-08002B2CF9AE}" pid="4" name="ContentTypeId">
    <vt:lpwstr>0x010100DBD246E9F2D5D44BA44C21BF2B7546FF</vt:lpwstr>
  </property>
  <property fmtid="{D5CDD505-2E9C-101B-9397-08002B2CF9AE}" pid="5" name="MediaServiceImageTags">
    <vt:lpwstr/>
  </property>
</Properties>
</file>